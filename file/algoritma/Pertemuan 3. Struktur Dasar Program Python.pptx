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x="18288000" cy="10287000"/>
  <p:notesSz cx="6858000" cy="9144000"/>
  <p:embeddedFontLst>
    <p:embeddedFont>
      <p:font typeface="210 빛글" charset="1" panose="02020603020101020101"/>
      <p:regular r:id="rId23"/>
    </p:embeddedFont>
    <p:embeddedFont>
      <p:font typeface="Playpen Sans Bold" charset="1" panose="00000000000000000000"/>
      <p:regular r:id="rId24"/>
    </p:embeddedFont>
    <p:embeddedFont>
      <p:font typeface="Playpen Sans" charset="1" panose="00000000000000000000"/>
      <p:regular r:id="rId2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FFB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931452">
            <a:off x="3067383" y="-360354"/>
            <a:ext cx="1615384" cy="2738866"/>
          </a:xfrm>
          <a:custGeom>
            <a:avLst/>
            <a:gdLst/>
            <a:ahLst/>
            <a:cxnLst/>
            <a:rect r="r" b="b" t="t" l="l"/>
            <a:pathLst>
              <a:path h="2738866" w="1615384">
                <a:moveTo>
                  <a:pt x="0" y="0"/>
                </a:moveTo>
                <a:lnTo>
                  <a:pt x="1615384" y="0"/>
                </a:lnTo>
                <a:lnTo>
                  <a:pt x="1615384" y="2738866"/>
                </a:lnTo>
                <a:lnTo>
                  <a:pt x="0" y="27388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28700" y="1254242"/>
            <a:ext cx="16230600" cy="6610281"/>
          </a:xfrm>
          <a:custGeom>
            <a:avLst/>
            <a:gdLst/>
            <a:ahLst/>
            <a:cxnLst/>
            <a:rect r="r" b="b" t="t" l="l"/>
            <a:pathLst>
              <a:path h="6610281" w="16230600">
                <a:moveTo>
                  <a:pt x="0" y="0"/>
                </a:moveTo>
                <a:lnTo>
                  <a:pt x="16230600" y="0"/>
                </a:lnTo>
                <a:lnTo>
                  <a:pt x="16230600" y="6610281"/>
                </a:lnTo>
                <a:lnTo>
                  <a:pt x="0" y="661028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585527" y="-589801"/>
            <a:ext cx="1886040" cy="3197760"/>
          </a:xfrm>
          <a:custGeom>
            <a:avLst/>
            <a:gdLst/>
            <a:ahLst/>
            <a:cxnLst/>
            <a:rect r="r" b="b" t="t" l="l"/>
            <a:pathLst>
              <a:path h="3197760" w="1886040">
                <a:moveTo>
                  <a:pt x="0" y="0"/>
                </a:moveTo>
                <a:lnTo>
                  <a:pt x="1886040" y="0"/>
                </a:lnTo>
                <a:lnTo>
                  <a:pt x="1886040" y="3197760"/>
                </a:lnTo>
                <a:lnTo>
                  <a:pt x="0" y="319776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6478101" y="594583"/>
            <a:ext cx="2764746" cy="1319318"/>
          </a:xfrm>
          <a:custGeom>
            <a:avLst/>
            <a:gdLst/>
            <a:ahLst/>
            <a:cxnLst/>
            <a:rect r="r" b="b" t="t" l="l"/>
            <a:pathLst>
              <a:path h="1319318" w="2764746">
                <a:moveTo>
                  <a:pt x="0" y="0"/>
                </a:moveTo>
                <a:lnTo>
                  <a:pt x="2764746" y="0"/>
                </a:lnTo>
                <a:lnTo>
                  <a:pt x="2764746" y="1319318"/>
                </a:lnTo>
                <a:lnTo>
                  <a:pt x="0" y="131931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2187685" y="3176668"/>
            <a:ext cx="13912630" cy="29845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432"/>
              </a:lnSpc>
            </a:pPr>
            <a:r>
              <a:rPr lang="en-US" sz="11547">
                <a:solidFill>
                  <a:srgbClr val="FFFFFF"/>
                </a:solidFill>
                <a:latin typeface="210 빛글"/>
                <a:ea typeface="210 빛글"/>
                <a:cs typeface="210 빛글"/>
                <a:sym typeface="210 빛글"/>
              </a:rPr>
              <a:t>STRUKTUR DASAR PROGRAM PYTHON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4397096" y="8260849"/>
            <a:ext cx="9493808" cy="8029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70"/>
              </a:lnSpc>
            </a:pPr>
            <a:r>
              <a:rPr lang="en-US" sz="4764" b="true">
                <a:solidFill>
                  <a:srgbClr val="00A551"/>
                </a:solidFill>
                <a:latin typeface="Playpen Sans Bold"/>
                <a:ea typeface="Playpen Sans Bold"/>
                <a:cs typeface="Playpen Sans Bold"/>
                <a:sym typeface="Playpen Sans Bold"/>
              </a:rPr>
              <a:t>PPL PPG UNESA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16804871" y="7254341"/>
            <a:ext cx="1998623" cy="3388643"/>
          </a:xfrm>
          <a:custGeom>
            <a:avLst/>
            <a:gdLst/>
            <a:ahLst/>
            <a:cxnLst/>
            <a:rect r="r" b="b" t="t" l="l"/>
            <a:pathLst>
              <a:path h="3388643" w="1998623">
                <a:moveTo>
                  <a:pt x="0" y="0"/>
                </a:moveTo>
                <a:lnTo>
                  <a:pt x="1998623" y="0"/>
                </a:lnTo>
                <a:lnTo>
                  <a:pt x="1998623" y="3388644"/>
                </a:lnTo>
                <a:lnTo>
                  <a:pt x="0" y="338864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-994986" y="8161056"/>
            <a:ext cx="3301001" cy="1575214"/>
          </a:xfrm>
          <a:custGeom>
            <a:avLst/>
            <a:gdLst/>
            <a:ahLst/>
            <a:cxnLst/>
            <a:rect r="r" b="b" t="t" l="l"/>
            <a:pathLst>
              <a:path h="1575214" w="3301001">
                <a:moveTo>
                  <a:pt x="0" y="0"/>
                </a:moveTo>
                <a:lnTo>
                  <a:pt x="3301000" y="0"/>
                </a:lnTo>
                <a:lnTo>
                  <a:pt x="3301000" y="1575214"/>
                </a:lnTo>
                <a:lnTo>
                  <a:pt x="0" y="157521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931452">
            <a:off x="13083212" y="8161056"/>
            <a:ext cx="1615384" cy="2738866"/>
          </a:xfrm>
          <a:custGeom>
            <a:avLst/>
            <a:gdLst/>
            <a:ahLst/>
            <a:cxnLst/>
            <a:rect r="r" b="b" t="t" l="l"/>
            <a:pathLst>
              <a:path h="2738866" w="1615384">
                <a:moveTo>
                  <a:pt x="0" y="0"/>
                </a:moveTo>
                <a:lnTo>
                  <a:pt x="1615384" y="0"/>
                </a:lnTo>
                <a:lnTo>
                  <a:pt x="1615384" y="2738865"/>
                </a:lnTo>
                <a:lnTo>
                  <a:pt x="0" y="273886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FFB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585527" y="-589801"/>
            <a:ext cx="2357348" cy="3996856"/>
          </a:xfrm>
          <a:custGeom>
            <a:avLst/>
            <a:gdLst/>
            <a:ahLst/>
            <a:cxnLst/>
            <a:rect r="r" b="b" t="t" l="l"/>
            <a:pathLst>
              <a:path h="3996856" w="2357348">
                <a:moveTo>
                  <a:pt x="0" y="0"/>
                </a:moveTo>
                <a:lnTo>
                  <a:pt x="2357347" y="0"/>
                </a:lnTo>
                <a:lnTo>
                  <a:pt x="2357347" y="3996856"/>
                </a:lnTo>
                <a:lnTo>
                  <a:pt x="0" y="399685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6511502" y="-357233"/>
            <a:ext cx="2357348" cy="3996856"/>
          </a:xfrm>
          <a:custGeom>
            <a:avLst/>
            <a:gdLst/>
            <a:ahLst/>
            <a:cxnLst/>
            <a:rect r="r" b="b" t="t" l="l"/>
            <a:pathLst>
              <a:path h="3996856" w="2357348">
                <a:moveTo>
                  <a:pt x="0" y="0"/>
                </a:moveTo>
                <a:lnTo>
                  <a:pt x="2357348" y="0"/>
                </a:lnTo>
                <a:lnTo>
                  <a:pt x="2357348" y="3996856"/>
                </a:lnTo>
                <a:lnTo>
                  <a:pt x="0" y="399685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931452">
            <a:off x="13031177" y="1141094"/>
            <a:ext cx="2116582" cy="3588641"/>
          </a:xfrm>
          <a:custGeom>
            <a:avLst/>
            <a:gdLst/>
            <a:ahLst/>
            <a:cxnLst/>
            <a:rect r="r" b="b" t="t" l="l"/>
            <a:pathLst>
              <a:path h="3588641" w="2116582">
                <a:moveTo>
                  <a:pt x="0" y="0"/>
                </a:moveTo>
                <a:lnTo>
                  <a:pt x="2116582" y="0"/>
                </a:lnTo>
                <a:lnTo>
                  <a:pt x="2116582" y="3588641"/>
                </a:lnTo>
                <a:lnTo>
                  <a:pt x="0" y="358864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1710358">
            <a:off x="-273008" y="6635483"/>
            <a:ext cx="2603417" cy="4414064"/>
          </a:xfrm>
          <a:custGeom>
            <a:avLst/>
            <a:gdLst/>
            <a:ahLst/>
            <a:cxnLst/>
            <a:rect r="r" b="b" t="t" l="l"/>
            <a:pathLst>
              <a:path h="4414064" w="2603417">
                <a:moveTo>
                  <a:pt x="0" y="0"/>
                </a:moveTo>
                <a:lnTo>
                  <a:pt x="2603416" y="0"/>
                </a:lnTo>
                <a:lnTo>
                  <a:pt x="2603416" y="4414064"/>
                </a:lnTo>
                <a:lnTo>
                  <a:pt x="0" y="44140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931452">
            <a:off x="13129176" y="8754769"/>
            <a:ext cx="1716809" cy="2910831"/>
          </a:xfrm>
          <a:custGeom>
            <a:avLst/>
            <a:gdLst/>
            <a:ahLst/>
            <a:cxnLst/>
            <a:rect r="r" b="b" t="t" l="l"/>
            <a:pathLst>
              <a:path h="2910831" w="1716809">
                <a:moveTo>
                  <a:pt x="0" y="0"/>
                </a:moveTo>
                <a:lnTo>
                  <a:pt x="1716810" y="0"/>
                </a:lnTo>
                <a:lnTo>
                  <a:pt x="1716810" y="2910831"/>
                </a:lnTo>
                <a:lnTo>
                  <a:pt x="0" y="291083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1028700" y="3965977"/>
            <a:ext cx="16230600" cy="4631660"/>
            <a:chOff x="0" y="0"/>
            <a:chExt cx="4543876" cy="129666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543876" cy="1296667"/>
            </a:xfrm>
            <a:custGeom>
              <a:avLst/>
              <a:gdLst/>
              <a:ahLst/>
              <a:cxnLst/>
              <a:rect r="r" b="b" t="t" l="l"/>
              <a:pathLst>
                <a:path h="1296667" w="4543876">
                  <a:moveTo>
                    <a:pt x="47700" y="0"/>
                  </a:moveTo>
                  <a:lnTo>
                    <a:pt x="4496176" y="0"/>
                  </a:lnTo>
                  <a:cubicBezTo>
                    <a:pt x="4508827" y="0"/>
                    <a:pt x="4520959" y="5025"/>
                    <a:pt x="4529905" y="13971"/>
                  </a:cubicBezTo>
                  <a:cubicBezTo>
                    <a:pt x="4538850" y="22916"/>
                    <a:pt x="4543876" y="35049"/>
                    <a:pt x="4543876" y="47700"/>
                  </a:cubicBezTo>
                  <a:lnTo>
                    <a:pt x="4543876" y="1248968"/>
                  </a:lnTo>
                  <a:cubicBezTo>
                    <a:pt x="4543876" y="1261619"/>
                    <a:pt x="4538850" y="1273751"/>
                    <a:pt x="4529905" y="1282697"/>
                  </a:cubicBezTo>
                  <a:cubicBezTo>
                    <a:pt x="4520959" y="1291642"/>
                    <a:pt x="4508827" y="1296667"/>
                    <a:pt x="4496176" y="1296667"/>
                  </a:cubicBezTo>
                  <a:lnTo>
                    <a:pt x="47700" y="1296667"/>
                  </a:lnTo>
                  <a:cubicBezTo>
                    <a:pt x="35049" y="1296667"/>
                    <a:pt x="22916" y="1291642"/>
                    <a:pt x="13971" y="1282697"/>
                  </a:cubicBezTo>
                  <a:cubicBezTo>
                    <a:pt x="5025" y="1273751"/>
                    <a:pt x="0" y="1261619"/>
                    <a:pt x="0" y="1248968"/>
                  </a:cubicBezTo>
                  <a:lnTo>
                    <a:pt x="0" y="47700"/>
                  </a:lnTo>
                  <a:cubicBezTo>
                    <a:pt x="0" y="35049"/>
                    <a:pt x="5025" y="22916"/>
                    <a:pt x="13971" y="13971"/>
                  </a:cubicBezTo>
                  <a:cubicBezTo>
                    <a:pt x="22916" y="5025"/>
                    <a:pt x="35049" y="0"/>
                    <a:pt x="47700" y="0"/>
                  </a:cubicBezTo>
                  <a:close/>
                </a:path>
              </a:pathLst>
            </a:custGeom>
            <a:solidFill>
              <a:srgbClr val="00A551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28575"/>
              <a:ext cx="4543876" cy="13252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5696116" y="1532138"/>
            <a:ext cx="6891090" cy="2806553"/>
          </a:xfrm>
          <a:custGeom>
            <a:avLst/>
            <a:gdLst/>
            <a:ahLst/>
            <a:cxnLst/>
            <a:rect r="r" b="b" t="t" l="l"/>
            <a:pathLst>
              <a:path h="2806553" w="6891090">
                <a:moveTo>
                  <a:pt x="0" y="0"/>
                </a:moveTo>
                <a:lnTo>
                  <a:pt x="6891090" y="0"/>
                </a:lnTo>
                <a:lnTo>
                  <a:pt x="6891090" y="2806553"/>
                </a:lnTo>
                <a:lnTo>
                  <a:pt x="0" y="280655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6567200" y="2576630"/>
            <a:ext cx="5153600" cy="8128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04"/>
              </a:lnSpc>
            </a:pPr>
            <a:r>
              <a:rPr lang="en-US" sz="5964">
                <a:solidFill>
                  <a:srgbClr val="FFFFFF"/>
                </a:solidFill>
                <a:latin typeface="210 빛글"/>
                <a:ea typeface="210 빛글"/>
                <a:cs typeface="210 빛글"/>
                <a:sym typeface="210 빛글"/>
              </a:rPr>
              <a:t>PENGERTIAN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654692" y="4472210"/>
            <a:ext cx="14973939" cy="36487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40"/>
              </a:lnSpc>
            </a:pPr>
            <a:r>
              <a:rPr lang="en-US" sz="2600" b="true">
                <a:solidFill>
                  <a:srgbClr val="FFFFFF"/>
                </a:solidFill>
                <a:latin typeface="Playpen Sans Bold"/>
                <a:ea typeface="Playpen Sans Bold"/>
                <a:cs typeface="Playpen Sans Bold"/>
                <a:sym typeface="Playpen Sans Bold"/>
              </a:rPr>
              <a:t>Python adalah bahasa pemrograman tingkat tinggi yang digunakan untuk membuat program komputer dengan sintaks yang sederhana dan mudah dipahami. </a:t>
            </a:r>
          </a:p>
          <a:p>
            <a:pPr algn="ctr">
              <a:lnSpc>
                <a:spcPts val="3640"/>
              </a:lnSpc>
            </a:pPr>
          </a:p>
          <a:p>
            <a:pPr algn="l">
              <a:lnSpc>
                <a:spcPts val="3640"/>
              </a:lnSpc>
            </a:pPr>
            <a:r>
              <a:rPr lang="en-US" sz="2600" b="true">
                <a:solidFill>
                  <a:srgbClr val="FFFFFF"/>
                </a:solidFill>
                <a:latin typeface="Playpen Sans Bold"/>
                <a:ea typeface="Playpen Sans Bold"/>
                <a:cs typeface="Playpen Sans Bold"/>
                <a:sym typeface="Playpen Sans Bold"/>
              </a:rPr>
              <a:t>Digunakan untuk berbagai keperluan seperti:</a:t>
            </a:r>
          </a:p>
          <a:p>
            <a:pPr algn="l" marL="561350" indent="-280675" lvl="1">
              <a:lnSpc>
                <a:spcPts val="3640"/>
              </a:lnSpc>
              <a:buFont typeface="Arial"/>
              <a:buChar char="•"/>
            </a:pPr>
            <a:r>
              <a:rPr lang="en-US" b="true" sz="2600">
                <a:solidFill>
                  <a:srgbClr val="FFFFFF"/>
                </a:solidFill>
                <a:latin typeface="Playpen Sans Bold"/>
                <a:ea typeface="Playpen Sans Bold"/>
                <a:cs typeface="Playpen Sans Bold"/>
                <a:sym typeface="Playpen Sans Bold"/>
              </a:rPr>
              <a:t>Membuat aplikasi</a:t>
            </a:r>
          </a:p>
          <a:p>
            <a:pPr algn="l" marL="561350" indent="-280675" lvl="1">
              <a:lnSpc>
                <a:spcPts val="3640"/>
              </a:lnSpc>
              <a:buFont typeface="Arial"/>
              <a:buChar char="•"/>
            </a:pPr>
            <a:r>
              <a:rPr lang="en-US" b="true" sz="2600">
                <a:solidFill>
                  <a:srgbClr val="FFFFFF"/>
                </a:solidFill>
                <a:latin typeface="Playpen Sans Bold"/>
                <a:ea typeface="Playpen Sans Bold"/>
                <a:cs typeface="Playpen Sans Bold"/>
                <a:sym typeface="Playpen Sans Bold"/>
              </a:rPr>
              <a:t>Analisis data</a:t>
            </a:r>
          </a:p>
          <a:p>
            <a:pPr algn="l" marL="561350" indent="-280675" lvl="1">
              <a:lnSpc>
                <a:spcPts val="3640"/>
              </a:lnSpc>
              <a:buFont typeface="Arial"/>
              <a:buChar char="•"/>
            </a:pPr>
            <a:r>
              <a:rPr lang="en-US" b="true" sz="2600">
                <a:solidFill>
                  <a:srgbClr val="FFFFFF"/>
                </a:solidFill>
                <a:latin typeface="Playpen Sans Bold"/>
                <a:ea typeface="Playpen Sans Bold"/>
                <a:cs typeface="Playpen Sans Bold"/>
                <a:sym typeface="Playpen Sans Bold"/>
              </a:rPr>
              <a:t>Kecerdasan buatan (AI)</a:t>
            </a:r>
          </a:p>
          <a:p>
            <a:pPr algn="l" marL="561350" indent="-280675" lvl="1">
              <a:lnSpc>
                <a:spcPts val="3640"/>
              </a:lnSpc>
              <a:buFont typeface="Arial"/>
              <a:buChar char="•"/>
            </a:pPr>
            <a:r>
              <a:rPr lang="en-US" b="true" sz="2600">
                <a:solidFill>
                  <a:srgbClr val="FFFFFF"/>
                </a:solidFill>
                <a:latin typeface="Playpen Sans Bold"/>
                <a:ea typeface="Playpen Sans Bold"/>
                <a:cs typeface="Playpen Sans Bold"/>
                <a:sym typeface="Playpen Sans Bold"/>
              </a:rPr>
              <a:t>Website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3225906" y="-792004"/>
            <a:ext cx="2764746" cy="1319318"/>
          </a:xfrm>
          <a:custGeom>
            <a:avLst/>
            <a:gdLst/>
            <a:ahLst/>
            <a:cxnLst/>
            <a:rect r="r" b="b" t="t" l="l"/>
            <a:pathLst>
              <a:path h="1319318" w="2764746">
                <a:moveTo>
                  <a:pt x="0" y="0"/>
                </a:moveTo>
                <a:lnTo>
                  <a:pt x="2764746" y="0"/>
                </a:lnTo>
                <a:lnTo>
                  <a:pt x="2764746" y="1319317"/>
                </a:lnTo>
                <a:lnTo>
                  <a:pt x="0" y="131931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FFB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585527" y="-589801"/>
            <a:ext cx="2357348" cy="3996856"/>
          </a:xfrm>
          <a:custGeom>
            <a:avLst/>
            <a:gdLst/>
            <a:ahLst/>
            <a:cxnLst/>
            <a:rect r="r" b="b" t="t" l="l"/>
            <a:pathLst>
              <a:path h="3996856" w="2357348">
                <a:moveTo>
                  <a:pt x="0" y="0"/>
                </a:moveTo>
                <a:lnTo>
                  <a:pt x="2357347" y="0"/>
                </a:lnTo>
                <a:lnTo>
                  <a:pt x="2357347" y="3996856"/>
                </a:lnTo>
                <a:lnTo>
                  <a:pt x="0" y="399685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6511502" y="-357233"/>
            <a:ext cx="2357348" cy="3996856"/>
          </a:xfrm>
          <a:custGeom>
            <a:avLst/>
            <a:gdLst/>
            <a:ahLst/>
            <a:cxnLst/>
            <a:rect r="r" b="b" t="t" l="l"/>
            <a:pathLst>
              <a:path h="3996856" w="2357348">
                <a:moveTo>
                  <a:pt x="0" y="0"/>
                </a:moveTo>
                <a:lnTo>
                  <a:pt x="2357348" y="0"/>
                </a:lnTo>
                <a:lnTo>
                  <a:pt x="2357348" y="3996856"/>
                </a:lnTo>
                <a:lnTo>
                  <a:pt x="0" y="399685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931452">
            <a:off x="13031177" y="1141094"/>
            <a:ext cx="2116582" cy="3588641"/>
          </a:xfrm>
          <a:custGeom>
            <a:avLst/>
            <a:gdLst/>
            <a:ahLst/>
            <a:cxnLst/>
            <a:rect r="r" b="b" t="t" l="l"/>
            <a:pathLst>
              <a:path h="3588641" w="2116582">
                <a:moveTo>
                  <a:pt x="0" y="0"/>
                </a:moveTo>
                <a:lnTo>
                  <a:pt x="2116582" y="0"/>
                </a:lnTo>
                <a:lnTo>
                  <a:pt x="2116582" y="3588641"/>
                </a:lnTo>
                <a:lnTo>
                  <a:pt x="0" y="358864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1710358">
            <a:off x="-273008" y="6635483"/>
            <a:ext cx="2603417" cy="4414064"/>
          </a:xfrm>
          <a:custGeom>
            <a:avLst/>
            <a:gdLst/>
            <a:ahLst/>
            <a:cxnLst/>
            <a:rect r="r" b="b" t="t" l="l"/>
            <a:pathLst>
              <a:path h="4414064" w="2603417">
                <a:moveTo>
                  <a:pt x="0" y="0"/>
                </a:moveTo>
                <a:lnTo>
                  <a:pt x="2603416" y="0"/>
                </a:lnTo>
                <a:lnTo>
                  <a:pt x="2603416" y="4414064"/>
                </a:lnTo>
                <a:lnTo>
                  <a:pt x="0" y="44140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931452">
            <a:off x="13129176" y="8754769"/>
            <a:ext cx="1716809" cy="2910831"/>
          </a:xfrm>
          <a:custGeom>
            <a:avLst/>
            <a:gdLst/>
            <a:ahLst/>
            <a:cxnLst/>
            <a:rect r="r" b="b" t="t" l="l"/>
            <a:pathLst>
              <a:path h="2910831" w="1716809">
                <a:moveTo>
                  <a:pt x="0" y="0"/>
                </a:moveTo>
                <a:lnTo>
                  <a:pt x="1716810" y="0"/>
                </a:lnTo>
                <a:lnTo>
                  <a:pt x="1716810" y="2910831"/>
                </a:lnTo>
                <a:lnTo>
                  <a:pt x="0" y="291083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1028700" y="3965977"/>
            <a:ext cx="16230600" cy="4631660"/>
            <a:chOff x="0" y="0"/>
            <a:chExt cx="4543876" cy="129666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543876" cy="1296667"/>
            </a:xfrm>
            <a:custGeom>
              <a:avLst/>
              <a:gdLst/>
              <a:ahLst/>
              <a:cxnLst/>
              <a:rect r="r" b="b" t="t" l="l"/>
              <a:pathLst>
                <a:path h="1296667" w="4543876">
                  <a:moveTo>
                    <a:pt x="47700" y="0"/>
                  </a:moveTo>
                  <a:lnTo>
                    <a:pt x="4496176" y="0"/>
                  </a:lnTo>
                  <a:cubicBezTo>
                    <a:pt x="4508827" y="0"/>
                    <a:pt x="4520959" y="5025"/>
                    <a:pt x="4529905" y="13971"/>
                  </a:cubicBezTo>
                  <a:cubicBezTo>
                    <a:pt x="4538850" y="22916"/>
                    <a:pt x="4543876" y="35049"/>
                    <a:pt x="4543876" y="47700"/>
                  </a:cubicBezTo>
                  <a:lnTo>
                    <a:pt x="4543876" y="1248968"/>
                  </a:lnTo>
                  <a:cubicBezTo>
                    <a:pt x="4543876" y="1261619"/>
                    <a:pt x="4538850" y="1273751"/>
                    <a:pt x="4529905" y="1282697"/>
                  </a:cubicBezTo>
                  <a:cubicBezTo>
                    <a:pt x="4520959" y="1291642"/>
                    <a:pt x="4508827" y="1296667"/>
                    <a:pt x="4496176" y="1296667"/>
                  </a:cubicBezTo>
                  <a:lnTo>
                    <a:pt x="47700" y="1296667"/>
                  </a:lnTo>
                  <a:cubicBezTo>
                    <a:pt x="35049" y="1296667"/>
                    <a:pt x="22916" y="1291642"/>
                    <a:pt x="13971" y="1282697"/>
                  </a:cubicBezTo>
                  <a:cubicBezTo>
                    <a:pt x="5025" y="1273751"/>
                    <a:pt x="0" y="1261619"/>
                    <a:pt x="0" y="1248968"/>
                  </a:cubicBezTo>
                  <a:lnTo>
                    <a:pt x="0" y="47700"/>
                  </a:lnTo>
                  <a:cubicBezTo>
                    <a:pt x="0" y="35049"/>
                    <a:pt x="5025" y="22916"/>
                    <a:pt x="13971" y="13971"/>
                  </a:cubicBezTo>
                  <a:cubicBezTo>
                    <a:pt x="22916" y="5025"/>
                    <a:pt x="35049" y="0"/>
                    <a:pt x="47700" y="0"/>
                  </a:cubicBezTo>
                  <a:close/>
                </a:path>
              </a:pathLst>
            </a:custGeom>
            <a:solidFill>
              <a:srgbClr val="00A551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28575"/>
              <a:ext cx="4543876" cy="13252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4646674" y="1103776"/>
            <a:ext cx="8994651" cy="3663276"/>
          </a:xfrm>
          <a:custGeom>
            <a:avLst/>
            <a:gdLst/>
            <a:ahLst/>
            <a:cxnLst/>
            <a:rect r="r" b="b" t="t" l="l"/>
            <a:pathLst>
              <a:path h="3663276" w="8994651">
                <a:moveTo>
                  <a:pt x="0" y="0"/>
                </a:moveTo>
                <a:lnTo>
                  <a:pt x="8994652" y="0"/>
                </a:lnTo>
                <a:lnTo>
                  <a:pt x="8994652" y="3663276"/>
                </a:lnTo>
                <a:lnTo>
                  <a:pt x="0" y="366327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5161049" y="2113065"/>
            <a:ext cx="7920477" cy="1568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96"/>
              </a:lnSpc>
            </a:pPr>
            <a:r>
              <a:rPr lang="en-US" sz="4664">
                <a:solidFill>
                  <a:srgbClr val="FFFFFF"/>
                </a:solidFill>
                <a:latin typeface="210 빛글"/>
                <a:ea typeface="210 빛글"/>
                <a:cs typeface="210 빛글"/>
                <a:sym typeface="210 빛글"/>
              </a:rPr>
              <a:t>KOMPONEN PROGRAM BAHASA PYTHON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121287" y="4861795"/>
            <a:ext cx="7657315" cy="7550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949961" indent="-474980" lvl="1">
              <a:lnSpc>
                <a:spcPts val="6160"/>
              </a:lnSpc>
              <a:buFont typeface="Arial"/>
              <a:buChar char="•"/>
            </a:pPr>
            <a:r>
              <a:rPr lang="en-US" sz="4400">
                <a:solidFill>
                  <a:srgbClr val="FFFFFF"/>
                </a:solidFill>
                <a:latin typeface="Playpen Sans"/>
                <a:ea typeface="Playpen Sans"/>
                <a:cs typeface="Playpen Sans"/>
                <a:sym typeface="Playpen Sans"/>
              </a:rPr>
              <a:t>VARIABEL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121287" y="5819493"/>
            <a:ext cx="7657315" cy="7550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949961" indent="-474980" lvl="1">
              <a:lnSpc>
                <a:spcPts val="6160"/>
              </a:lnSpc>
              <a:buFont typeface="Arial"/>
              <a:buChar char="•"/>
            </a:pPr>
            <a:r>
              <a:rPr lang="en-US" sz="4400">
                <a:solidFill>
                  <a:srgbClr val="FFFFFF"/>
                </a:solidFill>
                <a:latin typeface="Playpen Sans"/>
                <a:ea typeface="Playpen Sans"/>
                <a:cs typeface="Playpen Sans"/>
                <a:sym typeface="Playpen Sans"/>
              </a:rPr>
              <a:t>KONSTANTA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509398" y="4861795"/>
            <a:ext cx="6780905" cy="7550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949961" indent="-474980" lvl="1">
              <a:lnSpc>
                <a:spcPts val="6160"/>
              </a:lnSpc>
              <a:buFont typeface="Arial"/>
              <a:buChar char="•"/>
            </a:pPr>
            <a:r>
              <a:rPr lang="en-US" sz="4400">
                <a:solidFill>
                  <a:srgbClr val="FFFFFF"/>
                </a:solidFill>
                <a:latin typeface="Playpen Sans"/>
                <a:ea typeface="Playpen Sans"/>
                <a:cs typeface="Playpen Sans"/>
                <a:sym typeface="Playpen Sans"/>
              </a:rPr>
              <a:t>KATA KUNCI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509398" y="5819493"/>
            <a:ext cx="6780905" cy="7550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949961" indent="-474980" lvl="1">
              <a:lnSpc>
                <a:spcPts val="6160"/>
              </a:lnSpc>
              <a:buFont typeface="Arial"/>
              <a:buChar char="•"/>
            </a:pPr>
            <a:r>
              <a:rPr lang="en-US" sz="4400">
                <a:solidFill>
                  <a:srgbClr val="FFFFFF"/>
                </a:solidFill>
                <a:latin typeface="Playpen Sans"/>
                <a:ea typeface="Playpen Sans"/>
                <a:cs typeface="Playpen Sans"/>
                <a:sym typeface="Playpen Sans"/>
              </a:rPr>
              <a:t>IDENTIFIER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509398" y="6777190"/>
            <a:ext cx="6780905" cy="7550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949961" indent="-474980" lvl="1">
              <a:lnSpc>
                <a:spcPts val="6160"/>
              </a:lnSpc>
              <a:buFont typeface="Arial"/>
              <a:buChar char="•"/>
            </a:pPr>
            <a:r>
              <a:rPr lang="en-US" sz="4400">
                <a:solidFill>
                  <a:srgbClr val="FFFFFF"/>
                </a:solidFill>
                <a:latin typeface="Playpen Sans"/>
                <a:ea typeface="Playpen Sans"/>
                <a:cs typeface="Playpen Sans"/>
                <a:sym typeface="Playpen Sans"/>
              </a:rPr>
              <a:t>TIPE DATA </a:t>
            </a:r>
          </a:p>
        </p:txBody>
      </p:sp>
      <p:sp>
        <p:nvSpPr>
          <p:cNvPr name="Freeform 17" id="17"/>
          <p:cNvSpPr/>
          <p:nvPr/>
        </p:nvSpPr>
        <p:spPr>
          <a:xfrm flipH="false" flipV="false" rot="0">
            <a:off x="3225906" y="-792004"/>
            <a:ext cx="2764746" cy="1319318"/>
          </a:xfrm>
          <a:custGeom>
            <a:avLst/>
            <a:gdLst/>
            <a:ahLst/>
            <a:cxnLst/>
            <a:rect r="r" b="b" t="t" l="l"/>
            <a:pathLst>
              <a:path h="1319318" w="2764746">
                <a:moveTo>
                  <a:pt x="0" y="0"/>
                </a:moveTo>
                <a:lnTo>
                  <a:pt x="2764746" y="0"/>
                </a:lnTo>
                <a:lnTo>
                  <a:pt x="2764746" y="1319317"/>
                </a:lnTo>
                <a:lnTo>
                  <a:pt x="0" y="131931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FFB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710358">
            <a:off x="3367916" y="591730"/>
            <a:ext cx="2887164" cy="4895154"/>
          </a:xfrm>
          <a:custGeom>
            <a:avLst/>
            <a:gdLst/>
            <a:ahLst/>
            <a:cxnLst/>
            <a:rect r="r" b="b" t="t" l="l"/>
            <a:pathLst>
              <a:path h="4895154" w="2887164">
                <a:moveTo>
                  <a:pt x="0" y="0"/>
                </a:moveTo>
                <a:lnTo>
                  <a:pt x="2887164" y="0"/>
                </a:lnTo>
                <a:lnTo>
                  <a:pt x="2887164" y="4895154"/>
                </a:lnTo>
                <a:lnTo>
                  <a:pt x="0" y="489515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1110206">
            <a:off x="16147390" y="6785338"/>
            <a:ext cx="2887164" cy="4895154"/>
          </a:xfrm>
          <a:custGeom>
            <a:avLst/>
            <a:gdLst/>
            <a:ahLst/>
            <a:cxnLst/>
            <a:rect r="r" b="b" t="t" l="l"/>
            <a:pathLst>
              <a:path h="4895154" w="2887164">
                <a:moveTo>
                  <a:pt x="0" y="0"/>
                </a:moveTo>
                <a:lnTo>
                  <a:pt x="2887164" y="0"/>
                </a:lnTo>
                <a:lnTo>
                  <a:pt x="2887164" y="4895154"/>
                </a:lnTo>
                <a:lnTo>
                  <a:pt x="0" y="489515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028700" y="4352804"/>
            <a:ext cx="16230600" cy="4201850"/>
            <a:chOff x="0" y="0"/>
            <a:chExt cx="5008672" cy="129666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008673" cy="1296667"/>
            </a:xfrm>
            <a:custGeom>
              <a:avLst/>
              <a:gdLst/>
              <a:ahLst/>
              <a:cxnLst/>
              <a:rect r="r" b="b" t="t" l="l"/>
              <a:pathLst>
                <a:path h="1296667" w="5008673">
                  <a:moveTo>
                    <a:pt x="47700" y="0"/>
                  </a:moveTo>
                  <a:lnTo>
                    <a:pt x="4960973" y="0"/>
                  </a:lnTo>
                  <a:cubicBezTo>
                    <a:pt x="4973624" y="0"/>
                    <a:pt x="4985756" y="5025"/>
                    <a:pt x="4994702" y="13971"/>
                  </a:cubicBezTo>
                  <a:cubicBezTo>
                    <a:pt x="5003647" y="22916"/>
                    <a:pt x="5008673" y="35049"/>
                    <a:pt x="5008673" y="47700"/>
                  </a:cubicBezTo>
                  <a:lnTo>
                    <a:pt x="5008673" y="1248968"/>
                  </a:lnTo>
                  <a:cubicBezTo>
                    <a:pt x="5008673" y="1261619"/>
                    <a:pt x="5003647" y="1273751"/>
                    <a:pt x="4994702" y="1282697"/>
                  </a:cubicBezTo>
                  <a:cubicBezTo>
                    <a:pt x="4985756" y="1291642"/>
                    <a:pt x="4973624" y="1296667"/>
                    <a:pt x="4960973" y="1296667"/>
                  </a:cubicBezTo>
                  <a:lnTo>
                    <a:pt x="47700" y="1296667"/>
                  </a:lnTo>
                  <a:cubicBezTo>
                    <a:pt x="35049" y="1296667"/>
                    <a:pt x="22916" y="1291642"/>
                    <a:pt x="13971" y="1282697"/>
                  </a:cubicBezTo>
                  <a:cubicBezTo>
                    <a:pt x="5025" y="1273751"/>
                    <a:pt x="0" y="1261619"/>
                    <a:pt x="0" y="1248968"/>
                  </a:cubicBezTo>
                  <a:lnTo>
                    <a:pt x="0" y="47700"/>
                  </a:lnTo>
                  <a:cubicBezTo>
                    <a:pt x="0" y="35049"/>
                    <a:pt x="5025" y="22916"/>
                    <a:pt x="13971" y="13971"/>
                  </a:cubicBezTo>
                  <a:cubicBezTo>
                    <a:pt x="22916" y="5025"/>
                    <a:pt x="35049" y="0"/>
                    <a:pt x="47700" y="0"/>
                  </a:cubicBezTo>
                  <a:close/>
                </a:path>
              </a:pathLst>
            </a:custGeom>
            <a:solidFill>
              <a:srgbClr val="00A551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28575"/>
              <a:ext cx="5008672" cy="13252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226914">
            <a:off x="7351688" y="1674655"/>
            <a:ext cx="8386308" cy="3415515"/>
          </a:xfrm>
          <a:custGeom>
            <a:avLst/>
            <a:gdLst/>
            <a:ahLst/>
            <a:cxnLst/>
            <a:rect r="r" b="b" t="t" l="l"/>
            <a:pathLst>
              <a:path h="3415515" w="8386308">
                <a:moveTo>
                  <a:pt x="0" y="0"/>
                </a:moveTo>
                <a:lnTo>
                  <a:pt x="8386309" y="0"/>
                </a:lnTo>
                <a:lnTo>
                  <a:pt x="8386309" y="3415514"/>
                </a:lnTo>
                <a:lnTo>
                  <a:pt x="0" y="341551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226914">
            <a:off x="8404219" y="2516836"/>
            <a:ext cx="6271820" cy="18737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185"/>
              </a:lnSpc>
            </a:pPr>
            <a:r>
              <a:rPr lang="en-US" sz="7258">
                <a:solidFill>
                  <a:srgbClr val="FFFFFF"/>
                </a:solidFill>
                <a:latin typeface="210 빛글"/>
                <a:ea typeface="210 빛글"/>
                <a:cs typeface="210 빛글"/>
                <a:sym typeface="210 빛글"/>
              </a:rPr>
              <a:t>KATA KUNCI (KEYWORD)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781786" y="5725889"/>
            <a:ext cx="14724427" cy="14080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65"/>
              </a:lnSpc>
            </a:pPr>
            <a:r>
              <a:rPr lang="en-US" sz="2689" b="true">
                <a:solidFill>
                  <a:srgbClr val="FFFFFF"/>
                </a:solidFill>
                <a:latin typeface="Playpen Sans Bold"/>
                <a:ea typeface="Playpen Sans Bold"/>
                <a:cs typeface="Playpen Sans Bold"/>
                <a:sym typeface="Playpen Sans Bold"/>
              </a:rPr>
              <a:t>Python memiliki sekumpulan kata kunci (keyword), yaitu kata-kata khusus yang sudah memiliki fungsi tertentu dalam program. Kata kunci ini tidak boleh digunakan sebagai nama variabel, fungsi, atau nama lainnya.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-585527" y="-589801"/>
            <a:ext cx="2473954" cy="4194560"/>
          </a:xfrm>
          <a:custGeom>
            <a:avLst/>
            <a:gdLst/>
            <a:ahLst/>
            <a:cxnLst/>
            <a:rect r="r" b="b" t="t" l="l"/>
            <a:pathLst>
              <a:path h="4194560" w="2473954">
                <a:moveTo>
                  <a:pt x="0" y="0"/>
                </a:moveTo>
                <a:lnTo>
                  <a:pt x="2473953" y="0"/>
                </a:lnTo>
                <a:lnTo>
                  <a:pt x="2473953" y="4194560"/>
                </a:lnTo>
                <a:lnTo>
                  <a:pt x="0" y="419456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6326062" y="2169471"/>
            <a:ext cx="1026059" cy="1739672"/>
          </a:xfrm>
          <a:custGeom>
            <a:avLst/>
            <a:gdLst/>
            <a:ahLst/>
            <a:cxnLst/>
            <a:rect r="r" b="b" t="t" l="l"/>
            <a:pathLst>
              <a:path h="1739672" w="1026059">
                <a:moveTo>
                  <a:pt x="0" y="0"/>
                </a:moveTo>
                <a:lnTo>
                  <a:pt x="1026059" y="0"/>
                </a:lnTo>
                <a:lnTo>
                  <a:pt x="1026059" y="1739672"/>
                </a:lnTo>
                <a:lnTo>
                  <a:pt x="0" y="17396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601635" y="9627341"/>
            <a:ext cx="2764746" cy="1319318"/>
          </a:xfrm>
          <a:custGeom>
            <a:avLst/>
            <a:gdLst/>
            <a:ahLst/>
            <a:cxnLst/>
            <a:rect r="r" b="b" t="t" l="l"/>
            <a:pathLst>
              <a:path h="1319318" w="2764746">
                <a:moveTo>
                  <a:pt x="0" y="0"/>
                </a:moveTo>
                <a:lnTo>
                  <a:pt x="2764746" y="0"/>
                </a:lnTo>
                <a:lnTo>
                  <a:pt x="2764746" y="1319318"/>
                </a:lnTo>
                <a:lnTo>
                  <a:pt x="0" y="131931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1273954" y="9627341"/>
            <a:ext cx="2764746" cy="1319318"/>
          </a:xfrm>
          <a:custGeom>
            <a:avLst/>
            <a:gdLst/>
            <a:ahLst/>
            <a:cxnLst/>
            <a:rect r="r" b="b" t="t" l="l"/>
            <a:pathLst>
              <a:path h="1319318" w="2764746">
                <a:moveTo>
                  <a:pt x="0" y="0"/>
                </a:moveTo>
                <a:lnTo>
                  <a:pt x="2764746" y="0"/>
                </a:lnTo>
                <a:lnTo>
                  <a:pt x="2764746" y="1319318"/>
                </a:lnTo>
                <a:lnTo>
                  <a:pt x="0" y="131931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FFB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710358">
            <a:off x="3367916" y="591730"/>
            <a:ext cx="2887164" cy="4895154"/>
          </a:xfrm>
          <a:custGeom>
            <a:avLst/>
            <a:gdLst/>
            <a:ahLst/>
            <a:cxnLst/>
            <a:rect r="r" b="b" t="t" l="l"/>
            <a:pathLst>
              <a:path h="4895154" w="2887164">
                <a:moveTo>
                  <a:pt x="0" y="0"/>
                </a:moveTo>
                <a:lnTo>
                  <a:pt x="2887164" y="0"/>
                </a:lnTo>
                <a:lnTo>
                  <a:pt x="2887164" y="4895154"/>
                </a:lnTo>
                <a:lnTo>
                  <a:pt x="0" y="489515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1110206">
            <a:off x="16147390" y="6785338"/>
            <a:ext cx="2887164" cy="4895154"/>
          </a:xfrm>
          <a:custGeom>
            <a:avLst/>
            <a:gdLst/>
            <a:ahLst/>
            <a:cxnLst/>
            <a:rect r="r" b="b" t="t" l="l"/>
            <a:pathLst>
              <a:path h="4895154" w="2887164">
                <a:moveTo>
                  <a:pt x="0" y="0"/>
                </a:moveTo>
                <a:lnTo>
                  <a:pt x="2887164" y="0"/>
                </a:lnTo>
                <a:lnTo>
                  <a:pt x="2887164" y="4895154"/>
                </a:lnTo>
                <a:lnTo>
                  <a:pt x="0" y="489515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585527" y="-589801"/>
            <a:ext cx="2473954" cy="4194560"/>
          </a:xfrm>
          <a:custGeom>
            <a:avLst/>
            <a:gdLst/>
            <a:ahLst/>
            <a:cxnLst/>
            <a:rect r="r" b="b" t="t" l="l"/>
            <a:pathLst>
              <a:path h="4194560" w="2473954">
                <a:moveTo>
                  <a:pt x="0" y="0"/>
                </a:moveTo>
                <a:lnTo>
                  <a:pt x="2473953" y="0"/>
                </a:lnTo>
                <a:lnTo>
                  <a:pt x="2473953" y="4194560"/>
                </a:lnTo>
                <a:lnTo>
                  <a:pt x="0" y="419456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6326062" y="2169471"/>
            <a:ext cx="1026059" cy="1739672"/>
          </a:xfrm>
          <a:custGeom>
            <a:avLst/>
            <a:gdLst/>
            <a:ahLst/>
            <a:cxnLst/>
            <a:rect r="r" b="b" t="t" l="l"/>
            <a:pathLst>
              <a:path h="1739672" w="1026059">
                <a:moveTo>
                  <a:pt x="0" y="0"/>
                </a:moveTo>
                <a:lnTo>
                  <a:pt x="1026059" y="0"/>
                </a:lnTo>
                <a:lnTo>
                  <a:pt x="1026059" y="1739672"/>
                </a:lnTo>
                <a:lnTo>
                  <a:pt x="0" y="17396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601635" y="9627341"/>
            <a:ext cx="2764746" cy="1319318"/>
          </a:xfrm>
          <a:custGeom>
            <a:avLst/>
            <a:gdLst/>
            <a:ahLst/>
            <a:cxnLst/>
            <a:rect r="r" b="b" t="t" l="l"/>
            <a:pathLst>
              <a:path h="1319318" w="2764746">
                <a:moveTo>
                  <a:pt x="0" y="0"/>
                </a:moveTo>
                <a:lnTo>
                  <a:pt x="2764746" y="0"/>
                </a:lnTo>
                <a:lnTo>
                  <a:pt x="2764746" y="1319318"/>
                </a:lnTo>
                <a:lnTo>
                  <a:pt x="0" y="131931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1273954" y="9627341"/>
            <a:ext cx="2764746" cy="1319318"/>
          </a:xfrm>
          <a:custGeom>
            <a:avLst/>
            <a:gdLst/>
            <a:ahLst/>
            <a:cxnLst/>
            <a:rect r="r" b="b" t="t" l="l"/>
            <a:pathLst>
              <a:path h="1319318" w="2764746">
                <a:moveTo>
                  <a:pt x="0" y="0"/>
                </a:moveTo>
                <a:lnTo>
                  <a:pt x="2764746" y="0"/>
                </a:lnTo>
                <a:lnTo>
                  <a:pt x="2764746" y="1319318"/>
                </a:lnTo>
                <a:lnTo>
                  <a:pt x="0" y="131931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571925" y="1914527"/>
            <a:ext cx="3222458" cy="3405433"/>
            <a:chOff x="0" y="0"/>
            <a:chExt cx="994432" cy="105089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994432" cy="1050898"/>
            </a:xfrm>
            <a:custGeom>
              <a:avLst/>
              <a:gdLst/>
              <a:ahLst/>
              <a:cxnLst/>
              <a:rect r="r" b="b" t="t" l="l"/>
              <a:pathLst>
                <a:path h="1050898" w="994432">
                  <a:moveTo>
                    <a:pt x="240249" y="0"/>
                  </a:moveTo>
                  <a:lnTo>
                    <a:pt x="754183" y="0"/>
                  </a:lnTo>
                  <a:cubicBezTo>
                    <a:pt x="886869" y="0"/>
                    <a:pt x="994432" y="107563"/>
                    <a:pt x="994432" y="240249"/>
                  </a:cubicBezTo>
                  <a:lnTo>
                    <a:pt x="994432" y="810649"/>
                  </a:lnTo>
                  <a:cubicBezTo>
                    <a:pt x="994432" y="943334"/>
                    <a:pt x="886869" y="1050898"/>
                    <a:pt x="754183" y="1050898"/>
                  </a:cubicBezTo>
                  <a:lnTo>
                    <a:pt x="240249" y="1050898"/>
                  </a:lnTo>
                  <a:cubicBezTo>
                    <a:pt x="107563" y="1050898"/>
                    <a:pt x="0" y="943334"/>
                    <a:pt x="0" y="810649"/>
                  </a:cubicBezTo>
                  <a:lnTo>
                    <a:pt x="0" y="240249"/>
                  </a:lnTo>
                  <a:cubicBezTo>
                    <a:pt x="0" y="107563"/>
                    <a:pt x="107563" y="0"/>
                    <a:pt x="240249" y="0"/>
                  </a:cubicBezTo>
                  <a:close/>
                </a:path>
              </a:pathLst>
            </a:custGeom>
            <a:solidFill>
              <a:srgbClr val="00A551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28575"/>
              <a:ext cx="994432" cy="10794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857227" y="2445986"/>
            <a:ext cx="2651853" cy="2313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FFFFFF"/>
                </a:solidFill>
                <a:latin typeface="Playpen Sans"/>
                <a:ea typeface="Playpen Sans"/>
                <a:cs typeface="Playpen Sans"/>
                <a:sym typeface="Playpen Sans"/>
              </a:rPr>
              <a:t>1. </a:t>
            </a:r>
            <a:r>
              <a:rPr lang="en-US" sz="1899" u="sng">
                <a:solidFill>
                  <a:srgbClr val="FFFFFF"/>
                </a:solidFill>
                <a:latin typeface="Playpen Sans"/>
                <a:ea typeface="Playpen Sans"/>
                <a:cs typeface="Playpen Sans"/>
                <a:sym typeface="Playpen Sans"/>
              </a:rPr>
              <a:t>Percabangan (Pengambilan Keputusan)</a:t>
            </a:r>
          </a:p>
          <a:p>
            <a:pPr algn="ctr">
              <a:lnSpc>
                <a:spcPts val="2659"/>
              </a:lnSpc>
              <a:spcBef>
                <a:spcPct val="0"/>
              </a:spcBef>
            </a:pPr>
          </a:p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b="true" sz="1899">
                <a:solidFill>
                  <a:srgbClr val="FEE600"/>
                </a:solidFill>
                <a:latin typeface="Playpen Sans Bold"/>
                <a:ea typeface="Playpen Sans Bold"/>
                <a:cs typeface="Playpen Sans Bold"/>
                <a:sym typeface="Playpen Sans Bold"/>
              </a:rPr>
              <a:t> if, elif, else</a:t>
            </a:r>
            <a:r>
              <a:rPr lang="en-US" sz="1899">
                <a:solidFill>
                  <a:srgbClr val="FFFFFF"/>
                </a:solidFill>
                <a:latin typeface="Playpen Sans"/>
                <a:ea typeface="Playpen Sans"/>
                <a:cs typeface="Playpen Sans"/>
                <a:sym typeface="Playpen Sans"/>
              </a:rPr>
              <a:t> → Digunakan untuk menentukan kondisi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4054720" y="1914527"/>
            <a:ext cx="3222458" cy="3405433"/>
            <a:chOff x="0" y="0"/>
            <a:chExt cx="994432" cy="105089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994432" cy="1050898"/>
            </a:xfrm>
            <a:custGeom>
              <a:avLst/>
              <a:gdLst/>
              <a:ahLst/>
              <a:cxnLst/>
              <a:rect r="r" b="b" t="t" l="l"/>
              <a:pathLst>
                <a:path h="1050898" w="994432">
                  <a:moveTo>
                    <a:pt x="240249" y="0"/>
                  </a:moveTo>
                  <a:lnTo>
                    <a:pt x="754183" y="0"/>
                  </a:lnTo>
                  <a:cubicBezTo>
                    <a:pt x="886869" y="0"/>
                    <a:pt x="994432" y="107563"/>
                    <a:pt x="994432" y="240249"/>
                  </a:cubicBezTo>
                  <a:lnTo>
                    <a:pt x="994432" y="810649"/>
                  </a:lnTo>
                  <a:cubicBezTo>
                    <a:pt x="994432" y="943334"/>
                    <a:pt x="886869" y="1050898"/>
                    <a:pt x="754183" y="1050898"/>
                  </a:cubicBezTo>
                  <a:lnTo>
                    <a:pt x="240249" y="1050898"/>
                  </a:lnTo>
                  <a:cubicBezTo>
                    <a:pt x="107563" y="1050898"/>
                    <a:pt x="0" y="943334"/>
                    <a:pt x="0" y="810649"/>
                  </a:cubicBezTo>
                  <a:lnTo>
                    <a:pt x="0" y="240249"/>
                  </a:lnTo>
                  <a:cubicBezTo>
                    <a:pt x="0" y="107563"/>
                    <a:pt x="107563" y="0"/>
                    <a:pt x="240249" y="0"/>
                  </a:cubicBezTo>
                  <a:close/>
                </a:path>
              </a:pathLst>
            </a:custGeom>
            <a:solidFill>
              <a:srgbClr val="00A551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28575"/>
              <a:ext cx="994432" cy="10794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4340022" y="2766877"/>
            <a:ext cx="2651853" cy="16471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FFFFFF"/>
                </a:solidFill>
                <a:latin typeface="Playpen Sans"/>
                <a:ea typeface="Playpen Sans"/>
                <a:cs typeface="Playpen Sans"/>
                <a:sym typeface="Playpen Sans"/>
              </a:rPr>
              <a:t>2. </a:t>
            </a:r>
            <a:r>
              <a:rPr lang="en-US" sz="1899" u="sng">
                <a:solidFill>
                  <a:srgbClr val="FFFFFF"/>
                </a:solidFill>
                <a:latin typeface="Playpen Sans"/>
                <a:ea typeface="Playpen Sans"/>
                <a:cs typeface="Playpen Sans"/>
                <a:sym typeface="Playpen Sans"/>
              </a:rPr>
              <a:t>Perulangan</a:t>
            </a:r>
          </a:p>
          <a:p>
            <a:pPr algn="ctr">
              <a:lnSpc>
                <a:spcPts val="2659"/>
              </a:lnSpc>
              <a:spcBef>
                <a:spcPct val="0"/>
              </a:spcBef>
            </a:pPr>
          </a:p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b="true" sz="1899">
                <a:solidFill>
                  <a:srgbClr val="FEE600"/>
                </a:solidFill>
                <a:latin typeface="Playpen Sans Bold"/>
                <a:ea typeface="Playpen Sans Bold"/>
                <a:cs typeface="Playpen Sans Bold"/>
                <a:sym typeface="Playpen Sans Bold"/>
              </a:rPr>
              <a:t>for, while</a:t>
            </a:r>
            <a:r>
              <a:rPr lang="en-US" sz="1899">
                <a:solidFill>
                  <a:srgbClr val="FEE600"/>
                </a:solidFill>
                <a:latin typeface="Playpen Sans"/>
                <a:ea typeface="Playpen Sans"/>
                <a:cs typeface="Playpen Sans"/>
                <a:sym typeface="Playpen Sans"/>
              </a:rPr>
              <a:t> </a:t>
            </a:r>
            <a:r>
              <a:rPr lang="en-US" sz="1899">
                <a:solidFill>
                  <a:srgbClr val="FFFFFF"/>
                </a:solidFill>
                <a:latin typeface="Playpen Sans"/>
                <a:ea typeface="Playpen Sans"/>
                <a:cs typeface="Playpen Sans"/>
                <a:sym typeface="Playpen Sans"/>
              </a:rPr>
              <a:t>→ </a:t>
            </a:r>
            <a:r>
              <a:rPr lang="en-US" sz="1899">
                <a:solidFill>
                  <a:srgbClr val="FFFFFF"/>
                </a:solidFill>
                <a:latin typeface="Playpen Sans"/>
                <a:ea typeface="Playpen Sans"/>
                <a:cs typeface="Playpen Sans"/>
                <a:sym typeface="Playpen Sans"/>
              </a:rPr>
              <a:t>Digunakan untuk mengulang perintah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14493618" y="1914527"/>
            <a:ext cx="3222458" cy="3405433"/>
            <a:chOff x="0" y="0"/>
            <a:chExt cx="994432" cy="1050898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994432" cy="1050898"/>
            </a:xfrm>
            <a:custGeom>
              <a:avLst/>
              <a:gdLst/>
              <a:ahLst/>
              <a:cxnLst/>
              <a:rect r="r" b="b" t="t" l="l"/>
              <a:pathLst>
                <a:path h="1050898" w="994432">
                  <a:moveTo>
                    <a:pt x="240249" y="0"/>
                  </a:moveTo>
                  <a:lnTo>
                    <a:pt x="754183" y="0"/>
                  </a:lnTo>
                  <a:cubicBezTo>
                    <a:pt x="886869" y="0"/>
                    <a:pt x="994432" y="107563"/>
                    <a:pt x="994432" y="240249"/>
                  </a:cubicBezTo>
                  <a:lnTo>
                    <a:pt x="994432" y="810649"/>
                  </a:lnTo>
                  <a:cubicBezTo>
                    <a:pt x="994432" y="943334"/>
                    <a:pt x="886869" y="1050898"/>
                    <a:pt x="754183" y="1050898"/>
                  </a:cubicBezTo>
                  <a:lnTo>
                    <a:pt x="240249" y="1050898"/>
                  </a:lnTo>
                  <a:cubicBezTo>
                    <a:pt x="107563" y="1050898"/>
                    <a:pt x="0" y="943334"/>
                    <a:pt x="0" y="810649"/>
                  </a:cubicBezTo>
                  <a:lnTo>
                    <a:pt x="0" y="240249"/>
                  </a:lnTo>
                  <a:cubicBezTo>
                    <a:pt x="0" y="107563"/>
                    <a:pt x="107563" y="0"/>
                    <a:pt x="240249" y="0"/>
                  </a:cubicBezTo>
                  <a:close/>
                </a:path>
              </a:pathLst>
            </a:custGeom>
            <a:solidFill>
              <a:srgbClr val="00A551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28575"/>
              <a:ext cx="994432" cy="10794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14778920" y="2612673"/>
            <a:ext cx="2651853" cy="19805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FFFFFF"/>
                </a:solidFill>
                <a:latin typeface="Playpen Sans"/>
                <a:ea typeface="Playpen Sans"/>
                <a:cs typeface="Playpen Sans"/>
                <a:sym typeface="Playpen Sans"/>
              </a:rPr>
              <a:t>5. </a:t>
            </a:r>
            <a:r>
              <a:rPr lang="en-US" sz="1899" u="sng">
                <a:solidFill>
                  <a:srgbClr val="FFFFFF"/>
                </a:solidFill>
                <a:latin typeface="Playpen Sans"/>
                <a:ea typeface="Playpen Sans"/>
                <a:cs typeface="Playpen Sans"/>
                <a:sym typeface="Playpen Sans"/>
              </a:rPr>
              <a:t>Perulangan Lanjutan</a:t>
            </a:r>
          </a:p>
          <a:p>
            <a:pPr algn="ctr">
              <a:lnSpc>
                <a:spcPts val="2659"/>
              </a:lnSpc>
              <a:spcBef>
                <a:spcPct val="0"/>
              </a:spcBef>
            </a:pPr>
          </a:p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b="true" sz="1899">
                <a:solidFill>
                  <a:srgbClr val="FEE600"/>
                </a:solidFill>
                <a:latin typeface="Playpen Sans Bold"/>
                <a:ea typeface="Playpen Sans Bold"/>
                <a:cs typeface="Playpen Sans Bold"/>
                <a:sym typeface="Playpen Sans Bold"/>
              </a:rPr>
              <a:t>break, continue, pass</a:t>
            </a:r>
            <a:r>
              <a:rPr lang="en-US" sz="1899">
                <a:solidFill>
                  <a:srgbClr val="FFFFFF"/>
                </a:solidFill>
                <a:latin typeface="Playpen Sans"/>
                <a:ea typeface="Playpen Sans"/>
                <a:cs typeface="Playpen Sans"/>
                <a:sym typeface="Playpen Sans"/>
              </a:rPr>
              <a:t> → </a:t>
            </a:r>
            <a:r>
              <a:rPr lang="en-US" sz="1899">
                <a:solidFill>
                  <a:srgbClr val="FFFFFF"/>
                </a:solidFill>
                <a:latin typeface="Playpen Sans"/>
                <a:ea typeface="Playpen Sans"/>
                <a:cs typeface="Playpen Sans"/>
                <a:sym typeface="Playpen Sans"/>
              </a:rPr>
              <a:t>Mengatur jalannya loop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7534353" y="1914527"/>
            <a:ext cx="3222458" cy="3405433"/>
            <a:chOff x="0" y="0"/>
            <a:chExt cx="994432" cy="1050898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994432" cy="1050898"/>
            </a:xfrm>
            <a:custGeom>
              <a:avLst/>
              <a:gdLst/>
              <a:ahLst/>
              <a:cxnLst/>
              <a:rect r="r" b="b" t="t" l="l"/>
              <a:pathLst>
                <a:path h="1050898" w="994432">
                  <a:moveTo>
                    <a:pt x="240249" y="0"/>
                  </a:moveTo>
                  <a:lnTo>
                    <a:pt x="754183" y="0"/>
                  </a:lnTo>
                  <a:cubicBezTo>
                    <a:pt x="886869" y="0"/>
                    <a:pt x="994432" y="107563"/>
                    <a:pt x="994432" y="240249"/>
                  </a:cubicBezTo>
                  <a:lnTo>
                    <a:pt x="994432" y="810649"/>
                  </a:lnTo>
                  <a:cubicBezTo>
                    <a:pt x="994432" y="943334"/>
                    <a:pt x="886869" y="1050898"/>
                    <a:pt x="754183" y="1050898"/>
                  </a:cubicBezTo>
                  <a:lnTo>
                    <a:pt x="240249" y="1050898"/>
                  </a:lnTo>
                  <a:cubicBezTo>
                    <a:pt x="107563" y="1050898"/>
                    <a:pt x="0" y="943334"/>
                    <a:pt x="0" y="810649"/>
                  </a:cubicBezTo>
                  <a:lnTo>
                    <a:pt x="0" y="240249"/>
                  </a:lnTo>
                  <a:cubicBezTo>
                    <a:pt x="0" y="107563"/>
                    <a:pt x="107563" y="0"/>
                    <a:pt x="240249" y="0"/>
                  </a:cubicBezTo>
                  <a:close/>
                </a:path>
              </a:pathLst>
            </a:custGeom>
            <a:solidFill>
              <a:srgbClr val="00A551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28575"/>
              <a:ext cx="994432" cy="10794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7819655" y="2600189"/>
            <a:ext cx="2651853" cy="19805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FFFFFF"/>
                </a:solidFill>
                <a:latin typeface="Playpen Sans"/>
                <a:ea typeface="Playpen Sans"/>
                <a:cs typeface="Playpen Sans"/>
                <a:sym typeface="Playpen Sans"/>
              </a:rPr>
              <a:t>3. </a:t>
            </a:r>
            <a:r>
              <a:rPr lang="en-US" sz="1899" u="sng">
                <a:solidFill>
                  <a:srgbClr val="FFFFFF"/>
                </a:solidFill>
                <a:latin typeface="Playpen Sans"/>
                <a:ea typeface="Playpen Sans"/>
                <a:cs typeface="Playpen Sans"/>
                <a:sym typeface="Playpen Sans"/>
              </a:rPr>
              <a:t>Lo</a:t>
            </a:r>
            <a:r>
              <a:rPr lang="en-US" sz="1899" u="sng">
                <a:solidFill>
                  <a:srgbClr val="FFFFFF"/>
                </a:solidFill>
                <a:latin typeface="Playpen Sans"/>
                <a:ea typeface="Playpen Sans"/>
                <a:cs typeface="Playpen Sans"/>
                <a:sym typeface="Playpen Sans"/>
              </a:rPr>
              <a:t>gika (Operator Logika)</a:t>
            </a:r>
          </a:p>
          <a:p>
            <a:pPr algn="ctr">
              <a:lnSpc>
                <a:spcPts val="2659"/>
              </a:lnSpc>
              <a:spcBef>
                <a:spcPct val="0"/>
              </a:spcBef>
            </a:pPr>
          </a:p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b="true" sz="1899">
                <a:solidFill>
                  <a:srgbClr val="FEE600"/>
                </a:solidFill>
                <a:latin typeface="Playpen Sans Bold"/>
                <a:ea typeface="Playpen Sans Bold"/>
                <a:cs typeface="Playpen Sans Bold"/>
                <a:sym typeface="Playpen Sans Bold"/>
              </a:rPr>
              <a:t>and, or, not</a:t>
            </a:r>
            <a:r>
              <a:rPr lang="en-US" sz="1899">
                <a:solidFill>
                  <a:srgbClr val="000000"/>
                </a:solidFill>
                <a:latin typeface="Playpen Sans"/>
                <a:ea typeface="Playpen Sans"/>
                <a:cs typeface="Playpen Sans"/>
                <a:sym typeface="Playpen Sans"/>
              </a:rPr>
              <a:t> </a:t>
            </a:r>
            <a:r>
              <a:rPr lang="en-US" sz="1899">
                <a:solidFill>
                  <a:srgbClr val="FFFFFF"/>
                </a:solidFill>
                <a:latin typeface="Playpen Sans"/>
                <a:ea typeface="Playpen Sans"/>
                <a:cs typeface="Playpen Sans"/>
                <a:sym typeface="Playpen Sans"/>
              </a:rPr>
              <a:t>→ Menggabungkan kondisi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11013985" y="1914527"/>
            <a:ext cx="3222458" cy="3405433"/>
            <a:chOff x="0" y="0"/>
            <a:chExt cx="994432" cy="1050898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994432" cy="1050898"/>
            </a:xfrm>
            <a:custGeom>
              <a:avLst/>
              <a:gdLst/>
              <a:ahLst/>
              <a:cxnLst/>
              <a:rect r="r" b="b" t="t" l="l"/>
              <a:pathLst>
                <a:path h="1050898" w="994432">
                  <a:moveTo>
                    <a:pt x="240249" y="0"/>
                  </a:moveTo>
                  <a:lnTo>
                    <a:pt x="754183" y="0"/>
                  </a:lnTo>
                  <a:cubicBezTo>
                    <a:pt x="886869" y="0"/>
                    <a:pt x="994432" y="107563"/>
                    <a:pt x="994432" y="240249"/>
                  </a:cubicBezTo>
                  <a:lnTo>
                    <a:pt x="994432" y="810649"/>
                  </a:lnTo>
                  <a:cubicBezTo>
                    <a:pt x="994432" y="943334"/>
                    <a:pt x="886869" y="1050898"/>
                    <a:pt x="754183" y="1050898"/>
                  </a:cubicBezTo>
                  <a:lnTo>
                    <a:pt x="240249" y="1050898"/>
                  </a:lnTo>
                  <a:cubicBezTo>
                    <a:pt x="107563" y="1050898"/>
                    <a:pt x="0" y="943334"/>
                    <a:pt x="0" y="810649"/>
                  </a:cubicBezTo>
                  <a:lnTo>
                    <a:pt x="0" y="240249"/>
                  </a:lnTo>
                  <a:cubicBezTo>
                    <a:pt x="0" y="107563"/>
                    <a:pt x="107563" y="0"/>
                    <a:pt x="240249" y="0"/>
                  </a:cubicBezTo>
                  <a:close/>
                </a:path>
              </a:pathLst>
            </a:custGeom>
            <a:solidFill>
              <a:srgbClr val="00A551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28575"/>
              <a:ext cx="994432" cy="10794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27" id="27"/>
          <p:cNvSpPr txBox="true"/>
          <p:nvPr/>
        </p:nvSpPr>
        <p:spPr>
          <a:xfrm rot="0">
            <a:off x="11330401" y="2779361"/>
            <a:ext cx="2651853" cy="16471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FFFFFF"/>
                </a:solidFill>
                <a:latin typeface="Playpen Sans"/>
                <a:ea typeface="Playpen Sans"/>
                <a:cs typeface="Playpen Sans"/>
                <a:sym typeface="Playpen Sans"/>
              </a:rPr>
              <a:t>4.</a:t>
            </a:r>
            <a:r>
              <a:rPr lang="en-US" sz="1899">
                <a:solidFill>
                  <a:srgbClr val="FFFFFF"/>
                </a:solidFill>
                <a:latin typeface="Playpen Sans"/>
                <a:ea typeface="Playpen Sans"/>
                <a:cs typeface="Playpen Sans"/>
                <a:sym typeface="Playpen Sans"/>
              </a:rPr>
              <a:t> </a:t>
            </a:r>
            <a:r>
              <a:rPr lang="en-US" sz="1899" u="sng">
                <a:solidFill>
                  <a:srgbClr val="FFFFFF"/>
                </a:solidFill>
                <a:latin typeface="Playpen Sans"/>
                <a:ea typeface="Playpen Sans"/>
                <a:cs typeface="Playpen Sans"/>
                <a:sym typeface="Playpen Sans"/>
              </a:rPr>
              <a:t>Fungsi &amp; Nilai Ba</a:t>
            </a:r>
            <a:r>
              <a:rPr lang="en-US" sz="1899" u="sng">
                <a:solidFill>
                  <a:srgbClr val="FFFFFF"/>
                </a:solidFill>
                <a:latin typeface="Playpen Sans"/>
                <a:ea typeface="Playpen Sans"/>
                <a:cs typeface="Playpen Sans"/>
                <a:sym typeface="Playpen Sans"/>
              </a:rPr>
              <a:t>li</a:t>
            </a:r>
            <a:r>
              <a:rPr lang="en-US" sz="1899" u="sng">
                <a:solidFill>
                  <a:srgbClr val="FFFFFF"/>
                </a:solidFill>
                <a:latin typeface="Playpen Sans"/>
                <a:ea typeface="Playpen Sans"/>
                <a:cs typeface="Playpen Sans"/>
                <a:sym typeface="Playpen Sans"/>
              </a:rPr>
              <a:t>k</a:t>
            </a:r>
          </a:p>
          <a:p>
            <a:pPr algn="ctr">
              <a:lnSpc>
                <a:spcPts val="2659"/>
              </a:lnSpc>
              <a:spcBef>
                <a:spcPct val="0"/>
              </a:spcBef>
            </a:pPr>
          </a:p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b="true" sz="1899">
                <a:solidFill>
                  <a:srgbClr val="FEE600"/>
                </a:solidFill>
                <a:latin typeface="Playpen Sans Bold"/>
                <a:ea typeface="Playpen Sans Bold"/>
                <a:cs typeface="Playpen Sans Bold"/>
                <a:sym typeface="Playpen Sans Bold"/>
              </a:rPr>
              <a:t>def, return</a:t>
            </a:r>
            <a:r>
              <a:rPr lang="en-US" sz="1899">
                <a:solidFill>
                  <a:srgbClr val="FFFFFF"/>
                </a:solidFill>
                <a:latin typeface="Playpen Sans"/>
                <a:ea typeface="Playpen Sans"/>
                <a:cs typeface="Playpen Sans"/>
                <a:sym typeface="Playpen Sans"/>
              </a:rPr>
              <a:t> → Membuat fungsi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477219" y="5702416"/>
            <a:ext cx="3222458" cy="3405433"/>
            <a:chOff x="0" y="0"/>
            <a:chExt cx="994432" cy="1050898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994432" cy="1050898"/>
            </a:xfrm>
            <a:custGeom>
              <a:avLst/>
              <a:gdLst/>
              <a:ahLst/>
              <a:cxnLst/>
              <a:rect r="r" b="b" t="t" l="l"/>
              <a:pathLst>
                <a:path h="1050898" w="994432">
                  <a:moveTo>
                    <a:pt x="240249" y="0"/>
                  </a:moveTo>
                  <a:lnTo>
                    <a:pt x="754183" y="0"/>
                  </a:lnTo>
                  <a:cubicBezTo>
                    <a:pt x="886869" y="0"/>
                    <a:pt x="994432" y="107563"/>
                    <a:pt x="994432" y="240249"/>
                  </a:cubicBezTo>
                  <a:lnTo>
                    <a:pt x="994432" y="810649"/>
                  </a:lnTo>
                  <a:cubicBezTo>
                    <a:pt x="994432" y="943334"/>
                    <a:pt x="886869" y="1050898"/>
                    <a:pt x="754183" y="1050898"/>
                  </a:cubicBezTo>
                  <a:lnTo>
                    <a:pt x="240249" y="1050898"/>
                  </a:lnTo>
                  <a:cubicBezTo>
                    <a:pt x="107563" y="1050898"/>
                    <a:pt x="0" y="943334"/>
                    <a:pt x="0" y="810649"/>
                  </a:cubicBezTo>
                  <a:lnTo>
                    <a:pt x="0" y="240249"/>
                  </a:lnTo>
                  <a:cubicBezTo>
                    <a:pt x="0" y="107563"/>
                    <a:pt x="107563" y="0"/>
                    <a:pt x="240249" y="0"/>
                  </a:cubicBezTo>
                  <a:close/>
                </a:path>
              </a:pathLst>
            </a:custGeom>
            <a:solidFill>
              <a:srgbClr val="00A551"/>
            </a:solid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28575"/>
              <a:ext cx="994432" cy="10794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31" id="31"/>
          <p:cNvSpPr txBox="true"/>
          <p:nvPr/>
        </p:nvSpPr>
        <p:spPr>
          <a:xfrm rot="0">
            <a:off x="765236" y="6567250"/>
            <a:ext cx="2651853" cy="16471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FFFFFF"/>
                </a:solidFill>
                <a:latin typeface="Playpen Sans"/>
                <a:ea typeface="Playpen Sans"/>
                <a:cs typeface="Playpen Sans"/>
                <a:sym typeface="Playpen Sans"/>
              </a:rPr>
              <a:t>6. </a:t>
            </a:r>
            <a:r>
              <a:rPr lang="en-US" sz="1899" u="sng">
                <a:solidFill>
                  <a:srgbClr val="FFFFFF"/>
                </a:solidFill>
                <a:latin typeface="Playpen Sans"/>
                <a:ea typeface="Playpen Sans"/>
                <a:cs typeface="Playpen Sans"/>
                <a:sym typeface="Playpen Sans"/>
              </a:rPr>
              <a:t>Penanganan Error</a:t>
            </a:r>
          </a:p>
          <a:p>
            <a:pPr algn="ctr">
              <a:lnSpc>
                <a:spcPts val="2659"/>
              </a:lnSpc>
              <a:spcBef>
                <a:spcPct val="0"/>
              </a:spcBef>
            </a:pPr>
          </a:p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b="true" sz="1899">
                <a:solidFill>
                  <a:srgbClr val="FEE600"/>
                </a:solidFill>
                <a:latin typeface="Playpen Sans Bold"/>
                <a:ea typeface="Playpen Sans Bold"/>
                <a:cs typeface="Playpen Sans Bold"/>
                <a:sym typeface="Playpen Sans Bold"/>
              </a:rPr>
              <a:t>try, except, finally, raise</a:t>
            </a:r>
            <a:r>
              <a:rPr lang="en-US" sz="1899">
                <a:solidFill>
                  <a:srgbClr val="FFFFFF"/>
                </a:solidFill>
                <a:latin typeface="Playpen Sans"/>
                <a:ea typeface="Playpen Sans"/>
                <a:cs typeface="Playpen Sans"/>
                <a:sym typeface="Playpen Sans"/>
              </a:rPr>
              <a:t> → </a:t>
            </a:r>
            <a:r>
              <a:rPr lang="en-US" sz="1899">
                <a:solidFill>
                  <a:srgbClr val="FFFFFF"/>
                </a:solidFill>
                <a:latin typeface="Playpen Sans"/>
                <a:ea typeface="Playpen Sans"/>
                <a:cs typeface="Playpen Sans"/>
                <a:sym typeface="Playpen Sans"/>
              </a:rPr>
              <a:t>Mengatasi kesalahan program</a:t>
            </a:r>
          </a:p>
        </p:txBody>
      </p:sp>
      <p:grpSp>
        <p:nvGrpSpPr>
          <p:cNvPr name="Group 32" id="32"/>
          <p:cNvGrpSpPr/>
          <p:nvPr/>
        </p:nvGrpSpPr>
        <p:grpSpPr>
          <a:xfrm rot="0">
            <a:off x="3960014" y="5702416"/>
            <a:ext cx="3222458" cy="3405433"/>
            <a:chOff x="0" y="0"/>
            <a:chExt cx="994432" cy="1050898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994432" cy="1050898"/>
            </a:xfrm>
            <a:custGeom>
              <a:avLst/>
              <a:gdLst/>
              <a:ahLst/>
              <a:cxnLst/>
              <a:rect r="r" b="b" t="t" l="l"/>
              <a:pathLst>
                <a:path h="1050898" w="994432">
                  <a:moveTo>
                    <a:pt x="240249" y="0"/>
                  </a:moveTo>
                  <a:lnTo>
                    <a:pt x="754183" y="0"/>
                  </a:lnTo>
                  <a:cubicBezTo>
                    <a:pt x="886869" y="0"/>
                    <a:pt x="994432" y="107563"/>
                    <a:pt x="994432" y="240249"/>
                  </a:cubicBezTo>
                  <a:lnTo>
                    <a:pt x="994432" y="810649"/>
                  </a:lnTo>
                  <a:cubicBezTo>
                    <a:pt x="994432" y="943334"/>
                    <a:pt x="886869" y="1050898"/>
                    <a:pt x="754183" y="1050898"/>
                  </a:cubicBezTo>
                  <a:lnTo>
                    <a:pt x="240249" y="1050898"/>
                  </a:lnTo>
                  <a:cubicBezTo>
                    <a:pt x="107563" y="1050898"/>
                    <a:pt x="0" y="943334"/>
                    <a:pt x="0" y="810649"/>
                  </a:cubicBezTo>
                  <a:lnTo>
                    <a:pt x="0" y="240249"/>
                  </a:lnTo>
                  <a:cubicBezTo>
                    <a:pt x="0" y="107563"/>
                    <a:pt x="107563" y="0"/>
                    <a:pt x="240249" y="0"/>
                  </a:cubicBezTo>
                  <a:close/>
                </a:path>
              </a:pathLst>
            </a:custGeom>
            <a:solidFill>
              <a:srgbClr val="00A551"/>
            </a:solid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28575"/>
              <a:ext cx="994432" cy="10794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35" id="35"/>
          <p:cNvSpPr txBox="true"/>
          <p:nvPr/>
        </p:nvSpPr>
        <p:spPr>
          <a:xfrm rot="0">
            <a:off x="4245316" y="6733937"/>
            <a:ext cx="2651853" cy="1313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FFFFFF"/>
                </a:solidFill>
                <a:latin typeface="Playpen Sans"/>
                <a:ea typeface="Playpen Sans"/>
                <a:cs typeface="Playpen Sans"/>
                <a:sym typeface="Playpen Sans"/>
              </a:rPr>
              <a:t>7.</a:t>
            </a:r>
            <a:r>
              <a:rPr lang="en-US" sz="1899">
                <a:solidFill>
                  <a:srgbClr val="FFFFFF"/>
                </a:solidFill>
                <a:latin typeface="Playpen Sans"/>
                <a:ea typeface="Playpen Sans"/>
                <a:cs typeface="Playpen Sans"/>
                <a:sym typeface="Playpen Sans"/>
              </a:rPr>
              <a:t> </a:t>
            </a:r>
            <a:r>
              <a:rPr lang="en-US" sz="1899" u="sng">
                <a:solidFill>
                  <a:srgbClr val="FFFFFF"/>
                </a:solidFill>
                <a:latin typeface="Playpen Sans"/>
                <a:ea typeface="Playpen Sans"/>
                <a:cs typeface="Playpen Sans"/>
                <a:sym typeface="Playpen Sans"/>
              </a:rPr>
              <a:t>Import Modul</a:t>
            </a:r>
          </a:p>
          <a:p>
            <a:pPr algn="ctr">
              <a:lnSpc>
                <a:spcPts val="2659"/>
              </a:lnSpc>
              <a:spcBef>
                <a:spcPct val="0"/>
              </a:spcBef>
            </a:pPr>
          </a:p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b="true" sz="1899">
                <a:solidFill>
                  <a:srgbClr val="FEE600"/>
                </a:solidFill>
                <a:latin typeface="Playpen Sans Bold"/>
                <a:ea typeface="Playpen Sans Bold"/>
                <a:cs typeface="Playpen Sans Bold"/>
                <a:sym typeface="Playpen Sans Bold"/>
              </a:rPr>
              <a:t>import, from, as</a:t>
            </a:r>
            <a:r>
              <a:rPr lang="en-US" sz="1899">
                <a:solidFill>
                  <a:srgbClr val="FFFFFF"/>
                </a:solidFill>
                <a:latin typeface="Playpen Sans"/>
                <a:ea typeface="Playpen Sans"/>
                <a:cs typeface="Playpen Sans"/>
                <a:sym typeface="Playpen Sans"/>
              </a:rPr>
              <a:t> → Mengambil library</a:t>
            </a:r>
          </a:p>
        </p:txBody>
      </p:sp>
      <p:grpSp>
        <p:nvGrpSpPr>
          <p:cNvPr name="Group 36" id="36"/>
          <p:cNvGrpSpPr/>
          <p:nvPr/>
        </p:nvGrpSpPr>
        <p:grpSpPr>
          <a:xfrm rot="0">
            <a:off x="7439647" y="5702416"/>
            <a:ext cx="3222458" cy="3405433"/>
            <a:chOff x="0" y="0"/>
            <a:chExt cx="994432" cy="1050898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994432" cy="1050898"/>
            </a:xfrm>
            <a:custGeom>
              <a:avLst/>
              <a:gdLst/>
              <a:ahLst/>
              <a:cxnLst/>
              <a:rect r="r" b="b" t="t" l="l"/>
              <a:pathLst>
                <a:path h="1050898" w="994432">
                  <a:moveTo>
                    <a:pt x="240249" y="0"/>
                  </a:moveTo>
                  <a:lnTo>
                    <a:pt x="754183" y="0"/>
                  </a:lnTo>
                  <a:cubicBezTo>
                    <a:pt x="886869" y="0"/>
                    <a:pt x="994432" y="107563"/>
                    <a:pt x="994432" y="240249"/>
                  </a:cubicBezTo>
                  <a:lnTo>
                    <a:pt x="994432" y="810649"/>
                  </a:lnTo>
                  <a:cubicBezTo>
                    <a:pt x="994432" y="943334"/>
                    <a:pt x="886869" y="1050898"/>
                    <a:pt x="754183" y="1050898"/>
                  </a:cubicBezTo>
                  <a:lnTo>
                    <a:pt x="240249" y="1050898"/>
                  </a:lnTo>
                  <a:cubicBezTo>
                    <a:pt x="107563" y="1050898"/>
                    <a:pt x="0" y="943334"/>
                    <a:pt x="0" y="810649"/>
                  </a:cubicBezTo>
                  <a:lnTo>
                    <a:pt x="0" y="240249"/>
                  </a:lnTo>
                  <a:cubicBezTo>
                    <a:pt x="0" y="107563"/>
                    <a:pt x="107563" y="0"/>
                    <a:pt x="240249" y="0"/>
                  </a:cubicBezTo>
                  <a:close/>
                </a:path>
              </a:pathLst>
            </a:custGeom>
            <a:solidFill>
              <a:srgbClr val="00A551"/>
            </a:solid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28575"/>
              <a:ext cx="994432" cy="10794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39" id="39"/>
          <p:cNvSpPr txBox="true"/>
          <p:nvPr/>
        </p:nvSpPr>
        <p:spPr>
          <a:xfrm rot="0">
            <a:off x="7724949" y="6733937"/>
            <a:ext cx="2651853" cy="1313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FFFFFF"/>
                </a:solidFill>
                <a:latin typeface="Playpen Sans"/>
                <a:ea typeface="Playpen Sans"/>
                <a:cs typeface="Playpen Sans"/>
                <a:sym typeface="Playpen Sans"/>
              </a:rPr>
              <a:t>8.</a:t>
            </a:r>
            <a:r>
              <a:rPr lang="en-US" sz="1899">
                <a:solidFill>
                  <a:srgbClr val="FFFFFF"/>
                </a:solidFill>
                <a:latin typeface="Playpen Sans"/>
                <a:ea typeface="Playpen Sans"/>
                <a:cs typeface="Playpen Sans"/>
                <a:sym typeface="Playpen Sans"/>
              </a:rPr>
              <a:t> </a:t>
            </a:r>
            <a:r>
              <a:rPr lang="en-US" sz="1899" u="sng">
                <a:solidFill>
                  <a:srgbClr val="FFFFFF"/>
                </a:solidFill>
                <a:latin typeface="Playpen Sans"/>
                <a:ea typeface="Playpen Sans"/>
                <a:cs typeface="Playpen Sans"/>
                <a:sym typeface="Playpen Sans"/>
              </a:rPr>
              <a:t>Nilai Khusus</a:t>
            </a:r>
          </a:p>
          <a:p>
            <a:pPr algn="ctr">
              <a:lnSpc>
                <a:spcPts val="2659"/>
              </a:lnSpc>
              <a:spcBef>
                <a:spcPct val="0"/>
              </a:spcBef>
            </a:pPr>
          </a:p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b="true" sz="1899">
                <a:solidFill>
                  <a:srgbClr val="FEE600"/>
                </a:solidFill>
                <a:latin typeface="Playpen Sans Bold"/>
                <a:ea typeface="Playpen Sans Bold"/>
                <a:cs typeface="Playpen Sans Bold"/>
                <a:sym typeface="Playpen Sans Bold"/>
              </a:rPr>
              <a:t>True, False, None</a:t>
            </a:r>
            <a:r>
              <a:rPr lang="en-US" sz="1899">
                <a:solidFill>
                  <a:srgbClr val="FFFFFF"/>
                </a:solidFill>
                <a:latin typeface="Playpen Sans"/>
                <a:ea typeface="Playpen Sans"/>
                <a:cs typeface="Playpen Sans"/>
                <a:sym typeface="Playpen Sans"/>
              </a:rPr>
              <a:t> → </a:t>
            </a:r>
            <a:r>
              <a:rPr lang="en-US" sz="1899">
                <a:solidFill>
                  <a:srgbClr val="FFFFFF"/>
                </a:solidFill>
                <a:latin typeface="Playpen Sans"/>
                <a:ea typeface="Playpen Sans"/>
                <a:cs typeface="Playpen Sans"/>
                <a:sym typeface="Playpen Sans"/>
              </a:rPr>
              <a:t>Nilai bawaan Python</a:t>
            </a:r>
          </a:p>
        </p:txBody>
      </p:sp>
      <p:grpSp>
        <p:nvGrpSpPr>
          <p:cNvPr name="Group 40" id="40"/>
          <p:cNvGrpSpPr/>
          <p:nvPr/>
        </p:nvGrpSpPr>
        <p:grpSpPr>
          <a:xfrm rot="0">
            <a:off x="10919279" y="5702416"/>
            <a:ext cx="6891502" cy="4112916"/>
            <a:chOff x="0" y="0"/>
            <a:chExt cx="2126679" cy="1269223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2126679" cy="1269223"/>
            </a:xfrm>
            <a:custGeom>
              <a:avLst/>
              <a:gdLst/>
              <a:ahLst/>
              <a:cxnLst/>
              <a:rect r="r" b="b" t="t" l="l"/>
              <a:pathLst>
                <a:path h="1269223" w="2126679">
                  <a:moveTo>
                    <a:pt x="112340" y="0"/>
                  </a:moveTo>
                  <a:lnTo>
                    <a:pt x="2014339" y="0"/>
                  </a:lnTo>
                  <a:cubicBezTo>
                    <a:pt x="2044133" y="0"/>
                    <a:pt x="2072707" y="11836"/>
                    <a:pt x="2093775" y="32904"/>
                  </a:cubicBezTo>
                  <a:cubicBezTo>
                    <a:pt x="2114843" y="53972"/>
                    <a:pt x="2126679" y="82546"/>
                    <a:pt x="2126679" y="112340"/>
                  </a:cubicBezTo>
                  <a:lnTo>
                    <a:pt x="2126679" y="1156883"/>
                  </a:lnTo>
                  <a:cubicBezTo>
                    <a:pt x="2126679" y="1186677"/>
                    <a:pt x="2114843" y="1215252"/>
                    <a:pt x="2093775" y="1236319"/>
                  </a:cubicBezTo>
                  <a:cubicBezTo>
                    <a:pt x="2072707" y="1257387"/>
                    <a:pt x="2044133" y="1269223"/>
                    <a:pt x="2014339" y="1269223"/>
                  </a:cubicBezTo>
                  <a:lnTo>
                    <a:pt x="112340" y="1269223"/>
                  </a:lnTo>
                  <a:cubicBezTo>
                    <a:pt x="82546" y="1269223"/>
                    <a:pt x="53972" y="1257387"/>
                    <a:pt x="32904" y="1236319"/>
                  </a:cubicBezTo>
                  <a:cubicBezTo>
                    <a:pt x="11836" y="1215252"/>
                    <a:pt x="0" y="1186677"/>
                    <a:pt x="0" y="1156883"/>
                  </a:cubicBezTo>
                  <a:lnTo>
                    <a:pt x="0" y="112340"/>
                  </a:lnTo>
                  <a:cubicBezTo>
                    <a:pt x="0" y="82546"/>
                    <a:pt x="11836" y="53972"/>
                    <a:pt x="32904" y="32904"/>
                  </a:cubicBezTo>
                  <a:cubicBezTo>
                    <a:pt x="53972" y="11836"/>
                    <a:pt x="82546" y="0"/>
                    <a:pt x="112340" y="0"/>
                  </a:cubicBezTo>
                  <a:close/>
                </a:path>
              </a:pathLst>
            </a:custGeom>
            <a:solidFill>
              <a:srgbClr val="00A551"/>
            </a:solid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28575"/>
              <a:ext cx="2126679" cy="129779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43" id="43"/>
          <p:cNvSpPr txBox="true"/>
          <p:nvPr/>
        </p:nvSpPr>
        <p:spPr>
          <a:xfrm rot="0">
            <a:off x="11037447" y="6087554"/>
            <a:ext cx="6655166" cy="33140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</a:pPr>
            <a:r>
              <a:rPr lang="en-US" sz="1899">
                <a:solidFill>
                  <a:srgbClr val="FFFFFF"/>
                </a:solidFill>
                <a:latin typeface="Playpen Sans"/>
                <a:ea typeface="Playpen Sans"/>
                <a:cs typeface="Playpen Sans"/>
                <a:sym typeface="Playpen Sans"/>
              </a:rPr>
              <a:t>9. </a:t>
            </a:r>
            <a:r>
              <a:rPr lang="en-US" sz="1899" u="sng">
                <a:solidFill>
                  <a:srgbClr val="FFFFFF"/>
                </a:solidFill>
                <a:latin typeface="Playpen Sans"/>
                <a:ea typeface="Playpen Sans"/>
                <a:cs typeface="Playpen Sans"/>
                <a:sym typeface="Playpen Sans"/>
              </a:rPr>
              <a:t>Lainnya (T</a:t>
            </a:r>
            <a:r>
              <a:rPr lang="en-US" sz="1899" u="sng">
                <a:solidFill>
                  <a:srgbClr val="FFFFFF"/>
                </a:solidFill>
                <a:latin typeface="Playpen Sans"/>
                <a:ea typeface="Playpen Sans"/>
                <a:cs typeface="Playpen Sans"/>
                <a:sym typeface="Playpen Sans"/>
              </a:rPr>
              <a:t>ambahan)</a:t>
            </a:r>
          </a:p>
          <a:p>
            <a:pPr algn="ctr">
              <a:lnSpc>
                <a:spcPts val="2659"/>
              </a:lnSpc>
            </a:pPr>
          </a:p>
          <a:p>
            <a:pPr algn="l" marL="410209" indent="-205105" lvl="1">
              <a:lnSpc>
                <a:spcPts val="2659"/>
              </a:lnSpc>
              <a:buFont typeface="Arial"/>
              <a:buChar char="•"/>
            </a:pPr>
            <a:r>
              <a:rPr lang="en-US" b="true" sz="1899">
                <a:solidFill>
                  <a:srgbClr val="FEE600"/>
                </a:solidFill>
                <a:latin typeface="Playpen Sans Bold"/>
                <a:ea typeface="Playpen Sans Bold"/>
                <a:cs typeface="Playpen Sans Bold"/>
                <a:sym typeface="Playpen Sans Bold"/>
              </a:rPr>
              <a:t>class </a:t>
            </a:r>
            <a:r>
              <a:rPr lang="en-US" sz="1899">
                <a:solidFill>
                  <a:srgbClr val="FFFFFF"/>
                </a:solidFill>
                <a:latin typeface="Playpen Sans"/>
                <a:ea typeface="Playpen Sans"/>
                <a:cs typeface="Playpen Sans"/>
                <a:sym typeface="Playpen Sans"/>
              </a:rPr>
              <a:t>→ membuat class (OOP)</a:t>
            </a:r>
          </a:p>
          <a:p>
            <a:pPr algn="l" marL="410209" indent="-205105" lvl="1">
              <a:lnSpc>
                <a:spcPts val="2659"/>
              </a:lnSpc>
              <a:buFont typeface="Arial"/>
              <a:buChar char="•"/>
            </a:pPr>
            <a:r>
              <a:rPr lang="en-US" b="true" sz="1899">
                <a:solidFill>
                  <a:srgbClr val="FEE600"/>
                </a:solidFill>
                <a:latin typeface="Playpen Sans Bold"/>
                <a:ea typeface="Playpen Sans Bold"/>
                <a:cs typeface="Playpen Sans Bold"/>
                <a:sym typeface="Playpen Sans Bold"/>
              </a:rPr>
              <a:t>lambda</a:t>
            </a:r>
            <a:r>
              <a:rPr lang="en-US" sz="1899">
                <a:solidFill>
                  <a:srgbClr val="FFFFFF"/>
                </a:solidFill>
                <a:latin typeface="Playpen Sans"/>
                <a:ea typeface="Playpen Sans"/>
                <a:cs typeface="Playpen Sans"/>
                <a:sym typeface="Playpen Sans"/>
              </a:rPr>
              <a:t> → fungsi singkat</a:t>
            </a:r>
          </a:p>
          <a:p>
            <a:pPr algn="l" marL="410209" indent="-205105" lvl="1">
              <a:lnSpc>
                <a:spcPts val="2659"/>
              </a:lnSpc>
              <a:buFont typeface="Arial"/>
              <a:buChar char="•"/>
            </a:pPr>
            <a:r>
              <a:rPr lang="en-US" b="true" sz="1899">
                <a:solidFill>
                  <a:srgbClr val="FEE600"/>
                </a:solidFill>
                <a:latin typeface="Playpen Sans Bold"/>
                <a:ea typeface="Playpen Sans Bold"/>
                <a:cs typeface="Playpen Sans Bold"/>
                <a:sym typeface="Playpen Sans Bold"/>
              </a:rPr>
              <a:t>global, nonlocal </a:t>
            </a:r>
            <a:r>
              <a:rPr lang="en-US" sz="1899">
                <a:solidFill>
                  <a:srgbClr val="FFFFFF"/>
                </a:solidFill>
                <a:latin typeface="Playpen Sans"/>
                <a:ea typeface="Playpen Sans"/>
                <a:cs typeface="Playpen Sans"/>
                <a:sym typeface="Playpen Sans"/>
              </a:rPr>
              <a:t>→ mengatur</a:t>
            </a:r>
            <a:r>
              <a:rPr lang="en-US" sz="1899">
                <a:solidFill>
                  <a:srgbClr val="FFFFFF"/>
                </a:solidFill>
                <a:latin typeface="Playpen Sans"/>
                <a:ea typeface="Playpen Sans"/>
                <a:cs typeface="Playpen Sans"/>
                <a:sym typeface="Playpen Sans"/>
              </a:rPr>
              <a:t> </a:t>
            </a:r>
            <a:r>
              <a:rPr lang="en-US" sz="1899">
                <a:solidFill>
                  <a:srgbClr val="FFFFFF"/>
                </a:solidFill>
                <a:latin typeface="Playpen Sans"/>
                <a:ea typeface="Playpen Sans"/>
                <a:cs typeface="Playpen Sans"/>
                <a:sym typeface="Playpen Sans"/>
              </a:rPr>
              <a:t>var</a:t>
            </a:r>
            <a:r>
              <a:rPr lang="en-US" sz="1899">
                <a:solidFill>
                  <a:srgbClr val="FFFFFF"/>
                </a:solidFill>
                <a:latin typeface="Playpen Sans"/>
                <a:ea typeface="Playpen Sans"/>
                <a:cs typeface="Playpen Sans"/>
                <a:sym typeface="Playpen Sans"/>
              </a:rPr>
              <a:t>i</a:t>
            </a:r>
            <a:r>
              <a:rPr lang="en-US" sz="1899">
                <a:solidFill>
                  <a:srgbClr val="FFFFFF"/>
                </a:solidFill>
                <a:latin typeface="Playpen Sans"/>
                <a:ea typeface="Playpen Sans"/>
                <a:cs typeface="Playpen Sans"/>
                <a:sym typeface="Playpen Sans"/>
              </a:rPr>
              <a:t>ab</a:t>
            </a:r>
            <a:r>
              <a:rPr lang="en-US" sz="1899">
                <a:solidFill>
                  <a:srgbClr val="FFFFFF"/>
                </a:solidFill>
                <a:latin typeface="Playpen Sans"/>
                <a:ea typeface="Playpen Sans"/>
                <a:cs typeface="Playpen Sans"/>
                <a:sym typeface="Playpen Sans"/>
              </a:rPr>
              <a:t>el</a:t>
            </a:r>
          </a:p>
          <a:p>
            <a:pPr algn="l" marL="410209" indent="-205105" lvl="1">
              <a:lnSpc>
                <a:spcPts val="2659"/>
              </a:lnSpc>
              <a:buFont typeface="Arial"/>
              <a:buChar char="•"/>
            </a:pPr>
            <a:r>
              <a:rPr lang="en-US" b="true" sz="1899">
                <a:solidFill>
                  <a:srgbClr val="FEE600"/>
                </a:solidFill>
                <a:latin typeface="Playpen Sans Bold"/>
                <a:ea typeface="Playpen Sans Bold"/>
                <a:cs typeface="Playpen Sans Bold"/>
                <a:sym typeface="Playpen Sans Bold"/>
              </a:rPr>
              <a:t>in, is</a:t>
            </a:r>
            <a:r>
              <a:rPr lang="en-US" sz="1899">
                <a:solidFill>
                  <a:srgbClr val="FFFFFF"/>
                </a:solidFill>
                <a:latin typeface="Playpen Sans"/>
                <a:ea typeface="Playpen Sans"/>
                <a:cs typeface="Playpen Sans"/>
                <a:sym typeface="Playpen Sans"/>
              </a:rPr>
              <a:t> → pengecekan</a:t>
            </a:r>
          </a:p>
          <a:p>
            <a:pPr algn="l" marL="410209" indent="-205105" lvl="1">
              <a:lnSpc>
                <a:spcPts val="2659"/>
              </a:lnSpc>
              <a:buFont typeface="Arial"/>
              <a:buChar char="•"/>
            </a:pPr>
            <a:r>
              <a:rPr lang="en-US" b="true" sz="1899">
                <a:solidFill>
                  <a:srgbClr val="FEE600"/>
                </a:solidFill>
                <a:latin typeface="Playpen Sans Bold"/>
                <a:ea typeface="Playpen Sans Bold"/>
                <a:cs typeface="Playpen Sans Bold"/>
                <a:sym typeface="Playpen Sans Bold"/>
              </a:rPr>
              <a:t>del</a:t>
            </a:r>
            <a:r>
              <a:rPr lang="en-US" sz="1899">
                <a:solidFill>
                  <a:srgbClr val="FFFFFF"/>
                </a:solidFill>
                <a:latin typeface="Playpen Sans"/>
                <a:ea typeface="Playpen Sans"/>
                <a:cs typeface="Playpen Sans"/>
                <a:sym typeface="Playpen Sans"/>
              </a:rPr>
              <a:t> → menghapus data</a:t>
            </a:r>
          </a:p>
          <a:p>
            <a:pPr algn="l" marL="410209" indent="-205105" lvl="1">
              <a:lnSpc>
                <a:spcPts val="2659"/>
              </a:lnSpc>
              <a:buFont typeface="Arial"/>
              <a:buChar char="•"/>
            </a:pPr>
            <a:r>
              <a:rPr lang="en-US" b="true" sz="1899">
                <a:solidFill>
                  <a:srgbClr val="FEE600"/>
                </a:solidFill>
                <a:latin typeface="Playpen Sans Bold"/>
                <a:ea typeface="Playpen Sans Bold"/>
                <a:cs typeface="Playpen Sans Bold"/>
                <a:sym typeface="Playpen Sans Bold"/>
              </a:rPr>
              <a:t>assert </a:t>
            </a:r>
            <a:r>
              <a:rPr lang="en-US" sz="1899">
                <a:solidFill>
                  <a:srgbClr val="FFFFFF"/>
                </a:solidFill>
                <a:latin typeface="Playpen Sans"/>
                <a:ea typeface="Playpen Sans"/>
                <a:cs typeface="Playpen Sans"/>
                <a:sym typeface="Playpen Sans"/>
              </a:rPr>
              <a:t>→ pengecekan kondisi</a:t>
            </a:r>
          </a:p>
          <a:p>
            <a:pPr algn="l" marL="410209" indent="-205105" lvl="1">
              <a:lnSpc>
                <a:spcPts val="2659"/>
              </a:lnSpc>
              <a:buFont typeface="Arial"/>
              <a:buChar char="•"/>
            </a:pPr>
            <a:r>
              <a:rPr lang="en-US" b="true" sz="1899">
                <a:solidFill>
                  <a:srgbClr val="FEE600"/>
                </a:solidFill>
                <a:latin typeface="Playpen Sans Bold"/>
                <a:ea typeface="Playpen Sans Bold"/>
                <a:cs typeface="Playpen Sans Bold"/>
                <a:sym typeface="Playpen Sans Bold"/>
              </a:rPr>
              <a:t>with</a:t>
            </a:r>
            <a:r>
              <a:rPr lang="en-US" sz="1899">
                <a:solidFill>
                  <a:srgbClr val="FFFFFF"/>
                </a:solidFill>
                <a:latin typeface="Playpen Sans"/>
                <a:ea typeface="Playpen Sans"/>
                <a:cs typeface="Playpen Sans"/>
                <a:sym typeface="Playpen Sans"/>
              </a:rPr>
              <a:t> → pengelolaan resource (misalnya file)</a:t>
            </a:r>
          </a:p>
          <a:p>
            <a:pPr algn="l" marL="410209" indent="-205105" lvl="1">
              <a:lnSpc>
                <a:spcPts val="2659"/>
              </a:lnSpc>
              <a:buFont typeface="Arial"/>
              <a:buChar char="•"/>
            </a:pPr>
            <a:r>
              <a:rPr lang="en-US" b="true" sz="1899">
                <a:solidFill>
                  <a:srgbClr val="FEE600"/>
                </a:solidFill>
                <a:latin typeface="Playpen Sans Bold"/>
                <a:ea typeface="Playpen Sans Bold"/>
                <a:cs typeface="Playpen Sans Bold"/>
                <a:sym typeface="Playpen Sans Bold"/>
              </a:rPr>
              <a:t>yield </a:t>
            </a:r>
            <a:r>
              <a:rPr lang="en-US" sz="1899">
                <a:solidFill>
                  <a:srgbClr val="FFFFFF"/>
                </a:solidFill>
                <a:latin typeface="Playpen Sans"/>
                <a:ea typeface="Playpen Sans"/>
                <a:cs typeface="Playpen Sans"/>
                <a:sym typeface="Playpen Sans"/>
              </a:rPr>
              <a:t>→ mengembalikan nilai bertahap (generator)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5055989" y="776670"/>
            <a:ext cx="8176022" cy="4483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36"/>
              </a:lnSpc>
              <a:spcBef>
                <a:spcPct val="0"/>
              </a:spcBef>
            </a:pPr>
            <a:r>
              <a:rPr lang="en-US" b="true" sz="2597" u="sng">
                <a:solidFill>
                  <a:srgbClr val="000000"/>
                </a:solidFill>
                <a:latin typeface="Playpen Sans Bold"/>
                <a:ea typeface="Playpen Sans Bold"/>
                <a:cs typeface="Playpen Sans Bold"/>
                <a:sym typeface="Playpen Sans Bold"/>
              </a:rPr>
              <a:t>Jumlah kata kunci dalam Python ada 33, yaitu: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FFB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710358">
            <a:off x="3367916" y="591730"/>
            <a:ext cx="2887164" cy="4895154"/>
          </a:xfrm>
          <a:custGeom>
            <a:avLst/>
            <a:gdLst/>
            <a:ahLst/>
            <a:cxnLst/>
            <a:rect r="r" b="b" t="t" l="l"/>
            <a:pathLst>
              <a:path h="4895154" w="2887164">
                <a:moveTo>
                  <a:pt x="0" y="0"/>
                </a:moveTo>
                <a:lnTo>
                  <a:pt x="2887164" y="0"/>
                </a:lnTo>
                <a:lnTo>
                  <a:pt x="2887164" y="4895154"/>
                </a:lnTo>
                <a:lnTo>
                  <a:pt x="0" y="489515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1110206">
            <a:off x="16147390" y="6785338"/>
            <a:ext cx="2887164" cy="4895154"/>
          </a:xfrm>
          <a:custGeom>
            <a:avLst/>
            <a:gdLst/>
            <a:ahLst/>
            <a:cxnLst/>
            <a:rect r="r" b="b" t="t" l="l"/>
            <a:pathLst>
              <a:path h="4895154" w="2887164">
                <a:moveTo>
                  <a:pt x="0" y="0"/>
                </a:moveTo>
                <a:lnTo>
                  <a:pt x="2887164" y="0"/>
                </a:lnTo>
                <a:lnTo>
                  <a:pt x="2887164" y="4895154"/>
                </a:lnTo>
                <a:lnTo>
                  <a:pt x="0" y="489515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028700" y="3806372"/>
            <a:ext cx="16230600" cy="5426543"/>
            <a:chOff x="0" y="0"/>
            <a:chExt cx="5008672" cy="167460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008673" cy="1674601"/>
            </a:xfrm>
            <a:custGeom>
              <a:avLst/>
              <a:gdLst/>
              <a:ahLst/>
              <a:cxnLst/>
              <a:rect r="r" b="b" t="t" l="l"/>
              <a:pathLst>
                <a:path h="1674601" w="5008673">
                  <a:moveTo>
                    <a:pt x="47700" y="0"/>
                  </a:moveTo>
                  <a:lnTo>
                    <a:pt x="4960973" y="0"/>
                  </a:lnTo>
                  <a:cubicBezTo>
                    <a:pt x="4973624" y="0"/>
                    <a:pt x="4985756" y="5025"/>
                    <a:pt x="4994702" y="13971"/>
                  </a:cubicBezTo>
                  <a:cubicBezTo>
                    <a:pt x="5003647" y="22916"/>
                    <a:pt x="5008673" y="35049"/>
                    <a:pt x="5008673" y="47700"/>
                  </a:cubicBezTo>
                  <a:lnTo>
                    <a:pt x="5008673" y="1626901"/>
                  </a:lnTo>
                  <a:cubicBezTo>
                    <a:pt x="5008673" y="1639552"/>
                    <a:pt x="5003647" y="1651685"/>
                    <a:pt x="4994702" y="1660630"/>
                  </a:cubicBezTo>
                  <a:cubicBezTo>
                    <a:pt x="4985756" y="1669575"/>
                    <a:pt x="4973624" y="1674601"/>
                    <a:pt x="4960973" y="1674601"/>
                  </a:cubicBezTo>
                  <a:lnTo>
                    <a:pt x="47700" y="1674601"/>
                  </a:lnTo>
                  <a:cubicBezTo>
                    <a:pt x="35049" y="1674601"/>
                    <a:pt x="22916" y="1669575"/>
                    <a:pt x="13971" y="1660630"/>
                  </a:cubicBezTo>
                  <a:cubicBezTo>
                    <a:pt x="5025" y="1651685"/>
                    <a:pt x="0" y="1639552"/>
                    <a:pt x="0" y="1626901"/>
                  </a:cubicBezTo>
                  <a:lnTo>
                    <a:pt x="0" y="47700"/>
                  </a:lnTo>
                  <a:cubicBezTo>
                    <a:pt x="0" y="35049"/>
                    <a:pt x="5025" y="22916"/>
                    <a:pt x="13971" y="13971"/>
                  </a:cubicBezTo>
                  <a:cubicBezTo>
                    <a:pt x="22916" y="5025"/>
                    <a:pt x="35049" y="0"/>
                    <a:pt x="47700" y="0"/>
                  </a:cubicBezTo>
                  <a:close/>
                </a:path>
              </a:pathLst>
            </a:custGeom>
            <a:solidFill>
              <a:srgbClr val="00A551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28575"/>
              <a:ext cx="5008672" cy="170317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226914">
            <a:off x="7351688" y="1128222"/>
            <a:ext cx="8386308" cy="3415515"/>
          </a:xfrm>
          <a:custGeom>
            <a:avLst/>
            <a:gdLst/>
            <a:ahLst/>
            <a:cxnLst/>
            <a:rect r="r" b="b" t="t" l="l"/>
            <a:pathLst>
              <a:path h="3415515" w="8386308">
                <a:moveTo>
                  <a:pt x="0" y="0"/>
                </a:moveTo>
                <a:lnTo>
                  <a:pt x="8386309" y="0"/>
                </a:lnTo>
                <a:lnTo>
                  <a:pt x="8386309" y="3415515"/>
                </a:lnTo>
                <a:lnTo>
                  <a:pt x="0" y="341551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226914">
            <a:off x="8347069" y="2094228"/>
            <a:ext cx="6271820" cy="18737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185"/>
              </a:lnSpc>
            </a:pPr>
            <a:r>
              <a:rPr lang="en-US" sz="7258">
                <a:solidFill>
                  <a:srgbClr val="FFFFFF"/>
                </a:solidFill>
                <a:latin typeface="210 빛글"/>
                <a:ea typeface="210 빛글"/>
                <a:cs typeface="210 빛글"/>
                <a:sym typeface="210 빛글"/>
              </a:rPr>
              <a:t>IDENTIFIER (PENGENAL)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601635" y="4768969"/>
            <a:ext cx="15657665" cy="37893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65"/>
              </a:lnSpc>
            </a:pPr>
            <a:r>
              <a:rPr lang="en-US" sz="2689" b="true">
                <a:solidFill>
                  <a:srgbClr val="FFFFFF"/>
                </a:solidFill>
                <a:latin typeface="Playpen Sans Bold"/>
                <a:ea typeface="Playpen Sans Bold"/>
                <a:cs typeface="Playpen Sans Bold"/>
                <a:sym typeface="Playpen Sans Bold"/>
              </a:rPr>
              <a:t>Identifier </a:t>
            </a:r>
            <a:r>
              <a:rPr lang="en-US" sz="2689">
                <a:solidFill>
                  <a:srgbClr val="FFFFFF"/>
                </a:solidFill>
                <a:latin typeface="Playpen Sans"/>
                <a:ea typeface="Playpen Sans"/>
                <a:cs typeface="Playpen Sans"/>
                <a:sym typeface="Playpen Sans"/>
              </a:rPr>
              <a:t>adalah nama yang digunakan untuk memberi </a:t>
            </a:r>
            <a:r>
              <a:rPr lang="en-US" sz="2689">
                <a:solidFill>
                  <a:srgbClr val="FFFFFF"/>
                </a:solidFill>
                <a:latin typeface="Playpen Sans"/>
                <a:ea typeface="Playpen Sans"/>
                <a:cs typeface="Playpen Sans"/>
                <a:sym typeface="Playpen Sans"/>
              </a:rPr>
              <a:t>i</a:t>
            </a:r>
            <a:r>
              <a:rPr lang="en-US" sz="2689">
                <a:solidFill>
                  <a:srgbClr val="FFFFFF"/>
                </a:solidFill>
                <a:latin typeface="Playpen Sans"/>
                <a:ea typeface="Playpen Sans"/>
                <a:cs typeface="Playpen Sans"/>
                <a:sym typeface="Playpen Sans"/>
              </a:rPr>
              <a:t>dentitas pada sesuatu di dalam program, seperti:</a:t>
            </a:r>
          </a:p>
          <a:p>
            <a:pPr algn="l" marL="580726" indent="-290363" lvl="1">
              <a:lnSpc>
                <a:spcPts val="3765"/>
              </a:lnSpc>
              <a:buFont typeface="Arial"/>
              <a:buChar char="•"/>
            </a:pPr>
            <a:r>
              <a:rPr lang="en-US" sz="2689">
                <a:solidFill>
                  <a:srgbClr val="FFFFFF"/>
                </a:solidFill>
                <a:latin typeface="Playpen Sans"/>
                <a:ea typeface="Playpen Sans"/>
                <a:cs typeface="Playpen Sans"/>
                <a:sym typeface="Playpen Sans"/>
              </a:rPr>
              <a:t>variabel</a:t>
            </a:r>
          </a:p>
          <a:p>
            <a:pPr algn="l" marL="580726" indent="-290363" lvl="1">
              <a:lnSpc>
                <a:spcPts val="3765"/>
              </a:lnSpc>
              <a:buFont typeface="Arial"/>
              <a:buChar char="•"/>
            </a:pPr>
            <a:r>
              <a:rPr lang="en-US" sz="2689">
                <a:solidFill>
                  <a:srgbClr val="FFFFFF"/>
                </a:solidFill>
                <a:latin typeface="Playpen Sans"/>
                <a:ea typeface="Playpen Sans"/>
                <a:cs typeface="Playpen Sans"/>
                <a:sym typeface="Playpen Sans"/>
              </a:rPr>
              <a:t>fungsi</a:t>
            </a:r>
          </a:p>
          <a:p>
            <a:pPr algn="l" marL="580726" indent="-290363" lvl="1">
              <a:lnSpc>
                <a:spcPts val="3765"/>
              </a:lnSpc>
              <a:buFont typeface="Arial"/>
              <a:buChar char="•"/>
            </a:pPr>
            <a:r>
              <a:rPr lang="en-US" sz="2689">
                <a:solidFill>
                  <a:srgbClr val="FFFFFF"/>
                </a:solidFill>
                <a:latin typeface="Playpen Sans"/>
                <a:ea typeface="Playpen Sans"/>
                <a:cs typeface="Playpen Sans"/>
                <a:sym typeface="Playpen Sans"/>
              </a:rPr>
              <a:t>class</a:t>
            </a:r>
          </a:p>
          <a:p>
            <a:pPr algn="l">
              <a:lnSpc>
                <a:spcPts val="3765"/>
              </a:lnSpc>
            </a:pPr>
          </a:p>
          <a:p>
            <a:pPr algn="ctr">
              <a:lnSpc>
                <a:spcPts val="3765"/>
              </a:lnSpc>
            </a:pPr>
            <a:r>
              <a:rPr lang="en-US" sz="2689" b="true">
                <a:solidFill>
                  <a:srgbClr val="FFFFFF"/>
                </a:solidFill>
                <a:latin typeface="Playpen Sans Bold"/>
                <a:ea typeface="Playpen Sans Bold"/>
                <a:cs typeface="Playpen Sans Bold"/>
                <a:sym typeface="Playpen Sans Bold"/>
              </a:rPr>
              <a:t>Tujuannya</a:t>
            </a:r>
            <a:r>
              <a:rPr lang="en-US" sz="2689">
                <a:solidFill>
                  <a:srgbClr val="FFFFFF"/>
                </a:solidFill>
                <a:latin typeface="Playpen Sans"/>
                <a:ea typeface="Playpen Sans"/>
                <a:cs typeface="Playpen Sans"/>
                <a:sym typeface="Playpen Sans"/>
              </a:rPr>
              <a:t> adalah agar kita bisa me</a:t>
            </a:r>
            <a:r>
              <a:rPr lang="en-US" sz="2689">
                <a:solidFill>
                  <a:srgbClr val="FFFFFF"/>
                </a:solidFill>
                <a:latin typeface="Playpen Sans"/>
                <a:ea typeface="Playpen Sans"/>
                <a:cs typeface="Playpen Sans"/>
                <a:sym typeface="Playpen Sans"/>
              </a:rPr>
              <a:t>mbedakan satu data</a:t>
            </a:r>
          </a:p>
          <a:p>
            <a:pPr algn="ctr">
              <a:lnSpc>
                <a:spcPts val="3765"/>
              </a:lnSpc>
            </a:pPr>
            <a:r>
              <a:rPr lang="en-US" sz="2689">
                <a:solidFill>
                  <a:srgbClr val="FFFFFF"/>
                </a:solidFill>
                <a:latin typeface="Playpen Sans"/>
                <a:ea typeface="Playpen Sans"/>
                <a:cs typeface="Playpen Sans"/>
                <a:sym typeface="Playpen Sans"/>
              </a:rPr>
              <a:t>dengan data lainnya dalam program.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-585527" y="-589801"/>
            <a:ext cx="2473954" cy="4194560"/>
          </a:xfrm>
          <a:custGeom>
            <a:avLst/>
            <a:gdLst/>
            <a:ahLst/>
            <a:cxnLst/>
            <a:rect r="r" b="b" t="t" l="l"/>
            <a:pathLst>
              <a:path h="4194560" w="2473954">
                <a:moveTo>
                  <a:pt x="0" y="0"/>
                </a:moveTo>
                <a:lnTo>
                  <a:pt x="2473953" y="0"/>
                </a:lnTo>
                <a:lnTo>
                  <a:pt x="2473953" y="4194560"/>
                </a:lnTo>
                <a:lnTo>
                  <a:pt x="0" y="419456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6326062" y="2169471"/>
            <a:ext cx="1026059" cy="1739672"/>
          </a:xfrm>
          <a:custGeom>
            <a:avLst/>
            <a:gdLst/>
            <a:ahLst/>
            <a:cxnLst/>
            <a:rect r="r" b="b" t="t" l="l"/>
            <a:pathLst>
              <a:path h="1739672" w="1026059">
                <a:moveTo>
                  <a:pt x="0" y="0"/>
                </a:moveTo>
                <a:lnTo>
                  <a:pt x="1026059" y="0"/>
                </a:lnTo>
                <a:lnTo>
                  <a:pt x="1026059" y="1739672"/>
                </a:lnTo>
                <a:lnTo>
                  <a:pt x="0" y="17396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601635" y="9627341"/>
            <a:ext cx="2764746" cy="1319318"/>
          </a:xfrm>
          <a:custGeom>
            <a:avLst/>
            <a:gdLst/>
            <a:ahLst/>
            <a:cxnLst/>
            <a:rect r="r" b="b" t="t" l="l"/>
            <a:pathLst>
              <a:path h="1319318" w="2764746">
                <a:moveTo>
                  <a:pt x="0" y="0"/>
                </a:moveTo>
                <a:lnTo>
                  <a:pt x="2764746" y="0"/>
                </a:lnTo>
                <a:lnTo>
                  <a:pt x="2764746" y="1319318"/>
                </a:lnTo>
                <a:lnTo>
                  <a:pt x="0" y="131931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1273954" y="9627341"/>
            <a:ext cx="2764746" cy="1319318"/>
          </a:xfrm>
          <a:custGeom>
            <a:avLst/>
            <a:gdLst/>
            <a:ahLst/>
            <a:cxnLst/>
            <a:rect r="r" b="b" t="t" l="l"/>
            <a:pathLst>
              <a:path h="1319318" w="2764746">
                <a:moveTo>
                  <a:pt x="0" y="0"/>
                </a:moveTo>
                <a:lnTo>
                  <a:pt x="2764746" y="0"/>
                </a:lnTo>
                <a:lnTo>
                  <a:pt x="2764746" y="1319318"/>
                </a:lnTo>
                <a:lnTo>
                  <a:pt x="0" y="131931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FFB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710358">
            <a:off x="3367916" y="591730"/>
            <a:ext cx="2887164" cy="4895154"/>
          </a:xfrm>
          <a:custGeom>
            <a:avLst/>
            <a:gdLst/>
            <a:ahLst/>
            <a:cxnLst/>
            <a:rect r="r" b="b" t="t" l="l"/>
            <a:pathLst>
              <a:path h="4895154" w="2887164">
                <a:moveTo>
                  <a:pt x="0" y="0"/>
                </a:moveTo>
                <a:lnTo>
                  <a:pt x="2887164" y="0"/>
                </a:lnTo>
                <a:lnTo>
                  <a:pt x="2887164" y="4895154"/>
                </a:lnTo>
                <a:lnTo>
                  <a:pt x="0" y="489515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1110206">
            <a:off x="16147390" y="6618470"/>
            <a:ext cx="2887164" cy="4895154"/>
          </a:xfrm>
          <a:custGeom>
            <a:avLst/>
            <a:gdLst/>
            <a:ahLst/>
            <a:cxnLst/>
            <a:rect r="r" b="b" t="t" l="l"/>
            <a:pathLst>
              <a:path h="4895154" w="2887164">
                <a:moveTo>
                  <a:pt x="0" y="0"/>
                </a:moveTo>
                <a:lnTo>
                  <a:pt x="2887164" y="0"/>
                </a:lnTo>
                <a:lnTo>
                  <a:pt x="2887164" y="4895154"/>
                </a:lnTo>
                <a:lnTo>
                  <a:pt x="0" y="489515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585527" y="-589801"/>
            <a:ext cx="2473954" cy="4194560"/>
          </a:xfrm>
          <a:custGeom>
            <a:avLst/>
            <a:gdLst/>
            <a:ahLst/>
            <a:cxnLst/>
            <a:rect r="r" b="b" t="t" l="l"/>
            <a:pathLst>
              <a:path h="4194560" w="2473954">
                <a:moveTo>
                  <a:pt x="0" y="0"/>
                </a:moveTo>
                <a:lnTo>
                  <a:pt x="2473953" y="0"/>
                </a:lnTo>
                <a:lnTo>
                  <a:pt x="2473953" y="4194560"/>
                </a:lnTo>
                <a:lnTo>
                  <a:pt x="0" y="419456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6326062" y="2169471"/>
            <a:ext cx="1026059" cy="1739672"/>
          </a:xfrm>
          <a:custGeom>
            <a:avLst/>
            <a:gdLst/>
            <a:ahLst/>
            <a:cxnLst/>
            <a:rect r="r" b="b" t="t" l="l"/>
            <a:pathLst>
              <a:path h="1739672" w="1026059">
                <a:moveTo>
                  <a:pt x="0" y="0"/>
                </a:moveTo>
                <a:lnTo>
                  <a:pt x="1026059" y="0"/>
                </a:lnTo>
                <a:lnTo>
                  <a:pt x="1026059" y="1739672"/>
                </a:lnTo>
                <a:lnTo>
                  <a:pt x="0" y="17396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601635" y="9627341"/>
            <a:ext cx="2764746" cy="1319318"/>
          </a:xfrm>
          <a:custGeom>
            <a:avLst/>
            <a:gdLst/>
            <a:ahLst/>
            <a:cxnLst/>
            <a:rect r="r" b="b" t="t" l="l"/>
            <a:pathLst>
              <a:path h="1319318" w="2764746">
                <a:moveTo>
                  <a:pt x="0" y="0"/>
                </a:moveTo>
                <a:lnTo>
                  <a:pt x="2764746" y="0"/>
                </a:lnTo>
                <a:lnTo>
                  <a:pt x="2764746" y="1319318"/>
                </a:lnTo>
                <a:lnTo>
                  <a:pt x="0" y="131931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1273954" y="9627341"/>
            <a:ext cx="2764746" cy="1319318"/>
          </a:xfrm>
          <a:custGeom>
            <a:avLst/>
            <a:gdLst/>
            <a:ahLst/>
            <a:cxnLst/>
            <a:rect r="r" b="b" t="t" l="l"/>
            <a:pathLst>
              <a:path h="1319318" w="2764746">
                <a:moveTo>
                  <a:pt x="0" y="0"/>
                </a:moveTo>
                <a:lnTo>
                  <a:pt x="2764746" y="0"/>
                </a:lnTo>
                <a:lnTo>
                  <a:pt x="2764746" y="1319318"/>
                </a:lnTo>
                <a:lnTo>
                  <a:pt x="0" y="131931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823786" y="1964333"/>
            <a:ext cx="4833468" cy="3555884"/>
            <a:chOff x="0" y="0"/>
            <a:chExt cx="1491581" cy="109732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491581" cy="1097326"/>
            </a:xfrm>
            <a:custGeom>
              <a:avLst/>
              <a:gdLst/>
              <a:ahLst/>
              <a:cxnLst/>
              <a:rect r="r" b="b" t="t" l="l"/>
              <a:pathLst>
                <a:path h="1097326" w="1491581">
                  <a:moveTo>
                    <a:pt x="160173" y="0"/>
                  </a:moveTo>
                  <a:lnTo>
                    <a:pt x="1331408" y="0"/>
                  </a:lnTo>
                  <a:cubicBezTo>
                    <a:pt x="1419869" y="0"/>
                    <a:pt x="1491581" y="71712"/>
                    <a:pt x="1491581" y="160173"/>
                  </a:cubicBezTo>
                  <a:lnTo>
                    <a:pt x="1491581" y="937153"/>
                  </a:lnTo>
                  <a:cubicBezTo>
                    <a:pt x="1491581" y="1025614"/>
                    <a:pt x="1419869" y="1097326"/>
                    <a:pt x="1331408" y="1097326"/>
                  </a:cubicBezTo>
                  <a:lnTo>
                    <a:pt x="160173" y="1097326"/>
                  </a:lnTo>
                  <a:cubicBezTo>
                    <a:pt x="71712" y="1097326"/>
                    <a:pt x="0" y="1025614"/>
                    <a:pt x="0" y="937153"/>
                  </a:cubicBezTo>
                  <a:lnTo>
                    <a:pt x="0" y="160173"/>
                  </a:lnTo>
                  <a:cubicBezTo>
                    <a:pt x="0" y="71712"/>
                    <a:pt x="71712" y="0"/>
                    <a:pt x="160173" y="0"/>
                  </a:cubicBezTo>
                  <a:close/>
                </a:path>
              </a:pathLst>
            </a:custGeom>
            <a:solidFill>
              <a:srgbClr val="00A551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28575"/>
              <a:ext cx="1491581" cy="11259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1243563" y="2859625"/>
            <a:ext cx="3993913" cy="172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b="true">
                <a:solidFill>
                  <a:srgbClr val="FFFFFF"/>
                </a:solidFill>
                <a:latin typeface="Playpen Sans Bold"/>
                <a:ea typeface="Playpen Sans Bold"/>
                <a:cs typeface="Playpen Sans Bold"/>
                <a:sym typeface="Playpen Sans Bold"/>
              </a:rPr>
              <a:t>1. B</a:t>
            </a:r>
            <a:r>
              <a:rPr lang="en-US" b="true" sz="2499">
                <a:solidFill>
                  <a:srgbClr val="FFFFFF"/>
                </a:solidFill>
                <a:latin typeface="Playpen Sans Bold"/>
                <a:ea typeface="Playpen Sans Bold"/>
                <a:cs typeface="Playpen Sans Bold"/>
                <a:sym typeface="Playpen Sans Bold"/>
              </a:rPr>
              <a:t>oleh</a:t>
            </a:r>
            <a:r>
              <a:rPr lang="en-US" b="true" sz="2499">
                <a:solidFill>
                  <a:srgbClr val="FFFFFF"/>
                </a:solidFill>
                <a:latin typeface="Playpen Sans Bold"/>
                <a:ea typeface="Playpen Sans Bold"/>
                <a:cs typeface="Playpen Sans Bold"/>
                <a:sym typeface="Playpen Sans Bold"/>
              </a:rPr>
              <a:t> menggunakan:</a:t>
            </a:r>
          </a:p>
          <a:p>
            <a:pPr algn="l" marL="539746" indent="-269873" lvl="1">
              <a:lnSpc>
                <a:spcPts val="3499"/>
              </a:lnSpc>
              <a:buFont typeface="Arial"/>
              <a:buChar char="•"/>
            </a:pPr>
            <a:r>
              <a:rPr lang="en-US" b="true" sz="2499">
                <a:solidFill>
                  <a:srgbClr val="FEE600"/>
                </a:solidFill>
                <a:latin typeface="Playpen Sans Bold"/>
                <a:ea typeface="Playpen Sans Bold"/>
                <a:cs typeface="Playpen Sans Bold"/>
                <a:sym typeface="Playpen Sans Bold"/>
              </a:rPr>
              <a:t>Huruf (A–Z, a–z)</a:t>
            </a:r>
          </a:p>
          <a:p>
            <a:pPr algn="l" marL="539746" indent="-269873" lvl="1">
              <a:lnSpc>
                <a:spcPts val="3499"/>
              </a:lnSpc>
              <a:buFont typeface="Arial"/>
              <a:buChar char="•"/>
            </a:pPr>
            <a:r>
              <a:rPr lang="en-US" b="true" sz="2499">
                <a:solidFill>
                  <a:srgbClr val="FEE600"/>
                </a:solidFill>
                <a:latin typeface="Playpen Sans Bold"/>
                <a:ea typeface="Playpen Sans Bold"/>
                <a:cs typeface="Playpen Sans Bold"/>
                <a:sym typeface="Playpen Sans Bold"/>
              </a:rPr>
              <a:t>Angka (0–9)</a:t>
            </a:r>
          </a:p>
          <a:p>
            <a:pPr algn="l" marL="539746" indent="-269873" lvl="1">
              <a:lnSpc>
                <a:spcPts val="3499"/>
              </a:lnSpc>
              <a:buFont typeface="Arial"/>
              <a:buChar char="•"/>
            </a:pPr>
            <a:r>
              <a:rPr lang="en-US" b="true" sz="2499">
                <a:solidFill>
                  <a:srgbClr val="FEE600"/>
                </a:solidFill>
                <a:latin typeface="Playpen Sans Bold"/>
                <a:ea typeface="Playpen Sans Bold"/>
                <a:cs typeface="Playpen Sans Bold"/>
                <a:sym typeface="Playpen Sans Bold"/>
              </a:rPr>
              <a:t>Underscore (_)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850082" y="776670"/>
            <a:ext cx="4587835" cy="4483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36"/>
              </a:lnSpc>
              <a:spcBef>
                <a:spcPct val="0"/>
              </a:spcBef>
            </a:pPr>
            <a:r>
              <a:rPr lang="en-US" b="true" sz="2597" u="sng">
                <a:solidFill>
                  <a:srgbClr val="000000"/>
                </a:solidFill>
                <a:latin typeface="Playpen Sans Bold"/>
                <a:ea typeface="Playpen Sans Bold"/>
                <a:cs typeface="Playpen Sans Bold"/>
                <a:sym typeface="Playpen Sans Bold"/>
              </a:rPr>
              <a:t>A</a:t>
            </a:r>
            <a:r>
              <a:rPr lang="en-US" b="true" sz="2597" u="sng">
                <a:solidFill>
                  <a:srgbClr val="000000"/>
                </a:solidFill>
                <a:latin typeface="Playpen Sans Bold"/>
                <a:ea typeface="Playpen Sans Bold"/>
                <a:cs typeface="Playpen Sans Bold"/>
                <a:sym typeface="Playpen Sans Bold"/>
              </a:rPr>
              <a:t>turan Penulisan Identifier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5978032" y="1964333"/>
            <a:ext cx="6331936" cy="3555884"/>
            <a:chOff x="0" y="0"/>
            <a:chExt cx="8442581" cy="4741179"/>
          </a:xfrm>
        </p:grpSpPr>
        <p:grpSp>
          <p:nvGrpSpPr>
            <p:cNvPr name="Group 14" id="14"/>
            <p:cNvGrpSpPr/>
            <p:nvPr/>
          </p:nvGrpSpPr>
          <p:grpSpPr>
            <a:xfrm rot="0">
              <a:off x="0" y="0"/>
              <a:ext cx="8442581" cy="4741179"/>
              <a:chOff x="0" y="0"/>
              <a:chExt cx="1954000" cy="1097326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1954000" cy="1097326"/>
              </a:xfrm>
              <a:custGeom>
                <a:avLst/>
                <a:gdLst/>
                <a:ahLst/>
                <a:cxnLst/>
                <a:rect r="r" b="b" t="t" l="l"/>
                <a:pathLst>
                  <a:path h="1097326" w="1954000">
                    <a:moveTo>
                      <a:pt x="122268" y="0"/>
                    </a:moveTo>
                    <a:lnTo>
                      <a:pt x="1831732" y="0"/>
                    </a:lnTo>
                    <a:cubicBezTo>
                      <a:pt x="1899259" y="0"/>
                      <a:pt x="1954000" y="54741"/>
                      <a:pt x="1954000" y="122268"/>
                    </a:cubicBezTo>
                    <a:lnTo>
                      <a:pt x="1954000" y="975058"/>
                    </a:lnTo>
                    <a:cubicBezTo>
                      <a:pt x="1954000" y="1042585"/>
                      <a:pt x="1899259" y="1097326"/>
                      <a:pt x="1831732" y="1097326"/>
                    </a:cubicBezTo>
                    <a:lnTo>
                      <a:pt x="122268" y="1097326"/>
                    </a:lnTo>
                    <a:cubicBezTo>
                      <a:pt x="54741" y="1097326"/>
                      <a:pt x="0" y="1042585"/>
                      <a:pt x="0" y="975058"/>
                    </a:cubicBezTo>
                    <a:lnTo>
                      <a:pt x="0" y="122268"/>
                    </a:lnTo>
                    <a:cubicBezTo>
                      <a:pt x="0" y="54741"/>
                      <a:pt x="54741" y="0"/>
                      <a:pt x="122268" y="0"/>
                    </a:cubicBezTo>
                    <a:close/>
                  </a:path>
                </a:pathLst>
              </a:custGeom>
              <a:solidFill>
                <a:srgbClr val="00A551"/>
              </a:solidFill>
            </p:spPr>
          </p:sp>
          <p:sp>
            <p:nvSpPr>
              <p:cNvPr name="TextBox 16" id="16"/>
              <p:cNvSpPr txBox="true"/>
              <p:nvPr/>
            </p:nvSpPr>
            <p:spPr>
              <a:xfrm>
                <a:off x="0" y="-28575"/>
                <a:ext cx="1954000" cy="112590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17" id="17"/>
            <p:cNvSpPr txBox="true"/>
            <p:nvPr/>
          </p:nvSpPr>
          <p:spPr>
            <a:xfrm rot="0">
              <a:off x="855409" y="622222"/>
              <a:ext cx="7587172" cy="345863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499"/>
                </a:lnSpc>
              </a:pPr>
              <a:r>
                <a:rPr lang="en-US" sz="2499" b="true">
                  <a:solidFill>
                    <a:srgbClr val="FFFFFF"/>
                  </a:solidFill>
                  <a:latin typeface="Playpen Sans Bold"/>
                  <a:ea typeface="Playpen Sans Bold"/>
                  <a:cs typeface="Playpen Sans Bold"/>
                  <a:sym typeface="Playpen Sans Bold"/>
                </a:rPr>
                <a:t>2. Tidak b</a:t>
              </a:r>
              <a:r>
                <a:rPr lang="en-US" b="true" sz="2499">
                  <a:solidFill>
                    <a:srgbClr val="FFFFFF"/>
                  </a:solidFill>
                  <a:latin typeface="Playpen Sans Bold"/>
                  <a:ea typeface="Playpen Sans Bold"/>
                  <a:cs typeface="Playpen Sans Bold"/>
                  <a:sym typeface="Playpen Sans Bold"/>
                </a:rPr>
                <a:t>oleh</a:t>
              </a:r>
              <a:r>
                <a:rPr lang="en-US" b="true" sz="2499">
                  <a:solidFill>
                    <a:srgbClr val="FFFFFF"/>
                  </a:solidFill>
                  <a:latin typeface="Playpen Sans Bold"/>
                  <a:ea typeface="Playpen Sans Bold"/>
                  <a:cs typeface="Playpen Sans Bold"/>
                  <a:sym typeface="Playpen Sans Bold"/>
                </a:rPr>
                <a:t> diawali</a:t>
              </a:r>
              <a:r>
                <a:rPr lang="en-US" b="true" sz="2499">
                  <a:solidFill>
                    <a:srgbClr val="FFFFFF"/>
                  </a:solidFill>
                  <a:latin typeface="Playpen Sans Bold"/>
                  <a:ea typeface="Playpen Sans Bold"/>
                  <a:cs typeface="Playpen Sans Bold"/>
                  <a:sym typeface="Playpen Sans Bold"/>
                </a:rPr>
                <a:t> angka</a:t>
              </a:r>
            </a:p>
            <a:p>
              <a:pPr algn="l">
                <a:lnSpc>
                  <a:spcPts val="3499"/>
                </a:lnSpc>
              </a:pPr>
              <a:r>
                <a:rPr lang="en-US" b="true" sz="2499">
                  <a:solidFill>
                    <a:srgbClr val="FFFFFF"/>
                  </a:solidFill>
                  <a:latin typeface="Playpen Sans Bold"/>
                  <a:ea typeface="Playpen Sans Bold"/>
                  <a:cs typeface="Playpen Sans Bold"/>
                  <a:sym typeface="Playpen Sans Bold"/>
                </a:rPr>
                <a:t>Salah</a:t>
              </a:r>
            </a:p>
            <a:p>
              <a:pPr algn="l" marL="539746" indent="-269873" lvl="1">
                <a:lnSpc>
                  <a:spcPts val="3499"/>
                </a:lnSpc>
                <a:buFont typeface="Arial"/>
                <a:buChar char="•"/>
              </a:pPr>
              <a:r>
                <a:rPr lang="en-US" b="true" sz="2499">
                  <a:solidFill>
                    <a:srgbClr val="FEE600"/>
                  </a:solidFill>
                  <a:latin typeface="Playpen Sans Bold"/>
                  <a:ea typeface="Playpen Sans Bold"/>
                  <a:cs typeface="Playpen Sans Bold"/>
                  <a:sym typeface="Playpen Sans Bold"/>
                </a:rPr>
                <a:t> 1nama</a:t>
              </a:r>
            </a:p>
            <a:p>
              <a:pPr algn="l">
                <a:lnSpc>
                  <a:spcPts val="3499"/>
                </a:lnSpc>
              </a:pPr>
            </a:p>
            <a:p>
              <a:pPr algn="l">
                <a:lnSpc>
                  <a:spcPts val="3499"/>
                </a:lnSpc>
              </a:pPr>
              <a:r>
                <a:rPr lang="en-US" b="true" sz="2499">
                  <a:solidFill>
                    <a:srgbClr val="FFFFFF"/>
                  </a:solidFill>
                  <a:latin typeface="Playpen Sans Bold"/>
                  <a:ea typeface="Playpen Sans Bold"/>
                  <a:cs typeface="Playpen Sans Bold"/>
                  <a:sym typeface="Playpen Sans Bold"/>
                </a:rPr>
                <a:t>Benar</a:t>
              </a:r>
            </a:p>
            <a:p>
              <a:pPr algn="l" marL="539746" indent="-269873" lvl="1">
                <a:lnSpc>
                  <a:spcPts val="3499"/>
                </a:lnSpc>
                <a:buFont typeface="Arial"/>
                <a:buChar char="•"/>
              </a:pPr>
              <a:r>
                <a:rPr lang="en-US" b="true" sz="2499">
                  <a:solidFill>
                    <a:srgbClr val="FEE600"/>
                  </a:solidFill>
                  <a:latin typeface="Playpen Sans Bold"/>
                  <a:ea typeface="Playpen Sans Bold"/>
                  <a:cs typeface="Playpen Sans Bold"/>
                  <a:sym typeface="Playpen Sans Bold"/>
                </a:rPr>
                <a:t>nama1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2633818" y="2002603"/>
            <a:ext cx="4833468" cy="3555884"/>
            <a:chOff x="0" y="0"/>
            <a:chExt cx="1491581" cy="1097326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491581" cy="1097326"/>
            </a:xfrm>
            <a:custGeom>
              <a:avLst/>
              <a:gdLst/>
              <a:ahLst/>
              <a:cxnLst/>
              <a:rect r="r" b="b" t="t" l="l"/>
              <a:pathLst>
                <a:path h="1097326" w="1491581">
                  <a:moveTo>
                    <a:pt x="160173" y="0"/>
                  </a:moveTo>
                  <a:lnTo>
                    <a:pt x="1331408" y="0"/>
                  </a:lnTo>
                  <a:cubicBezTo>
                    <a:pt x="1419869" y="0"/>
                    <a:pt x="1491581" y="71712"/>
                    <a:pt x="1491581" y="160173"/>
                  </a:cubicBezTo>
                  <a:lnTo>
                    <a:pt x="1491581" y="937153"/>
                  </a:lnTo>
                  <a:cubicBezTo>
                    <a:pt x="1491581" y="1025614"/>
                    <a:pt x="1419869" y="1097326"/>
                    <a:pt x="1331408" y="1097326"/>
                  </a:cubicBezTo>
                  <a:lnTo>
                    <a:pt x="160173" y="1097326"/>
                  </a:lnTo>
                  <a:cubicBezTo>
                    <a:pt x="71712" y="1097326"/>
                    <a:pt x="0" y="1025614"/>
                    <a:pt x="0" y="937153"/>
                  </a:cubicBezTo>
                  <a:lnTo>
                    <a:pt x="0" y="160173"/>
                  </a:lnTo>
                  <a:cubicBezTo>
                    <a:pt x="0" y="71712"/>
                    <a:pt x="71712" y="0"/>
                    <a:pt x="160173" y="0"/>
                  </a:cubicBezTo>
                  <a:close/>
                </a:path>
              </a:pathLst>
            </a:custGeom>
            <a:solidFill>
              <a:srgbClr val="00A551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28575"/>
              <a:ext cx="1491581" cy="11259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13053595" y="3064763"/>
            <a:ext cx="3993913" cy="172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b="true">
                <a:solidFill>
                  <a:srgbClr val="FFFFFF"/>
                </a:solidFill>
                <a:latin typeface="Playpen Sans Bold"/>
                <a:ea typeface="Playpen Sans Bold"/>
                <a:cs typeface="Playpen Sans Bold"/>
                <a:sym typeface="Playpen Sans Bold"/>
              </a:rPr>
              <a:t>3. Tidak b</a:t>
            </a:r>
            <a:r>
              <a:rPr lang="en-US" b="true" sz="2499">
                <a:solidFill>
                  <a:srgbClr val="FFFFFF"/>
                </a:solidFill>
                <a:latin typeface="Playpen Sans Bold"/>
                <a:ea typeface="Playpen Sans Bold"/>
                <a:cs typeface="Playpen Sans Bold"/>
                <a:sym typeface="Playpen Sans Bold"/>
              </a:rPr>
              <a:t>oleh</a:t>
            </a:r>
            <a:r>
              <a:rPr lang="en-US" b="true" sz="2499">
                <a:solidFill>
                  <a:srgbClr val="FFFFFF"/>
                </a:solidFill>
                <a:latin typeface="Playpen Sans Bold"/>
                <a:ea typeface="Playpen Sans Bold"/>
                <a:cs typeface="Playpen Sans Bold"/>
                <a:sym typeface="Playpen Sans Bold"/>
              </a:rPr>
              <a:t> menggunakan</a:t>
            </a:r>
            <a:r>
              <a:rPr lang="en-US" b="true" sz="2499">
                <a:solidFill>
                  <a:srgbClr val="FFFFFF"/>
                </a:solidFill>
                <a:latin typeface="Playpen Sans Bold"/>
                <a:ea typeface="Playpen Sans Bold"/>
                <a:cs typeface="Playpen Sans Bold"/>
                <a:sym typeface="Playpen Sans Bold"/>
              </a:rPr>
              <a:t> kata kunci Python</a:t>
            </a:r>
          </a:p>
          <a:p>
            <a:pPr algn="l" marL="539746" indent="-269873" lvl="1">
              <a:lnSpc>
                <a:spcPts val="3499"/>
              </a:lnSpc>
              <a:buFont typeface="Arial"/>
              <a:buChar char="•"/>
            </a:pPr>
            <a:r>
              <a:rPr lang="en-US" b="true" sz="2499">
                <a:solidFill>
                  <a:srgbClr val="FEE600"/>
                </a:solidFill>
                <a:latin typeface="Playpen Sans Bold"/>
                <a:ea typeface="Playpen Sans Bold"/>
                <a:cs typeface="Playpen Sans Bold"/>
                <a:sym typeface="Playpen Sans Bold"/>
              </a:rPr>
              <a:t>if, for, while, dll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4079305" y="5808415"/>
            <a:ext cx="4833468" cy="3555884"/>
            <a:chOff x="0" y="0"/>
            <a:chExt cx="1491581" cy="1097326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491581" cy="1097326"/>
            </a:xfrm>
            <a:custGeom>
              <a:avLst/>
              <a:gdLst/>
              <a:ahLst/>
              <a:cxnLst/>
              <a:rect r="r" b="b" t="t" l="l"/>
              <a:pathLst>
                <a:path h="1097326" w="1491581">
                  <a:moveTo>
                    <a:pt x="160173" y="0"/>
                  </a:moveTo>
                  <a:lnTo>
                    <a:pt x="1331408" y="0"/>
                  </a:lnTo>
                  <a:cubicBezTo>
                    <a:pt x="1419869" y="0"/>
                    <a:pt x="1491581" y="71712"/>
                    <a:pt x="1491581" y="160173"/>
                  </a:cubicBezTo>
                  <a:lnTo>
                    <a:pt x="1491581" y="937153"/>
                  </a:lnTo>
                  <a:cubicBezTo>
                    <a:pt x="1491581" y="1025614"/>
                    <a:pt x="1419869" y="1097326"/>
                    <a:pt x="1331408" y="1097326"/>
                  </a:cubicBezTo>
                  <a:lnTo>
                    <a:pt x="160173" y="1097326"/>
                  </a:lnTo>
                  <a:cubicBezTo>
                    <a:pt x="71712" y="1097326"/>
                    <a:pt x="0" y="1025614"/>
                    <a:pt x="0" y="937153"/>
                  </a:cubicBezTo>
                  <a:lnTo>
                    <a:pt x="0" y="160173"/>
                  </a:lnTo>
                  <a:cubicBezTo>
                    <a:pt x="0" y="71712"/>
                    <a:pt x="71712" y="0"/>
                    <a:pt x="160173" y="0"/>
                  </a:cubicBezTo>
                  <a:close/>
                </a:path>
              </a:pathLst>
            </a:custGeom>
            <a:solidFill>
              <a:srgbClr val="00A551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28575"/>
              <a:ext cx="1491581" cy="11259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25" id="25"/>
          <p:cNvSpPr txBox="true"/>
          <p:nvPr/>
        </p:nvSpPr>
        <p:spPr>
          <a:xfrm rot="0">
            <a:off x="4499082" y="6703707"/>
            <a:ext cx="3993913" cy="172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b="true">
                <a:solidFill>
                  <a:srgbClr val="FFFFFF"/>
                </a:solidFill>
                <a:latin typeface="Playpen Sans Bold"/>
                <a:ea typeface="Playpen Sans Bold"/>
                <a:cs typeface="Playpen Sans Bold"/>
                <a:sym typeface="Playpen Sans Bold"/>
              </a:rPr>
              <a:t>4. Tidak b</a:t>
            </a:r>
            <a:r>
              <a:rPr lang="en-US" b="true" sz="2499">
                <a:solidFill>
                  <a:srgbClr val="FFFFFF"/>
                </a:solidFill>
                <a:latin typeface="Playpen Sans Bold"/>
                <a:ea typeface="Playpen Sans Bold"/>
                <a:cs typeface="Playpen Sans Bold"/>
                <a:sym typeface="Playpen Sans Bold"/>
              </a:rPr>
              <a:t>oleh</a:t>
            </a:r>
            <a:r>
              <a:rPr lang="en-US" b="true" sz="2499">
                <a:solidFill>
                  <a:srgbClr val="FFFFFF"/>
                </a:solidFill>
                <a:latin typeface="Playpen Sans Bold"/>
                <a:ea typeface="Playpen Sans Bold"/>
                <a:cs typeface="Playpen Sans Bold"/>
                <a:sym typeface="Playpen Sans Bold"/>
              </a:rPr>
              <a:t> menggunakan</a:t>
            </a:r>
            <a:r>
              <a:rPr lang="en-US" b="true" sz="2499">
                <a:solidFill>
                  <a:srgbClr val="FFFFFF"/>
                </a:solidFill>
                <a:latin typeface="Playpen Sans Bold"/>
                <a:ea typeface="Playpen Sans Bold"/>
                <a:cs typeface="Playpen Sans Bold"/>
                <a:sym typeface="Playpen Sans Bold"/>
              </a:rPr>
              <a:t> simbol khusus</a:t>
            </a:r>
          </a:p>
          <a:p>
            <a:pPr algn="l" marL="539746" indent="-269873" lvl="1">
              <a:lnSpc>
                <a:spcPts val="3499"/>
              </a:lnSpc>
              <a:buFont typeface="Arial"/>
              <a:buChar char="•"/>
            </a:pPr>
            <a:r>
              <a:rPr lang="en-US" b="true" sz="2499">
                <a:solidFill>
                  <a:srgbClr val="FEE600"/>
                </a:solidFill>
                <a:latin typeface="Playpen Sans Bold"/>
                <a:ea typeface="Playpen Sans Bold"/>
                <a:cs typeface="Playpen Sans Bold"/>
                <a:sym typeface="Playpen Sans Bold"/>
              </a:rPr>
              <a:t>@, #</a:t>
            </a:r>
            <a:r>
              <a:rPr lang="en-US" b="true" sz="2499">
                <a:solidFill>
                  <a:srgbClr val="FEE600"/>
                </a:solidFill>
                <a:latin typeface="Playpen Sans Bold"/>
                <a:ea typeface="Playpen Sans Bold"/>
                <a:cs typeface="Playpen Sans Bold"/>
                <a:sym typeface="Playpen Sans Bold"/>
              </a:rPr>
              <a:t>, $, %, dll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9375227" y="5808415"/>
            <a:ext cx="4833468" cy="3555884"/>
            <a:chOff x="0" y="0"/>
            <a:chExt cx="1491581" cy="1097326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491581" cy="1097326"/>
            </a:xfrm>
            <a:custGeom>
              <a:avLst/>
              <a:gdLst/>
              <a:ahLst/>
              <a:cxnLst/>
              <a:rect r="r" b="b" t="t" l="l"/>
              <a:pathLst>
                <a:path h="1097326" w="1491581">
                  <a:moveTo>
                    <a:pt x="160173" y="0"/>
                  </a:moveTo>
                  <a:lnTo>
                    <a:pt x="1331408" y="0"/>
                  </a:lnTo>
                  <a:cubicBezTo>
                    <a:pt x="1419869" y="0"/>
                    <a:pt x="1491581" y="71712"/>
                    <a:pt x="1491581" y="160173"/>
                  </a:cubicBezTo>
                  <a:lnTo>
                    <a:pt x="1491581" y="937153"/>
                  </a:lnTo>
                  <a:cubicBezTo>
                    <a:pt x="1491581" y="1025614"/>
                    <a:pt x="1419869" y="1097326"/>
                    <a:pt x="1331408" y="1097326"/>
                  </a:cubicBezTo>
                  <a:lnTo>
                    <a:pt x="160173" y="1097326"/>
                  </a:lnTo>
                  <a:cubicBezTo>
                    <a:pt x="71712" y="1097326"/>
                    <a:pt x="0" y="1025614"/>
                    <a:pt x="0" y="937153"/>
                  </a:cubicBezTo>
                  <a:lnTo>
                    <a:pt x="0" y="160173"/>
                  </a:lnTo>
                  <a:cubicBezTo>
                    <a:pt x="0" y="71712"/>
                    <a:pt x="71712" y="0"/>
                    <a:pt x="160173" y="0"/>
                  </a:cubicBezTo>
                  <a:close/>
                </a:path>
              </a:pathLst>
            </a:custGeom>
            <a:solidFill>
              <a:srgbClr val="00A551"/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28575"/>
              <a:ext cx="1491581" cy="11259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29" id="29"/>
          <p:cNvSpPr txBox="true"/>
          <p:nvPr/>
        </p:nvSpPr>
        <p:spPr>
          <a:xfrm rot="0">
            <a:off x="9795004" y="6703707"/>
            <a:ext cx="3993913" cy="172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b="true">
                <a:solidFill>
                  <a:srgbClr val="FFFFFF"/>
                </a:solidFill>
                <a:latin typeface="Playpen Sans Bold"/>
                <a:ea typeface="Playpen Sans Bold"/>
                <a:cs typeface="Playpen Sans Bold"/>
                <a:sym typeface="Playpen Sans Bold"/>
              </a:rPr>
              <a:t>5. Bersifat cas</a:t>
            </a:r>
            <a:r>
              <a:rPr lang="en-US" b="true" sz="2499">
                <a:solidFill>
                  <a:srgbClr val="FFFFFF"/>
                </a:solidFill>
                <a:latin typeface="Playpen Sans Bold"/>
                <a:ea typeface="Playpen Sans Bold"/>
                <a:cs typeface="Playpen Sans Bold"/>
                <a:sym typeface="Playpen Sans Bold"/>
              </a:rPr>
              <a:t>e</a:t>
            </a:r>
            <a:r>
              <a:rPr lang="en-US" b="true" sz="2499">
                <a:solidFill>
                  <a:srgbClr val="FFFFFF"/>
                </a:solidFill>
                <a:latin typeface="Playpen Sans Bold"/>
                <a:ea typeface="Playpen Sans Bold"/>
                <a:cs typeface="Playpen Sans Bold"/>
                <a:sym typeface="Playpen Sans Bold"/>
              </a:rPr>
              <a:t> sensitive (huruf besar dan</a:t>
            </a:r>
            <a:r>
              <a:rPr lang="en-US" b="true" sz="2499">
                <a:solidFill>
                  <a:srgbClr val="FFFFFF"/>
                </a:solidFill>
                <a:latin typeface="Playpen Sans Bold"/>
                <a:ea typeface="Playpen Sans Bold"/>
                <a:cs typeface="Playpen Sans Bold"/>
                <a:sym typeface="Playpen Sans Bold"/>
              </a:rPr>
              <a:t> kecil berbeda)</a:t>
            </a:r>
          </a:p>
          <a:p>
            <a:pPr algn="l" marL="539746" indent="-269873" lvl="1">
              <a:lnSpc>
                <a:spcPts val="3499"/>
              </a:lnSpc>
              <a:buFont typeface="Arial"/>
              <a:buChar char="•"/>
            </a:pPr>
            <a:r>
              <a:rPr lang="en-US" b="true" sz="2499">
                <a:solidFill>
                  <a:srgbClr val="FEE600"/>
                </a:solidFill>
                <a:latin typeface="Playpen Sans Bold"/>
                <a:ea typeface="Playpen Sans Bold"/>
                <a:cs typeface="Playpen Sans Bold"/>
                <a:sym typeface="Playpen Sans Bold"/>
              </a:rPr>
              <a:t> </a:t>
            </a:r>
            <a:r>
              <a:rPr lang="en-US" b="true" sz="2499">
                <a:solidFill>
                  <a:srgbClr val="FEE600"/>
                </a:solidFill>
                <a:latin typeface="Playpen Sans Bold"/>
                <a:ea typeface="Playpen Sans Bold"/>
                <a:cs typeface="Playpen Sans Bold"/>
                <a:sym typeface="Playpen Sans Bold"/>
              </a:rPr>
              <a:t>Nama ≠ nama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FFB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710358">
            <a:off x="3367916" y="591730"/>
            <a:ext cx="2887164" cy="4895154"/>
          </a:xfrm>
          <a:custGeom>
            <a:avLst/>
            <a:gdLst/>
            <a:ahLst/>
            <a:cxnLst/>
            <a:rect r="r" b="b" t="t" l="l"/>
            <a:pathLst>
              <a:path h="4895154" w="2887164">
                <a:moveTo>
                  <a:pt x="0" y="0"/>
                </a:moveTo>
                <a:lnTo>
                  <a:pt x="2887164" y="0"/>
                </a:lnTo>
                <a:lnTo>
                  <a:pt x="2887164" y="4895154"/>
                </a:lnTo>
                <a:lnTo>
                  <a:pt x="0" y="489515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1110206">
            <a:off x="16147390" y="6785338"/>
            <a:ext cx="2887164" cy="4895154"/>
          </a:xfrm>
          <a:custGeom>
            <a:avLst/>
            <a:gdLst/>
            <a:ahLst/>
            <a:cxnLst/>
            <a:rect r="r" b="b" t="t" l="l"/>
            <a:pathLst>
              <a:path h="4895154" w="2887164">
                <a:moveTo>
                  <a:pt x="0" y="0"/>
                </a:moveTo>
                <a:lnTo>
                  <a:pt x="2887164" y="0"/>
                </a:lnTo>
                <a:lnTo>
                  <a:pt x="2887164" y="4895154"/>
                </a:lnTo>
                <a:lnTo>
                  <a:pt x="0" y="489515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028700" y="4352804"/>
            <a:ext cx="16230600" cy="4201850"/>
            <a:chOff x="0" y="0"/>
            <a:chExt cx="5008672" cy="129666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008673" cy="1296667"/>
            </a:xfrm>
            <a:custGeom>
              <a:avLst/>
              <a:gdLst/>
              <a:ahLst/>
              <a:cxnLst/>
              <a:rect r="r" b="b" t="t" l="l"/>
              <a:pathLst>
                <a:path h="1296667" w="5008673">
                  <a:moveTo>
                    <a:pt x="47700" y="0"/>
                  </a:moveTo>
                  <a:lnTo>
                    <a:pt x="4960973" y="0"/>
                  </a:lnTo>
                  <a:cubicBezTo>
                    <a:pt x="4973624" y="0"/>
                    <a:pt x="4985756" y="5025"/>
                    <a:pt x="4994702" y="13971"/>
                  </a:cubicBezTo>
                  <a:cubicBezTo>
                    <a:pt x="5003647" y="22916"/>
                    <a:pt x="5008673" y="35049"/>
                    <a:pt x="5008673" y="47700"/>
                  </a:cubicBezTo>
                  <a:lnTo>
                    <a:pt x="5008673" y="1248968"/>
                  </a:lnTo>
                  <a:cubicBezTo>
                    <a:pt x="5008673" y="1261619"/>
                    <a:pt x="5003647" y="1273751"/>
                    <a:pt x="4994702" y="1282697"/>
                  </a:cubicBezTo>
                  <a:cubicBezTo>
                    <a:pt x="4985756" y="1291642"/>
                    <a:pt x="4973624" y="1296667"/>
                    <a:pt x="4960973" y="1296667"/>
                  </a:cubicBezTo>
                  <a:lnTo>
                    <a:pt x="47700" y="1296667"/>
                  </a:lnTo>
                  <a:cubicBezTo>
                    <a:pt x="35049" y="1296667"/>
                    <a:pt x="22916" y="1291642"/>
                    <a:pt x="13971" y="1282697"/>
                  </a:cubicBezTo>
                  <a:cubicBezTo>
                    <a:pt x="5025" y="1273751"/>
                    <a:pt x="0" y="1261619"/>
                    <a:pt x="0" y="1248968"/>
                  </a:cubicBezTo>
                  <a:lnTo>
                    <a:pt x="0" y="47700"/>
                  </a:lnTo>
                  <a:cubicBezTo>
                    <a:pt x="0" y="35049"/>
                    <a:pt x="5025" y="22916"/>
                    <a:pt x="13971" y="13971"/>
                  </a:cubicBezTo>
                  <a:cubicBezTo>
                    <a:pt x="22916" y="5025"/>
                    <a:pt x="35049" y="0"/>
                    <a:pt x="47700" y="0"/>
                  </a:cubicBezTo>
                  <a:close/>
                </a:path>
              </a:pathLst>
            </a:custGeom>
            <a:solidFill>
              <a:srgbClr val="00A551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28575"/>
              <a:ext cx="5008672" cy="13252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226914">
            <a:off x="7351688" y="1674655"/>
            <a:ext cx="8386308" cy="3415515"/>
          </a:xfrm>
          <a:custGeom>
            <a:avLst/>
            <a:gdLst/>
            <a:ahLst/>
            <a:cxnLst/>
            <a:rect r="r" b="b" t="t" l="l"/>
            <a:pathLst>
              <a:path h="3415515" w="8386308">
                <a:moveTo>
                  <a:pt x="0" y="0"/>
                </a:moveTo>
                <a:lnTo>
                  <a:pt x="8386309" y="0"/>
                </a:lnTo>
                <a:lnTo>
                  <a:pt x="8386309" y="3415514"/>
                </a:lnTo>
                <a:lnTo>
                  <a:pt x="0" y="341551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226914">
            <a:off x="8424756" y="3048781"/>
            <a:ext cx="6271820" cy="9622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185"/>
              </a:lnSpc>
            </a:pPr>
            <a:r>
              <a:rPr lang="en-US" sz="7258">
                <a:solidFill>
                  <a:srgbClr val="FFFFFF"/>
                </a:solidFill>
                <a:latin typeface="210 빛글"/>
                <a:ea typeface="210 빛글"/>
                <a:cs typeface="210 빛글"/>
                <a:sym typeface="210 빛글"/>
              </a:rPr>
              <a:t>TIPE DATA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601635" y="5221997"/>
            <a:ext cx="14724427" cy="28368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80726" indent="-290363" lvl="1">
              <a:lnSpc>
                <a:spcPts val="3765"/>
              </a:lnSpc>
              <a:buFont typeface="Arial"/>
              <a:buChar char="•"/>
            </a:pPr>
            <a:r>
              <a:rPr lang="en-US" sz="2689">
                <a:solidFill>
                  <a:srgbClr val="FFFFFF"/>
                </a:solidFill>
                <a:latin typeface="Playpen Sans"/>
                <a:ea typeface="Playpen Sans"/>
                <a:cs typeface="Playpen Sans"/>
                <a:sym typeface="Playpen Sans"/>
              </a:rPr>
              <a:t>Tipe data merupakan jenis data dalam program</a:t>
            </a:r>
          </a:p>
          <a:p>
            <a:pPr algn="just" marL="580726" indent="-290363" lvl="1">
              <a:lnSpc>
                <a:spcPts val="3765"/>
              </a:lnSpc>
              <a:buFont typeface="Arial"/>
              <a:buChar char="•"/>
            </a:pPr>
            <a:r>
              <a:rPr lang="en-US" sz="2689">
                <a:solidFill>
                  <a:srgbClr val="FFFFFF"/>
                </a:solidFill>
                <a:latin typeface="Playpen Sans"/>
                <a:ea typeface="Playpen Sans"/>
                <a:cs typeface="Playpen Sans"/>
                <a:sym typeface="Playpen Sans"/>
              </a:rPr>
              <a:t>Berikut merupakan tipe data dalam bahasa pemrograman Python:</a:t>
            </a:r>
          </a:p>
          <a:p>
            <a:pPr algn="just">
              <a:lnSpc>
                <a:spcPts val="3765"/>
              </a:lnSpc>
            </a:pPr>
            <a:r>
              <a:rPr lang="en-US" sz="2689">
                <a:solidFill>
                  <a:srgbClr val="FFFFFF"/>
                </a:solidFill>
                <a:latin typeface="Playpen Sans"/>
                <a:ea typeface="Playpen Sans"/>
                <a:cs typeface="Playpen Sans"/>
                <a:sym typeface="Playpen Sans"/>
              </a:rPr>
              <a:t>    (1) </a:t>
            </a:r>
            <a:r>
              <a:rPr lang="en-US" sz="2689">
                <a:solidFill>
                  <a:srgbClr val="FFFFFF"/>
                </a:solidFill>
                <a:latin typeface="Playpen Sans"/>
                <a:ea typeface="Playpen Sans"/>
                <a:cs typeface="Playpen Sans"/>
                <a:sym typeface="Playpen Sans"/>
              </a:rPr>
              <a:t>Integer (int) → bilangan bulat</a:t>
            </a:r>
          </a:p>
          <a:p>
            <a:pPr algn="just">
              <a:lnSpc>
                <a:spcPts val="3765"/>
              </a:lnSpc>
            </a:pPr>
            <a:r>
              <a:rPr lang="en-US" sz="2689">
                <a:solidFill>
                  <a:srgbClr val="FFFFFF"/>
                </a:solidFill>
                <a:latin typeface="Playpen Sans"/>
                <a:ea typeface="Playpen Sans"/>
                <a:cs typeface="Playpen Sans"/>
                <a:sym typeface="Playpen Sans"/>
              </a:rPr>
              <a:t>    (2) Float (float) → bilangan desimal</a:t>
            </a:r>
          </a:p>
          <a:p>
            <a:pPr algn="just">
              <a:lnSpc>
                <a:spcPts val="3765"/>
              </a:lnSpc>
            </a:pPr>
            <a:r>
              <a:rPr lang="en-US" sz="2689">
                <a:solidFill>
                  <a:srgbClr val="FFFFFF"/>
                </a:solidFill>
                <a:latin typeface="Playpen Sans"/>
                <a:ea typeface="Playpen Sans"/>
                <a:cs typeface="Playpen Sans"/>
                <a:sym typeface="Playpen Sans"/>
              </a:rPr>
              <a:t>    (3) String (str) → teks</a:t>
            </a:r>
          </a:p>
          <a:p>
            <a:pPr algn="just">
              <a:lnSpc>
                <a:spcPts val="3765"/>
              </a:lnSpc>
            </a:pPr>
            <a:r>
              <a:rPr lang="en-US" sz="2689">
                <a:solidFill>
                  <a:srgbClr val="FFFFFF"/>
                </a:solidFill>
                <a:latin typeface="Playpen Sans"/>
                <a:ea typeface="Playpen Sans"/>
                <a:cs typeface="Playpen Sans"/>
                <a:sym typeface="Playpen Sans"/>
              </a:rPr>
              <a:t>    (4) Boolean (bool) → True / False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-585527" y="-589801"/>
            <a:ext cx="2473954" cy="4194560"/>
          </a:xfrm>
          <a:custGeom>
            <a:avLst/>
            <a:gdLst/>
            <a:ahLst/>
            <a:cxnLst/>
            <a:rect r="r" b="b" t="t" l="l"/>
            <a:pathLst>
              <a:path h="4194560" w="2473954">
                <a:moveTo>
                  <a:pt x="0" y="0"/>
                </a:moveTo>
                <a:lnTo>
                  <a:pt x="2473953" y="0"/>
                </a:lnTo>
                <a:lnTo>
                  <a:pt x="2473953" y="4194560"/>
                </a:lnTo>
                <a:lnTo>
                  <a:pt x="0" y="419456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6326062" y="2169471"/>
            <a:ext cx="1026059" cy="1739672"/>
          </a:xfrm>
          <a:custGeom>
            <a:avLst/>
            <a:gdLst/>
            <a:ahLst/>
            <a:cxnLst/>
            <a:rect r="r" b="b" t="t" l="l"/>
            <a:pathLst>
              <a:path h="1739672" w="1026059">
                <a:moveTo>
                  <a:pt x="0" y="0"/>
                </a:moveTo>
                <a:lnTo>
                  <a:pt x="1026059" y="0"/>
                </a:lnTo>
                <a:lnTo>
                  <a:pt x="1026059" y="1739672"/>
                </a:lnTo>
                <a:lnTo>
                  <a:pt x="0" y="17396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601635" y="9627341"/>
            <a:ext cx="2764746" cy="1319318"/>
          </a:xfrm>
          <a:custGeom>
            <a:avLst/>
            <a:gdLst/>
            <a:ahLst/>
            <a:cxnLst/>
            <a:rect r="r" b="b" t="t" l="l"/>
            <a:pathLst>
              <a:path h="1319318" w="2764746">
                <a:moveTo>
                  <a:pt x="0" y="0"/>
                </a:moveTo>
                <a:lnTo>
                  <a:pt x="2764746" y="0"/>
                </a:lnTo>
                <a:lnTo>
                  <a:pt x="2764746" y="1319318"/>
                </a:lnTo>
                <a:lnTo>
                  <a:pt x="0" y="131931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1273954" y="9627341"/>
            <a:ext cx="2764746" cy="1319318"/>
          </a:xfrm>
          <a:custGeom>
            <a:avLst/>
            <a:gdLst/>
            <a:ahLst/>
            <a:cxnLst/>
            <a:rect r="r" b="b" t="t" l="l"/>
            <a:pathLst>
              <a:path h="1319318" w="2764746">
                <a:moveTo>
                  <a:pt x="0" y="0"/>
                </a:moveTo>
                <a:lnTo>
                  <a:pt x="2764746" y="0"/>
                </a:lnTo>
                <a:lnTo>
                  <a:pt x="2764746" y="1319318"/>
                </a:lnTo>
                <a:lnTo>
                  <a:pt x="0" y="131931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FFB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710358">
            <a:off x="3367916" y="591730"/>
            <a:ext cx="2887164" cy="4895154"/>
          </a:xfrm>
          <a:custGeom>
            <a:avLst/>
            <a:gdLst/>
            <a:ahLst/>
            <a:cxnLst/>
            <a:rect r="r" b="b" t="t" l="l"/>
            <a:pathLst>
              <a:path h="4895154" w="2887164">
                <a:moveTo>
                  <a:pt x="0" y="0"/>
                </a:moveTo>
                <a:lnTo>
                  <a:pt x="2887164" y="0"/>
                </a:lnTo>
                <a:lnTo>
                  <a:pt x="2887164" y="4895154"/>
                </a:lnTo>
                <a:lnTo>
                  <a:pt x="0" y="489515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1110206">
            <a:off x="16147390" y="6785338"/>
            <a:ext cx="2887164" cy="4895154"/>
          </a:xfrm>
          <a:custGeom>
            <a:avLst/>
            <a:gdLst/>
            <a:ahLst/>
            <a:cxnLst/>
            <a:rect r="r" b="b" t="t" l="l"/>
            <a:pathLst>
              <a:path h="4895154" w="2887164">
                <a:moveTo>
                  <a:pt x="0" y="0"/>
                </a:moveTo>
                <a:lnTo>
                  <a:pt x="2887164" y="0"/>
                </a:lnTo>
                <a:lnTo>
                  <a:pt x="2887164" y="4895154"/>
                </a:lnTo>
                <a:lnTo>
                  <a:pt x="0" y="489515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028700" y="4352804"/>
            <a:ext cx="16230600" cy="4201850"/>
            <a:chOff x="0" y="0"/>
            <a:chExt cx="5008672" cy="129666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008673" cy="1296667"/>
            </a:xfrm>
            <a:custGeom>
              <a:avLst/>
              <a:gdLst/>
              <a:ahLst/>
              <a:cxnLst/>
              <a:rect r="r" b="b" t="t" l="l"/>
              <a:pathLst>
                <a:path h="1296667" w="5008673">
                  <a:moveTo>
                    <a:pt x="47700" y="0"/>
                  </a:moveTo>
                  <a:lnTo>
                    <a:pt x="4960973" y="0"/>
                  </a:lnTo>
                  <a:cubicBezTo>
                    <a:pt x="4973624" y="0"/>
                    <a:pt x="4985756" y="5025"/>
                    <a:pt x="4994702" y="13971"/>
                  </a:cubicBezTo>
                  <a:cubicBezTo>
                    <a:pt x="5003647" y="22916"/>
                    <a:pt x="5008673" y="35049"/>
                    <a:pt x="5008673" y="47700"/>
                  </a:cubicBezTo>
                  <a:lnTo>
                    <a:pt x="5008673" y="1248968"/>
                  </a:lnTo>
                  <a:cubicBezTo>
                    <a:pt x="5008673" y="1261619"/>
                    <a:pt x="5003647" y="1273751"/>
                    <a:pt x="4994702" y="1282697"/>
                  </a:cubicBezTo>
                  <a:cubicBezTo>
                    <a:pt x="4985756" y="1291642"/>
                    <a:pt x="4973624" y="1296667"/>
                    <a:pt x="4960973" y="1296667"/>
                  </a:cubicBezTo>
                  <a:lnTo>
                    <a:pt x="47700" y="1296667"/>
                  </a:lnTo>
                  <a:cubicBezTo>
                    <a:pt x="35049" y="1296667"/>
                    <a:pt x="22916" y="1291642"/>
                    <a:pt x="13971" y="1282697"/>
                  </a:cubicBezTo>
                  <a:cubicBezTo>
                    <a:pt x="5025" y="1273751"/>
                    <a:pt x="0" y="1261619"/>
                    <a:pt x="0" y="1248968"/>
                  </a:cubicBezTo>
                  <a:lnTo>
                    <a:pt x="0" y="47700"/>
                  </a:lnTo>
                  <a:cubicBezTo>
                    <a:pt x="0" y="35049"/>
                    <a:pt x="5025" y="22916"/>
                    <a:pt x="13971" y="13971"/>
                  </a:cubicBezTo>
                  <a:cubicBezTo>
                    <a:pt x="22916" y="5025"/>
                    <a:pt x="35049" y="0"/>
                    <a:pt x="47700" y="0"/>
                  </a:cubicBezTo>
                  <a:close/>
                </a:path>
              </a:pathLst>
            </a:custGeom>
            <a:solidFill>
              <a:srgbClr val="00A551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28575"/>
              <a:ext cx="5008672" cy="13252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226914">
            <a:off x="7351688" y="1674655"/>
            <a:ext cx="8386308" cy="3415515"/>
          </a:xfrm>
          <a:custGeom>
            <a:avLst/>
            <a:gdLst/>
            <a:ahLst/>
            <a:cxnLst/>
            <a:rect r="r" b="b" t="t" l="l"/>
            <a:pathLst>
              <a:path h="3415515" w="8386308">
                <a:moveTo>
                  <a:pt x="0" y="0"/>
                </a:moveTo>
                <a:lnTo>
                  <a:pt x="8386309" y="0"/>
                </a:lnTo>
                <a:lnTo>
                  <a:pt x="8386309" y="3415514"/>
                </a:lnTo>
                <a:lnTo>
                  <a:pt x="0" y="341551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226914">
            <a:off x="8424756" y="3048781"/>
            <a:ext cx="6271820" cy="9622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185"/>
              </a:lnSpc>
            </a:pPr>
            <a:r>
              <a:rPr lang="en-US" sz="7258">
                <a:solidFill>
                  <a:srgbClr val="FFFFFF"/>
                </a:solidFill>
                <a:latin typeface="210 빛글"/>
                <a:ea typeface="210 빛글"/>
                <a:cs typeface="210 빛글"/>
                <a:sym typeface="210 빛글"/>
              </a:rPr>
              <a:t>VARIABEL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601635" y="5326772"/>
            <a:ext cx="14724427" cy="2647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Playpen Sans"/>
                <a:ea typeface="Playpen Sans"/>
                <a:cs typeface="Playpen Sans"/>
                <a:sym typeface="Playpen Sans"/>
              </a:rPr>
              <a:t>Variabel adalah tempat menyimpan data</a:t>
            </a:r>
          </a:p>
          <a:p>
            <a:pPr algn="just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Playpen Sans"/>
                <a:ea typeface="Playpen Sans"/>
                <a:cs typeface="Playpen Sans"/>
                <a:sym typeface="Playpen Sans"/>
              </a:rPr>
              <a:t>Tidak perlu deklarasi tipe</a:t>
            </a:r>
          </a:p>
          <a:p>
            <a:pPr algn="just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Playpen Sans"/>
                <a:ea typeface="Playpen Sans"/>
                <a:cs typeface="Playpen Sans"/>
                <a:sym typeface="Playpen Sans"/>
              </a:rPr>
              <a:t>Contoh: </a:t>
            </a:r>
          </a:p>
          <a:p>
            <a:pPr algn="just">
              <a:lnSpc>
                <a:spcPts val="4200"/>
              </a:lnSpc>
            </a:pPr>
            <a:r>
              <a:rPr lang="en-US" sz="3000">
                <a:solidFill>
                  <a:srgbClr val="FFFFFF"/>
                </a:solidFill>
                <a:latin typeface="Playpen Sans"/>
                <a:ea typeface="Playpen Sans"/>
                <a:cs typeface="Playpen Sans"/>
                <a:sym typeface="Playpen Sans"/>
              </a:rPr>
              <a:t>              nama = "Budi"</a:t>
            </a:r>
          </a:p>
          <a:p>
            <a:pPr algn="just">
              <a:lnSpc>
                <a:spcPts val="4200"/>
              </a:lnSpc>
            </a:pPr>
            <a:r>
              <a:rPr lang="en-US" sz="3000">
                <a:solidFill>
                  <a:srgbClr val="FFFFFF"/>
                </a:solidFill>
                <a:latin typeface="Playpen Sans"/>
                <a:ea typeface="Playpen Sans"/>
                <a:cs typeface="Playpen Sans"/>
                <a:sym typeface="Playpen Sans"/>
              </a:rPr>
              <a:t>              </a:t>
            </a:r>
            <a:r>
              <a:rPr lang="en-US" sz="3000">
                <a:solidFill>
                  <a:srgbClr val="FFFFFF"/>
                </a:solidFill>
                <a:latin typeface="Playpen Sans"/>
                <a:ea typeface="Playpen Sans"/>
                <a:cs typeface="Playpen Sans"/>
                <a:sym typeface="Playpen Sans"/>
              </a:rPr>
              <a:t>umur = 16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-585527" y="-589801"/>
            <a:ext cx="2473954" cy="4194560"/>
          </a:xfrm>
          <a:custGeom>
            <a:avLst/>
            <a:gdLst/>
            <a:ahLst/>
            <a:cxnLst/>
            <a:rect r="r" b="b" t="t" l="l"/>
            <a:pathLst>
              <a:path h="4194560" w="2473954">
                <a:moveTo>
                  <a:pt x="0" y="0"/>
                </a:moveTo>
                <a:lnTo>
                  <a:pt x="2473953" y="0"/>
                </a:lnTo>
                <a:lnTo>
                  <a:pt x="2473953" y="4194560"/>
                </a:lnTo>
                <a:lnTo>
                  <a:pt x="0" y="419456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6326062" y="2169471"/>
            <a:ext cx="1026059" cy="1739672"/>
          </a:xfrm>
          <a:custGeom>
            <a:avLst/>
            <a:gdLst/>
            <a:ahLst/>
            <a:cxnLst/>
            <a:rect r="r" b="b" t="t" l="l"/>
            <a:pathLst>
              <a:path h="1739672" w="1026059">
                <a:moveTo>
                  <a:pt x="0" y="0"/>
                </a:moveTo>
                <a:lnTo>
                  <a:pt x="1026059" y="0"/>
                </a:lnTo>
                <a:lnTo>
                  <a:pt x="1026059" y="1739672"/>
                </a:lnTo>
                <a:lnTo>
                  <a:pt x="0" y="17396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601635" y="9627341"/>
            <a:ext cx="2764746" cy="1319318"/>
          </a:xfrm>
          <a:custGeom>
            <a:avLst/>
            <a:gdLst/>
            <a:ahLst/>
            <a:cxnLst/>
            <a:rect r="r" b="b" t="t" l="l"/>
            <a:pathLst>
              <a:path h="1319318" w="2764746">
                <a:moveTo>
                  <a:pt x="0" y="0"/>
                </a:moveTo>
                <a:lnTo>
                  <a:pt x="2764746" y="0"/>
                </a:lnTo>
                <a:lnTo>
                  <a:pt x="2764746" y="1319318"/>
                </a:lnTo>
                <a:lnTo>
                  <a:pt x="0" y="131931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1273954" y="9627341"/>
            <a:ext cx="2764746" cy="1319318"/>
          </a:xfrm>
          <a:custGeom>
            <a:avLst/>
            <a:gdLst/>
            <a:ahLst/>
            <a:cxnLst/>
            <a:rect r="r" b="b" t="t" l="l"/>
            <a:pathLst>
              <a:path h="1319318" w="2764746">
                <a:moveTo>
                  <a:pt x="0" y="0"/>
                </a:moveTo>
                <a:lnTo>
                  <a:pt x="2764746" y="0"/>
                </a:lnTo>
                <a:lnTo>
                  <a:pt x="2764746" y="1319318"/>
                </a:lnTo>
                <a:lnTo>
                  <a:pt x="0" y="131931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FFB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710358">
            <a:off x="3367916" y="591730"/>
            <a:ext cx="2887164" cy="4895154"/>
          </a:xfrm>
          <a:custGeom>
            <a:avLst/>
            <a:gdLst/>
            <a:ahLst/>
            <a:cxnLst/>
            <a:rect r="r" b="b" t="t" l="l"/>
            <a:pathLst>
              <a:path h="4895154" w="2887164">
                <a:moveTo>
                  <a:pt x="0" y="0"/>
                </a:moveTo>
                <a:lnTo>
                  <a:pt x="2887164" y="0"/>
                </a:lnTo>
                <a:lnTo>
                  <a:pt x="2887164" y="4895154"/>
                </a:lnTo>
                <a:lnTo>
                  <a:pt x="0" y="489515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1110206">
            <a:off x="16147390" y="6785338"/>
            <a:ext cx="2887164" cy="4895154"/>
          </a:xfrm>
          <a:custGeom>
            <a:avLst/>
            <a:gdLst/>
            <a:ahLst/>
            <a:cxnLst/>
            <a:rect r="r" b="b" t="t" l="l"/>
            <a:pathLst>
              <a:path h="4895154" w="2887164">
                <a:moveTo>
                  <a:pt x="0" y="0"/>
                </a:moveTo>
                <a:lnTo>
                  <a:pt x="2887164" y="0"/>
                </a:lnTo>
                <a:lnTo>
                  <a:pt x="2887164" y="4895154"/>
                </a:lnTo>
                <a:lnTo>
                  <a:pt x="0" y="489515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028700" y="4352804"/>
            <a:ext cx="16230600" cy="4201850"/>
            <a:chOff x="0" y="0"/>
            <a:chExt cx="5008672" cy="129666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008673" cy="1296667"/>
            </a:xfrm>
            <a:custGeom>
              <a:avLst/>
              <a:gdLst/>
              <a:ahLst/>
              <a:cxnLst/>
              <a:rect r="r" b="b" t="t" l="l"/>
              <a:pathLst>
                <a:path h="1296667" w="5008673">
                  <a:moveTo>
                    <a:pt x="47700" y="0"/>
                  </a:moveTo>
                  <a:lnTo>
                    <a:pt x="4960973" y="0"/>
                  </a:lnTo>
                  <a:cubicBezTo>
                    <a:pt x="4973624" y="0"/>
                    <a:pt x="4985756" y="5025"/>
                    <a:pt x="4994702" y="13971"/>
                  </a:cubicBezTo>
                  <a:cubicBezTo>
                    <a:pt x="5003647" y="22916"/>
                    <a:pt x="5008673" y="35049"/>
                    <a:pt x="5008673" y="47700"/>
                  </a:cubicBezTo>
                  <a:lnTo>
                    <a:pt x="5008673" y="1248968"/>
                  </a:lnTo>
                  <a:cubicBezTo>
                    <a:pt x="5008673" y="1261619"/>
                    <a:pt x="5003647" y="1273751"/>
                    <a:pt x="4994702" y="1282697"/>
                  </a:cubicBezTo>
                  <a:cubicBezTo>
                    <a:pt x="4985756" y="1291642"/>
                    <a:pt x="4973624" y="1296667"/>
                    <a:pt x="4960973" y="1296667"/>
                  </a:cubicBezTo>
                  <a:lnTo>
                    <a:pt x="47700" y="1296667"/>
                  </a:lnTo>
                  <a:cubicBezTo>
                    <a:pt x="35049" y="1296667"/>
                    <a:pt x="22916" y="1291642"/>
                    <a:pt x="13971" y="1282697"/>
                  </a:cubicBezTo>
                  <a:cubicBezTo>
                    <a:pt x="5025" y="1273751"/>
                    <a:pt x="0" y="1261619"/>
                    <a:pt x="0" y="1248968"/>
                  </a:cubicBezTo>
                  <a:lnTo>
                    <a:pt x="0" y="47700"/>
                  </a:lnTo>
                  <a:cubicBezTo>
                    <a:pt x="0" y="35049"/>
                    <a:pt x="5025" y="22916"/>
                    <a:pt x="13971" y="13971"/>
                  </a:cubicBezTo>
                  <a:cubicBezTo>
                    <a:pt x="22916" y="5025"/>
                    <a:pt x="35049" y="0"/>
                    <a:pt x="47700" y="0"/>
                  </a:cubicBezTo>
                  <a:close/>
                </a:path>
              </a:pathLst>
            </a:custGeom>
            <a:solidFill>
              <a:srgbClr val="00A551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28575"/>
              <a:ext cx="5008672" cy="13252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226914">
            <a:off x="7351688" y="1674655"/>
            <a:ext cx="8386308" cy="3415515"/>
          </a:xfrm>
          <a:custGeom>
            <a:avLst/>
            <a:gdLst/>
            <a:ahLst/>
            <a:cxnLst/>
            <a:rect r="r" b="b" t="t" l="l"/>
            <a:pathLst>
              <a:path h="3415515" w="8386308">
                <a:moveTo>
                  <a:pt x="0" y="0"/>
                </a:moveTo>
                <a:lnTo>
                  <a:pt x="8386309" y="0"/>
                </a:lnTo>
                <a:lnTo>
                  <a:pt x="8386309" y="3415514"/>
                </a:lnTo>
                <a:lnTo>
                  <a:pt x="0" y="341551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226914">
            <a:off x="8424756" y="3048781"/>
            <a:ext cx="6271820" cy="9622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185"/>
              </a:lnSpc>
            </a:pPr>
            <a:r>
              <a:rPr lang="en-US" sz="7258">
                <a:solidFill>
                  <a:srgbClr val="FFFFFF"/>
                </a:solidFill>
                <a:latin typeface="210 빛글"/>
                <a:ea typeface="210 빛글"/>
                <a:cs typeface="210 빛글"/>
                <a:sym typeface="210 빛글"/>
              </a:rPr>
              <a:t>KONSTANTA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601635" y="5336297"/>
            <a:ext cx="14724427" cy="2647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Playpen Sans"/>
                <a:ea typeface="Playpen Sans"/>
                <a:cs typeface="Playpen Sans"/>
                <a:sym typeface="Playpen Sans"/>
              </a:rPr>
              <a:t>Konstanta merupakan nilai tetap </a:t>
            </a:r>
          </a:p>
          <a:p>
            <a:pPr algn="just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Playpen Sans"/>
                <a:ea typeface="Playpen Sans"/>
                <a:cs typeface="Playpen Sans"/>
                <a:sym typeface="Playpen Sans"/>
              </a:rPr>
              <a:t>Ditulis dengan huruf besar</a:t>
            </a:r>
          </a:p>
          <a:p>
            <a:pPr algn="just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Playpen Sans"/>
                <a:ea typeface="Playpen Sans"/>
                <a:cs typeface="Playpen Sans"/>
                <a:sym typeface="Playpen Sans"/>
              </a:rPr>
              <a:t>Contoh: </a:t>
            </a:r>
          </a:p>
          <a:p>
            <a:pPr algn="just">
              <a:lnSpc>
                <a:spcPts val="4200"/>
              </a:lnSpc>
            </a:pPr>
            <a:r>
              <a:rPr lang="en-US" sz="3000">
                <a:solidFill>
                  <a:srgbClr val="FFFFFF"/>
                </a:solidFill>
                <a:latin typeface="Playpen Sans"/>
                <a:ea typeface="Playpen Sans"/>
                <a:cs typeface="Playpen Sans"/>
                <a:sym typeface="Playpen Sans"/>
              </a:rPr>
              <a:t>              PI = 3.14</a:t>
            </a:r>
          </a:p>
          <a:p>
            <a:pPr algn="just">
              <a:lnSpc>
                <a:spcPts val="4200"/>
              </a:lnSpc>
            </a:pPr>
            <a:r>
              <a:rPr lang="en-US" sz="3000">
                <a:solidFill>
                  <a:srgbClr val="FFFFFF"/>
                </a:solidFill>
                <a:latin typeface="Playpen Sans"/>
                <a:ea typeface="Playpen Sans"/>
                <a:cs typeface="Playpen Sans"/>
                <a:sym typeface="Playpen Sans"/>
              </a:rPr>
              <a:t>              </a:t>
            </a:r>
            <a:r>
              <a:rPr lang="en-US" sz="3000">
                <a:solidFill>
                  <a:srgbClr val="FFFFFF"/>
                </a:solidFill>
                <a:latin typeface="Playpen Sans"/>
                <a:ea typeface="Playpen Sans"/>
                <a:cs typeface="Playpen Sans"/>
                <a:sym typeface="Playpen Sans"/>
              </a:rPr>
              <a:t>MAX_NILAI = 100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-585527" y="-589801"/>
            <a:ext cx="2473954" cy="4194560"/>
          </a:xfrm>
          <a:custGeom>
            <a:avLst/>
            <a:gdLst/>
            <a:ahLst/>
            <a:cxnLst/>
            <a:rect r="r" b="b" t="t" l="l"/>
            <a:pathLst>
              <a:path h="4194560" w="2473954">
                <a:moveTo>
                  <a:pt x="0" y="0"/>
                </a:moveTo>
                <a:lnTo>
                  <a:pt x="2473953" y="0"/>
                </a:lnTo>
                <a:lnTo>
                  <a:pt x="2473953" y="4194560"/>
                </a:lnTo>
                <a:lnTo>
                  <a:pt x="0" y="419456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6326062" y="2169471"/>
            <a:ext cx="1026059" cy="1739672"/>
          </a:xfrm>
          <a:custGeom>
            <a:avLst/>
            <a:gdLst/>
            <a:ahLst/>
            <a:cxnLst/>
            <a:rect r="r" b="b" t="t" l="l"/>
            <a:pathLst>
              <a:path h="1739672" w="1026059">
                <a:moveTo>
                  <a:pt x="0" y="0"/>
                </a:moveTo>
                <a:lnTo>
                  <a:pt x="1026059" y="0"/>
                </a:lnTo>
                <a:lnTo>
                  <a:pt x="1026059" y="1739672"/>
                </a:lnTo>
                <a:lnTo>
                  <a:pt x="0" y="17396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601635" y="9627341"/>
            <a:ext cx="2764746" cy="1319318"/>
          </a:xfrm>
          <a:custGeom>
            <a:avLst/>
            <a:gdLst/>
            <a:ahLst/>
            <a:cxnLst/>
            <a:rect r="r" b="b" t="t" l="l"/>
            <a:pathLst>
              <a:path h="1319318" w="2764746">
                <a:moveTo>
                  <a:pt x="0" y="0"/>
                </a:moveTo>
                <a:lnTo>
                  <a:pt x="2764746" y="0"/>
                </a:lnTo>
                <a:lnTo>
                  <a:pt x="2764746" y="1319318"/>
                </a:lnTo>
                <a:lnTo>
                  <a:pt x="0" y="131931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1273954" y="9627341"/>
            <a:ext cx="2764746" cy="1319318"/>
          </a:xfrm>
          <a:custGeom>
            <a:avLst/>
            <a:gdLst/>
            <a:ahLst/>
            <a:cxnLst/>
            <a:rect r="r" b="b" t="t" l="l"/>
            <a:pathLst>
              <a:path h="1319318" w="2764746">
                <a:moveTo>
                  <a:pt x="0" y="0"/>
                </a:moveTo>
                <a:lnTo>
                  <a:pt x="2764746" y="0"/>
                </a:lnTo>
                <a:lnTo>
                  <a:pt x="2764746" y="1319318"/>
                </a:lnTo>
                <a:lnTo>
                  <a:pt x="0" y="131931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FFB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585527" y="-589801"/>
            <a:ext cx="2357348" cy="3996856"/>
          </a:xfrm>
          <a:custGeom>
            <a:avLst/>
            <a:gdLst/>
            <a:ahLst/>
            <a:cxnLst/>
            <a:rect r="r" b="b" t="t" l="l"/>
            <a:pathLst>
              <a:path h="3996856" w="2357348">
                <a:moveTo>
                  <a:pt x="0" y="0"/>
                </a:moveTo>
                <a:lnTo>
                  <a:pt x="2357347" y="0"/>
                </a:lnTo>
                <a:lnTo>
                  <a:pt x="2357347" y="3996856"/>
                </a:lnTo>
                <a:lnTo>
                  <a:pt x="0" y="399685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6511502" y="-357233"/>
            <a:ext cx="2357348" cy="3996856"/>
          </a:xfrm>
          <a:custGeom>
            <a:avLst/>
            <a:gdLst/>
            <a:ahLst/>
            <a:cxnLst/>
            <a:rect r="r" b="b" t="t" l="l"/>
            <a:pathLst>
              <a:path h="3996856" w="2357348">
                <a:moveTo>
                  <a:pt x="0" y="0"/>
                </a:moveTo>
                <a:lnTo>
                  <a:pt x="2357348" y="0"/>
                </a:lnTo>
                <a:lnTo>
                  <a:pt x="2357348" y="3996856"/>
                </a:lnTo>
                <a:lnTo>
                  <a:pt x="0" y="399685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028700" y="2784759"/>
            <a:ext cx="16230600" cy="6885189"/>
            <a:chOff x="0" y="0"/>
            <a:chExt cx="4013468" cy="170255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013469" cy="1702555"/>
            </a:xfrm>
            <a:custGeom>
              <a:avLst/>
              <a:gdLst/>
              <a:ahLst/>
              <a:cxnLst/>
              <a:rect r="r" b="b" t="t" l="l"/>
              <a:pathLst>
                <a:path h="1702555" w="4013469">
                  <a:moveTo>
                    <a:pt x="16218" y="0"/>
                  </a:moveTo>
                  <a:lnTo>
                    <a:pt x="3997251" y="0"/>
                  </a:lnTo>
                  <a:cubicBezTo>
                    <a:pt x="4006208" y="0"/>
                    <a:pt x="4013469" y="7261"/>
                    <a:pt x="4013469" y="16218"/>
                  </a:cubicBezTo>
                  <a:lnTo>
                    <a:pt x="4013469" y="1686337"/>
                  </a:lnTo>
                  <a:cubicBezTo>
                    <a:pt x="4013469" y="1695294"/>
                    <a:pt x="4006208" y="1702555"/>
                    <a:pt x="3997251" y="1702555"/>
                  </a:cubicBezTo>
                  <a:lnTo>
                    <a:pt x="16218" y="1702555"/>
                  </a:lnTo>
                  <a:cubicBezTo>
                    <a:pt x="7261" y="1702555"/>
                    <a:pt x="0" y="1695294"/>
                    <a:pt x="0" y="1686337"/>
                  </a:cubicBezTo>
                  <a:lnTo>
                    <a:pt x="0" y="16218"/>
                  </a:lnTo>
                  <a:cubicBezTo>
                    <a:pt x="0" y="7261"/>
                    <a:pt x="7261" y="0"/>
                    <a:pt x="16218" y="0"/>
                  </a:cubicBezTo>
                  <a:close/>
                </a:path>
              </a:pathLst>
            </a:custGeom>
            <a:solidFill>
              <a:srgbClr val="00A551"/>
            </a:solidFill>
            <a:ln cap="rnd">
              <a:noFill/>
              <a:prstDash val="solid"/>
              <a:round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4013468" cy="175018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4080041" y="330617"/>
            <a:ext cx="10127919" cy="4124825"/>
            <a:chOff x="0" y="0"/>
            <a:chExt cx="13503892" cy="549976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3503892" cy="5499767"/>
            </a:xfrm>
            <a:custGeom>
              <a:avLst/>
              <a:gdLst/>
              <a:ahLst/>
              <a:cxnLst/>
              <a:rect r="r" b="b" t="t" l="l"/>
              <a:pathLst>
                <a:path h="5499767" w="13503892">
                  <a:moveTo>
                    <a:pt x="0" y="0"/>
                  </a:moveTo>
                  <a:lnTo>
                    <a:pt x="13503892" y="0"/>
                  </a:lnTo>
                  <a:lnTo>
                    <a:pt x="13503892" y="5499767"/>
                  </a:lnTo>
                  <a:lnTo>
                    <a:pt x="0" y="54997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 rot="0">
              <a:off x="1004846" y="2023433"/>
              <a:ext cx="11494200" cy="20075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644"/>
                </a:lnSpc>
              </a:pPr>
              <a:r>
                <a:rPr lang="en-US" sz="5701">
                  <a:solidFill>
                    <a:srgbClr val="FFFFFF"/>
                  </a:solidFill>
                  <a:latin typeface="210 빛글"/>
                  <a:ea typeface="210 빛글"/>
                  <a:cs typeface="210 빛글"/>
                  <a:sym typeface="210 빛글"/>
                </a:rPr>
                <a:t>MEMBACA DAN MENULIS </a:t>
              </a:r>
            </a:p>
            <a:p>
              <a:pPr algn="ctr">
                <a:lnSpc>
                  <a:spcPts val="5644"/>
                </a:lnSpc>
              </a:pPr>
              <a:r>
                <a:rPr lang="en-US" sz="5701">
                  <a:solidFill>
                    <a:srgbClr val="FFFFFF"/>
                  </a:solidFill>
                  <a:latin typeface="210 빛글"/>
                  <a:ea typeface="210 빛글"/>
                  <a:cs typeface="210 빛글"/>
                  <a:sym typeface="210 빛글"/>
                </a:rPr>
                <a:t>(INPUT &amp; OUTPUT)</a:t>
              </a: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1110206">
            <a:off x="16550968" y="6851077"/>
            <a:ext cx="2562534" cy="4344747"/>
          </a:xfrm>
          <a:custGeom>
            <a:avLst/>
            <a:gdLst/>
            <a:ahLst/>
            <a:cxnLst/>
            <a:rect r="r" b="b" t="t" l="l"/>
            <a:pathLst>
              <a:path h="4344747" w="2562534">
                <a:moveTo>
                  <a:pt x="0" y="0"/>
                </a:moveTo>
                <a:lnTo>
                  <a:pt x="2562534" y="0"/>
                </a:lnTo>
                <a:lnTo>
                  <a:pt x="2562534" y="4344747"/>
                </a:lnTo>
                <a:lnTo>
                  <a:pt x="0" y="434474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1110206">
            <a:off x="-818927" y="4796672"/>
            <a:ext cx="2076194" cy="3520164"/>
          </a:xfrm>
          <a:custGeom>
            <a:avLst/>
            <a:gdLst/>
            <a:ahLst/>
            <a:cxnLst/>
            <a:rect r="r" b="b" t="t" l="l"/>
            <a:pathLst>
              <a:path h="3520164" w="2076194">
                <a:moveTo>
                  <a:pt x="0" y="0"/>
                </a:moveTo>
                <a:lnTo>
                  <a:pt x="2076194" y="0"/>
                </a:lnTo>
                <a:lnTo>
                  <a:pt x="2076194" y="3520164"/>
                </a:lnTo>
                <a:lnTo>
                  <a:pt x="0" y="35201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781235" y="5045992"/>
            <a:ext cx="12627670" cy="3714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Playpen Sans"/>
                <a:ea typeface="Playpen Sans"/>
                <a:cs typeface="Playpen Sans"/>
                <a:sym typeface="Playpen Sans"/>
              </a:rPr>
              <a:t>Input digunakan untuk membaca data dari pengguna. Fungsi yang digunakan adalah </a:t>
            </a:r>
            <a:r>
              <a:rPr lang="en-US" sz="3000">
                <a:solidFill>
                  <a:srgbClr val="FECC56"/>
                </a:solidFill>
                <a:latin typeface="Playpen Sans"/>
                <a:ea typeface="Playpen Sans"/>
                <a:cs typeface="Playpen Sans"/>
                <a:sym typeface="Playpen Sans"/>
              </a:rPr>
              <a:t>input().</a:t>
            </a:r>
          </a:p>
          <a:p>
            <a:pPr algn="just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Playpen Sans"/>
                <a:ea typeface="Playpen Sans"/>
                <a:cs typeface="Playpen Sans"/>
                <a:sym typeface="Playpen Sans"/>
              </a:rPr>
              <a:t>Output digunakan untuk menampilkan hasil ke</a:t>
            </a:r>
            <a:r>
              <a:rPr lang="en-US" sz="3000">
                <a:solidFill>
                  <a:srgbClr val="FFFFFF"/>
                </a:solidFill>
                <a:latin typeface="Playpen Sans"/>
                <a:ea typeface="Playpen Sans"/>
                <a:cs typeface="Playpen Sans"/>
                <a:sym typeface="Playpen Sans"/>
              </a:rPr>
              <a:t> l</a:t>
            </a:r>
            <a:r>
              <a:rPr lang="en-US" sz="3000">
                <a:solidFill>
                  <a:srgbClr val="FFFFFF"/>
                </a:solidFill>
                <a:latin typeface="Playpen Sans"/>
                <a:ea typeface="Playpen Sans"/>
                <a:cs typeface="Playpen Sans"/>
                <a:sym typeface="Playpen Sans"/>
              </a:rPr>
              <a:t>ayar. Fungsi yang digunakan adalah </a:t>
            </a:r>
            <a:r>
              <a:rPr lang="en-US" sz="3000">
                <a:solidFill>
                  <a:srgbClr val="FECC56"/>
                </a:solidFill>
                <a:latin typeface="Playpen Sans"/>
                <a:ea typeface="Playpen Sans"/>
                <a:cs typeface="Playpen Sans"/>
                <a:sym typeface="Playpen Sans"/>
              </a:rPr>
              <a:t>print()</a:t>
            </a:r>
            <a:r>
              <a:rPr lang="en-US" sz="3000">
                <a:solidFill>
                  <a:srgbClr val="FFFFFF"/>
                </a:solidFill>
                <a:latin typeface="Playpen Sans"/>
                <a:ea typeface="Playpen Sans"/>
                <a:cs typeface="Playpen Sans"/>
                <a:sym typeface="Playpen Sans"/>
              </a:rPr>
              <a:t>.</a:t>
            </a:r>
          </a:p>
          <a:p>
            <a:pPr algn="just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Playpen Sans"/>
                <a:ea typeface="Playpen Sans"/>
                <a:cs typeface="Playpen Sans"/>
                <a:sym typeface="Playpen Sans"/>
              </a:rPr>
              <a:t>Contoh: </a:t>
            </a:r>
          </a:p>
          <a:p>
            <a:pPr algn="just">
              <a:lnSpc>
                <a:spcPts val="4200"/>
              </a:lnSpc>
            </a:pPr>
            <a:r>
              <a:rPr lang="en-US" sz="3000">
                <a:solidFill>
                  <a:srgbClr val="FFFFFF"/>
                </a:solidFill>
                <a:latin typeface="Playpen Sans"/>
                <a:ea typeface="Playpen Sans"/>
                <a:cs typeface="Playpen Sans"/>
                <a:sym typeface="Playpen Sans"/>
              </a:rPr>
              <a:t>              nama = input("Masukkan nama: ")</a:t>
            </a:r>
          </a:p>
          <a:p>
            <a:pPr algn="just">
              <a:lnSpc>
                <a:spcPts val="4200"/>
              </a:lnSpc>
            </a:pPr>
            <a:r>
              <a:rPr lang="en-US" sz="3000">
                <a:solidFill>
                  <a:srgbClr val="FFFFFF"/>
                </a:solidFill>
                <a:latin typeface="Playpen Sans"/>
                <a:ea typeface="Playpen Sans"/>
                <a:cs typeface="Playpen Sans"/>
                <a:sym typeface="Playpen Sans"/>
              </a:rPr>
              <a:t>              </a:t>
            </a:r>
            <a:r>
              <a:rPr lang="en-US" sz="3000">
                <a:solidFill>
                  <a:srgbClr val="FFFFFF"/>
                </a:solidFill>
                <a:latin typeface="Playpen Sans"/>
                <a:ea typeface="Playpen Sans"/>
                <a:cs typeface="Playpen Sans"/>
                <a:sym typeface="Playpen Sans"/>
              </a:rPr>
              <a:t>print("Halo", nama)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FFB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585527" y="-589801"/>
            <a:ext cx="2357348" cy="3996856"/>
          </a:xfrm>
          <a:custGeom>
            <a:avLst/>
            <a:gdLst/>
            <a:ahLst/>
            <a:cxnLst/>
            <a:rect r="r" b="b" t="t" l="l"/>
            <a:pathLst>
              <a:path h="3996856" w="2357348">
                <a:moveTo>
                  <a:pt x="0" y="0"/>
                </a:moveTo>
                <a:lnTo>
                  <a:pt x="2357347" y="0"/>
                </a:lnTo>
                <a:lnTo>
                  <a:pt x="2357347" y="3996856"/>
                </a:lnTo>
                <a:lnTo>
                  <a:pt x="0" y="399685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6511502" y="-357233"/>
            <a:ext cx="2357348" cy="3996856"/>
          </a:xfrm>
          <a:custGeom>
            <a:avLst/>
            <a:gdLst/>
            <a:ahLst/>
            <a:cxnLst/>
            <a:rect r="r" b="b" t="t" l="l"/>
            <a:pathLst>
              <a:path h="3996856" w="2357348">
                <a:moveTo>
                  <a:pt x="0" y="0"/>
                </a:moveTo>
                <a:lnTo>
                  <a:pt x="2357348" y="0"/>
                </a:lnTo>
                <a:lnTo>
                  <a:pt x="2357348" y="3996856"/>
                </a:lnTo>
                <a:lnTo>
                  <a:pt x="0" y="399685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5876475" y="1171575"/>
            <a:ext cx="6588282" cy="2683228"/>
          </a:xfrm>
          <a:custGeom>
            <a:avLst/>
            <a:gdLst/>
            <a:ahLst/>
            <a:cxnLst/>
            <a:rect r="r" b="b" t="t" l="l"/>
            <a:pathLst>
              <a:path h="2683228" w="6588282">
                <a:moveTo>
                  <a:pt x="0" y="0"/>
                </a:moveTo>
                <a:lnTo>
                  <a:pt x="6588282" y="0"/>
                </a:lnTo>
                <a:lnTo>
                  <a:pt x="6588282" y="2683228"/>
                </a:lnTo>
                <a:lnTo>
                  <a:pt x="0" y="268322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6707046" y="2183888"/>
            <a:ext cx="4927141" cy="7633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44"/>
              </a:lnSpc>
            </a:pPr>
            <a:r>
              <a:rPr lang="en-US" sz="5701">
                <a:solidFill>
                  <a:srgbClr val="FFFFFF"/>
                </a:solidFill>
                <a:latin typeface="210 빛글"/>
                <a:ea typeface="210 빛글"/>
                <a:cs typeface="210 빛글"/>
                <a:sym typeface="210 빛글"/>
              </a:rPr>
              <a:t>EKSPRESI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028700" y="4241221"/>
            <a:ext cx="16230600" cy="5571941"/>
            <a:chOff x="0" y="0"/>
            <a:chExt cx="4013468" cy="137781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013469" cy="1377818"/>
            </a:xfrm>
            <a:custGeom>
              <a:avLst/>
              <a:gdLst/>
              <a:ahLst/>
              <a:cxnLst/>
              <a:rect r="r" b="b" t="t" l="l"/>
              <a:pathLst>
                <a:path h="1377818" w="4013469">
                  <a:moveTo>
                    <a:pt x="16218" y="0"/>
                  </a:moveTo>
                  <a:lnTo>
                    <a:pt x="3997251" y="0"/>
                  </a:lnTo>
                  <a:cubicBezTo>
                    <a:pt x="4006208" y="0"/>
                    <a:pt x="4013469" y="7261"/>
                    <a:pt x="4013469" y="16218"/>
                  </a:cubicBezTo>
                  <a:lnTo>
                    <a:pt x="4013469" y="1361600"/>
                  </a:lnTo>
                  <a:cubicBezTo>
                    <a:pt x="4013469" y="1370557"/>
                    <a:pt x="4006208" y="1377818"/>
                    <a:pt x="3997251" y="1377818"/>
                  </a:cubicBezTo>
                  <a:lnTo>
                    <a:pt x="16218" y="1377818"/>
                  </a:lnTo>
                  <a:cubicBezTo>
                    <a:pt x="7261" y="1377818"/>
                    <a:pt x="0" y="1370557"/>
                    <a:pt x="0" y="1361600"/>
                  </a:cubicBezTo>
                  <a:lnTo>
                    <a:pt x="0" y="16218"/>
                  </a:lnTo>
                  <a:cubicBezTo>
                    <a:pt x="0" y="7261"/>
                    <a:pt x="7261" y="0"/>
                    <a:pt x="16218" y="0"/>
                  </a:cubicBezTo>
                  <a:close/>
                </a:path>
              </a:pathLst>
            </a:custGeom>
            <a:solidFill>
              <a:srgbClr val="00A551"/>
            </a:solidFill>
            <a:ln cap="rnd">
              <a:noFill/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4013468" cy="14254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1110206">
            <a:off x="16550968" y="6851077"/>
            <a:ext cx="2562534" cy="4344747"/>
          </a:xfrm>
          <a:custGeom>
            <a:avLst/>
            <a:gdLst/>
            <a:ahLst/>
            <a:cxnLst/>
            <a:rect r="r" b="b" t="t" l="l"/>
            <a:pathLst>
              <a:path h="4344747" w="2562534">
                <a:moveTo>
                  <a:pt x="0" y="0"/>
                </a:moveTo>
                <a:lnTo>
                  <a:pt x="2562534" y="0"/>
                </a:lnTo>
                <a:lnTo>
                  <a:pt x="2562534" y="4344747"/>
                </a:lnTo>
                <a:lnTo>
                  <a:pt x="0" y="434474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1110206">
            <a:off x="-818927" y="4796672"/>
            <a:ext cx="2076194" cy="3520164"/>
          </a:xfrm>
          <a:custGeom>
            <a:avLst/>
            <a:gdLst/>
            <a:ahLst/>
            <a:cxnLst/>
            <a:rect r="r" b="b" t="t" l="l"/>
            <a:pathLst>
              <a:path h="3520164" w="2076194">
                <a:moveTo>
                  <a:pt x="0" y="0"/>
                </a:moveTo>
                <a:lnTo>
                  <a:pt x="2076194" y="0"/>
                </a:lnTo>
                <a:lnTo>
                  <a:pt x="2076194" y="3520164"/>
                </a:lnTo>
                <a:lnTo>
                  <a:pt x="0" y="35201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685985" y="4617367"/>
            <a:ext cx="12627670" cy="4781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Playpen Sans"/>
                <a:ea typeface="Playpen Sans"/>
                <a:cs typeface="Playpen Sans"/>
                <a:sym typeface="Playpen Sans"/>
              </a:rPr>
              <a:t>Ekspresi merupakan gabungan nilai, variabel, dan operator</a:t>
            </a:r>
          </a:p>
          <a:p>
            <a:pPr algn="just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Playpen Sans"/>
                <a:ea typeface="Playpen Sans"/>
                <a:cs typeface="Playpen Sans"/>
                <a:sym typeface="Playpen Sans"/>
              </a:rPr>
              <a:t>Menghasilkan suatu nilai</a:t>
            </a:r>
          </a:p>
          <a:p>
            <a:pPr algn="just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Playpen Sans"/>
                <a:ea typeface="Playpen Sans"/>
                <a:cs typeface="Playpen Sans"/>
                <a:sym typeface="Playpen Sans"/>
              </a:rPr>
              <a:t>Jenis operator:</a:t>
            </a:r>
          </a:p>
          <a:p>
            <a:pPr algn="just">
              <a:lnSpc>
                <a:spcPts val="4200"/>
              </a:lnSpc>
            </a:pPr>
            <a:r>
              <a:rPr lang="en-US" sz="3000">
                <a:solidFill>
                  <a:srgbClr val="FFFFFF"/>
                </a:solidFill>
                <a:latin typeface="Playpen Sans"/>
                <a:ea typeface="Playpen Sans"/>
                <a:cs typeface="Playpen Sans"/>
                <a:sym typeface="Playpen Sans"/>
              </a:rPr>
              <a:t>    (1) Penugasan → =</a:t>
            </a:r>
          </a:p>
          <a:p>
            <a:pPr algn="just">
              <a:lnSpc>
                <a:spcPts val="4200"/>
              </a:lnSpc>
            </a:pPr>
            <a:r>
              <a:rPr lang="en-US" sz="3000">
                <a:solidFill>
                  <a:srgbClr val="FFFFFF"/>
                </a:solidFill>
                <a:latin typeface="Playpen Sans"/>
                <a:ea typeface="Playpen Sans"/>
                <a:cs typeface="Playpen Sans"/>
                <a:sym typeface="Playpen Sans"/>
              </a:rPr>
              <a:t>    (2) </a:t>
            </a:r>
            <a:r>
              <a:rPr lang="en-US" sz="3000">
                <a:solidFill>
                  <a:srgbClr val="FFFFFF"/>
                </a:solidFill>
                <a:latin typeface="Playpen Sans"/>
                <a:ea typeface="Playpen Sans"/>
                <a:cs typeface="Playpen Sans"/>
                <a:sym typeface="Playpen Sans"/>
              </a:rPr>
              <a:t>Aritmatika → + - * / %</a:t>
            </a:r>
          </a:p>
          <a:p>
            <a:pPr algn="just">
              <a:lnSpc>
                <a:spcPts val="4200"/>
              </a:lnSpc>
            </a:pPr>
            <a:r>
              <a:rPr lang="en-US" sz="3000">
                <a:solidFill>
                  <a:srgbClr val="FFFFFF"/>
                </a:solidFill>
                <a:latin typeface="Playpen Sans"/>
                <a:ea typeface="Playpen Sans"/>
                <a:cs typeface="Playpen Sans"/>
                <a:sym typeface="Playpen Sans"/>
              </a:rPr>
              <a:t>    (3) </a:t>
            </a:r>
            <a:r>
              <a:rPr lang="en-US" sz="3000">
                <a:solidFill>
                  <a:srgbClr val="FFFFFF"/>
                </a:solidFill>
                <a:latin typeface="Playpen Sans"/>
                <a:ea typeface="Playpen Sans"/>
                <a:cs typeface="Playpen Sans"/>
                <a:sym typeface="Playpen Sans"/>
              </a:rPr>
              <a:t>Relasional → &gt; &lt; &gt;= &lt;=</a:t>
            </a:r>
          </a:p>
          <a:p>
            <a:pPr algn="just">
              <a:lnSpc>
                <a:spcPts val="4200"/>
              </a:lnSpc>
            </a:pPr>
            <a:r>
              <a:rPr lang="en-US" sz="3000">
                <a:solidFill>
                  <a:srgbClr val="FFFFFF"/>
                </a:solidFill>
                <a:latin typeface="Playpen Sans"/>
                <a:ea typeface="Playpen Sans"/>
                <a:cs typeface="Playpen Sans"/>
                <a:sym typeface="Playpen Sans"/>
              </a:rPr>
              <a:t>    (4) </a:t>
            </a:r>
            <a:r>
              <a:rPr lang="en-US" sz="3000">
                <a:solidFill>
                  <a:srgbClr val="FFFFFF"/>
                </a:solidFill>
                <a:latin typeface="Playpen Sans"/>
                <a:ea typeface="Playpen Sans"/>
                <a:cs typeface="Playpen Sans"/>
                <a:sym typeface="Playpen Sans"/>
              </a:rPr>
              <a:t>Kesamaan → == !=</a:t>
            </a:r>
          </a:p>
          <a:p>
            <a:pPr algn="just">
              <a:lnSpc>
                <a:spcPts val="4200"/>
              </a:lnSpc>
            </a:pPr>
            <a:r>
              <a:rPr lang="en-US" sz="3000">
                <a:solidFill>
                  <a:srgbClr val="FFFFFF"/>
                </a:solidFill>
                <a:latin typeface="Playpen Sans"/>
                <a:ea typeface="Playpen Sans"/>
                <a:cs typeface="Playpen Sans"/>
                <a:sym typeface="Playpen Sans"/>
              </a:rPr>
              <a:t>    (5) </a:t>
            </a:r>
            <a:r>
              <a:rPr lang="en-US" sz="3000">
                <a:solidFill>
                  <a:srgbClr val="FFFFFF"/>
                </a:solidFill>
                <a:latin typeface="Playpen Sans"/>
                <a:ea typeface="Playpen Sans"/>
                <a:cs typeface="Playpen Sans"/>
                <a:sym typeface="Playpen Sans"/>
              </a:rPr>
              <a:t>Logika → and, or, not</a:t>
            </a:r>
          </a:p>
          <a:p>
            <a:pPr algn="just">
              <a:lnSpc>
                <a:spcPts val="4200"/>
              </a:lnSpc>
            </a:pPr>
            <a:r>
              <a:rPr lang="en-US" sz="3000">
                <a:solidFill>
                  <a:srgbClr val="FFFFFF"/>
                </a:solidFill>
                <a:latin typeface="Playpen Sans"/>
                <a:ea typeface="Playpen Sans"/>
                <a:cs typeface="Playpen Sans"/>
                <a:sym typeface="Playpen Sans"/>
              </a:rPr>
              <a:t>    (6) </a:t>
            </a:r>
            <a:r>
              <a:rPr lang="en-US" sz="3000">
                <a:solidFill>
                  <a:srgbClr val="FFFFFF"/>
                </a:solidFill>
                <a:latin typeface="Playpen Sans"/>
                <a:ea typeface="Playpen Sans"/>
                <a:cs typeface="Playpen Sans"/>
                <a:sym typeface="Playpen Sans"/>
              </a:rPr>
              <a:t>Increment/Decrement → +=, -=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FFB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585527" y="-589801"/>
            <a:ext cx="2357348" cy="3996856"/>
          </a:xfrm>
          <a:custGeom>
            <a:avLst/>
            <a:gdLst/>
            <a:ahLst/>
            <a:cxnLst/>
            <a:rect r="r" b="b" t="t" l="l"/>
            <a:pathLst>
              <a:path h="3996856" w="2357348">
                <a:moveTo>
                  <a:pt x="0" y="0"/>
                </a:moveTo>
                <a:lnTo>
                  <a:pt x="2357347" y="0"/>
                </a:lnTo>
                <a:lnTo>
                  <a:pt x="2357347" y="3996856"/>
                </a:lnTo>
                <a:lnTo>
                  <a:pt x="0" y="399685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6511502" y="-357233"/>
            <a:ext cx="2357348" cy="3996856"/>
          </a:xfrm>
          <a:custGeom>
            <a:avLst/>
            <a:gdLst/>
            <a:ahLst/>
            <a:cxnLst/>
            <a:rect r="r" b="b" t="t" l="l"/>
            <a:pathLst>
              <a:path h="3996856" w="2357348">
                <a:moveTo>
                  <a:pt x="0" y="0"/>
                </a:moveTo>
                <a:lnTo>
                  <a:pt x="2357348" y="0"/>
                </a:lnTo>
                <a:lnTo>
                  <a:pt x="2357348" y="3996856"/>
                </a:lnTo>
                <a:lnTo>
                  <a:pt x="0" y="399685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176553" y="3943570"/>
            <a:ext cx="15934893" cy="4631660"/>
            <a:chOff x="0" y="0"/>
            <a:chExt cx="4461091" cy="129666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461090" cy="1296667"/>
            </a:xfrm>
            <a:custGeom>
              <a:avLst/>
              <a:gdLst/>
              <a:ahLst/>
              <a:cxnLst/>
              <a:rect r="r" b="b" t="t" l="l"/>
              <a:pathLst>
                <a:path h="1296667" w="4461090">
                  <a:moveTo>
                    <a:pt x="48585" y="0"/>
                  </a:moveTo>
                  <a:lnTo>
                    <a:pt x="4412506" y="0"/>
                  </a:lnTo>
                  <a:cubicBezTo>
                    <a:pt x="4439338" y="0"/>
                    <a:pt x="4461090" y="21752"/>
                    <a:pt x="4461090" y="48585"/>
                  </a:cubicBezTo>
                  <a:lnTo>
                    <a:pt x="4461090" y="1248083"/>
                  </a:lnTo>
                  <a:cubicBezTo>
                    <a:pt x="4461090" y="1274915"/>
                    <a:pt x="4439338" y="1296667"/>
                    <a:pt x="4412506" y="1296667"/>
                  </a:cubicBezTo>
                  <a:lnTo>
                    <a:pt x="48585" y="1296667"/>
                  </a:lnTo>
                  <a:cubicBezTo>
                    <a:pt x="21752" y="1296667"/>
                    <a:pt x="0" y="1274915"/>
                    <a:pt x="0" y="1248083"/>
                  </a:cubicBezTo>
                  <a:lnTo>
                    <a:pt x="0" y="48585"/>
                  </a:lnTo>
                  <a:cubicBezTo>
                    <a:pt x="0" y="21752"/>
                    <a:pt x="21752" y="0"/>
                    <a:pt x="48585" y="0"/>
                  </a:cubicBezTo>
                  <a:close/>
                </a:path>
              </a:pathLst>
            </a:custGeom>
            <a:solidFill>
              <a:srgbClr val="00A551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28575"/>
              <a:ext cx="4461091" cy="13252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5698455" y="1711770"/>
            <a:ext cx="6891090" cy="2806553"/>
          </a:xfrm>
          <a:custGeom>
            <a:avLst/>
            <a:gdLst/>
            <a:ahLst/>
            <a:cxnLst/>
            <a:rect r="r" b="b" t="t" l="l"/>
            <a:pathLst>
              <a:path h="2806553" w="6891090">
                <a:moveTo>
                  <a:pt x="0" y="0"/>
                </a:moveTo>
                <a:lnTo>
                  <a:pt x="6891090" y="0"/>
                </a:lnTo>
                <a:lnTo>
                  <a:pt x="6891090" y="2806553"/>
                </a:lnTo>
                <a:lnTo>
                  <a:pt x="0" y="280655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6567200" y="2381773"/>
            <a:ext cx="5153600" cy="15618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04"/>
              </a:lnSpc>
            </a:pPr>
            <a:r>
              <a:rPr lang="en-US" sz="5964">
                <a:solidFill>
                  <a:srgbClr val="FFFFFF"/>
                </a:solidFill>
                <a:latin typeface="210 빛글"/>
                <a:ea typeface="210 빛글"/>
                <a:cs typeface="210 빛글"/>
                <a:sym typeface="210 빛글"/>
              </a:rPr>
              <a:t>STRUKTUR KEPUTUSAN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526068">
            <a:off x="15871366" y="5306997"/>
            <a:ext cx="3324886" cy="5637308"/>
          </a:xfrm>
          <a:custGeom>
            <a:avLst/>
            <a:gdLst/>
            <a:ahLst/>
            <a:cxnLst/>
            <a:rect r="r" b="b" t="t" l="l"/>
            <a:pathLst>
              <a:path h="5637308" w="3324886">
                <a:moveTo>
                  <a:pt x="0" y="0"/>
                </a:moveTo>
                <a:lnTo>
                  <a:pt x="3324887" y="0"/>
                </a:lnTo>
                <a:lnTo>
                  <a:pt x="3324887" y="5637308"/>
                </a:lnTo>
                <a:lnTo>
                  <a:pt x="0" y="563730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-1133292">
            <a:off x="594633" y="5756576"/>
            <a:ext cx="3324886" cy="5637308"/>
          </a:xfrm>
          <a:custGeom>
            <a:avLst/>
            <a:gdLst/>
            <a:ahLst/>
            <a:cxnLst/>
            <a:rect r="r" b="b" t="t" l="l"/>
            <a:pathLst>
              <a:path h="5637308" w="3324886">
                <a:moveTo>
                  <a:pt x="0" y="0"/>
                </a:moveTo>
                <a:lnTo>
                  <a:pt x="3324887" y="0"/>
                </a:lnTo>
                <a:lnTo>
                  <a:pt x="3324887" y="5637308"/>
                </a:lnTo>
                <a:lnTo>
                  <a:pt x="0" y="563730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7761627" y="9737280"/>
            <a:ext cx="2764746" cy="1319318"/>
          </a:xfrm>
          <a:custGeom>
            <a:avLst/>
            <a:gdLst/>
            <a:ahLst/>
            <a:cxnLst/>
            <a:rect r="r" b="b" t="t" l="l"/>
            <a:pathLst>
              <a:path h="1319318" w="2764746">
                <a:moveTo>
                  <a:pt x="0" y="0"/>
                </a:moveTo>
                <a:lnTo>
                  <a:pt x="2764746" y="0"/>
                </a:lnTo>
                <a:lnTo>
                  <a:pt x="2764746" y="1319318"/>
                </a:lnTo>
                <a:lnTo>
                  <a:pt x="0" y="131931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3859286" y="4693476"/>
            <a:ext cx="12664929" cy="3422650"/>
            <a:chOff x="0" y="0"/>
            <a:chExt cx="16886572" cy="4563533"/>
          </a:xfrm>
        </p:grpSpPr>
        <p:sp>
          <p:nvSpPr>
            <p:cNvPr name="TextBox 13" id="13"/>
            <p:cNvSpPr txBox="true"/>
            <p:nvPr/>
          </p:nvSpPr>
          <p:spPr>
            <a:xfrm rot="0">
              <a:off x="0" y="863600"/>
              <a:ext cx="6206026" cy="276013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863599" indent="-431800" lvl="1">
                <a:lnSpc>
                  <a:spcPts val="5599"/>
                </a:lnSpc>
                <a:buFont typeface="Arial"/>
                <a:buChar char="•"/>
              </a:pPr>
              <a:r>
                <a:rPr lang="en-US" sz="3999">
                  <a:solidFill>
                    <a:srgbClr val="FFFFFF"/>
                  </a:solidFill>
                  <a:latin typeface="Playpen Sans"/>
                  <a:ea typeface="Playpen Sans"/>
                  <a:cs typeface="Playpen Sans"/>
                  <a:sym typeface="Playpen Sans"/>
                </a:rPr>
                <a:t>if</a:t>
              </a:r>
            </a:p>
            <a:p>
              <a:pPr algn="l" marL="863599" indent="-431800" lvl="1">
                <a:lnSpc>
                  <a:spcPts val="5599"/>
                </a:lnSpc>
                <a:buFont typeface="Arial"/>
                <a:buChar char="•"/>
              </a:pPr>
              <a:r>
                <a:rPr lang="en-US" sz="3999">
                  <a:solidFill>
                    <a:srgbClr val="FFFFFF"/>
                  </a:solidFill>
                  <a:latin typeface="Playpen Sans"/>
                  <a:ea typeface="Playpen Sans"/>
                  <a:cs typeface="Playpen Sans"/>
                  <a:sym typeface="Playpen Sans"/>
                </a:rPr>
                <a:t>if-else</a:t>
              </a:r>
            </a:p>
            <a:p>
              <a:pPr algn="l" marL="863599" indent="-431800" lvl="1">
                <a:lnSpc>
                  <a:spcPts val="5599"/>
                </a:lnSpc>
                <a:buFont typeface="Arial"/>
                <a:buChar char="•"/>
              </a:pPr>
              <a:r>
                <a:rPr lang="en-US" sz="3999">
                  <a:solidFill>
                    <a:srgbClr val="FFFFFF"/>
                  </a:solidFill>
                  <a:latin typeface="Playpen Sans"/>
                  <a:ea typeface="Playpen Sans"/>
                  <a:cs typeface="Playpen Sans"/>
                  <a:sym typeface="Playpen Sans"/>
                </a:rPr>
                <a:t>nested if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7990759" y="-76200"/>
              <a:ext cx="8895812" cy="463973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599"/>
                </a:lnSpc>
              </a:pPr>
              <a:r>
                <a:rPr lang="en-US" sz="3999" b="true">
                  <a:solidFill>
                    <a:srgbClr val="FFFFFF"/>
                  </a:solidFill>
                  <a:latin typeface="Playpen Sans Bold"/>
                  <a:ea typeface="Playpen Sans Bold"/>
                  <a:cs typeface="Playpen Sans Bold"/>
                  <a:sym typeface="Playpen Sans Bold"/>
                </a:rPr>
                <a:t>Contoh:</a:t>
              </a:r>
            </a:p>
            <a:p>
              <a:pPr algn="l">
                <a:lnSpc>
                  <a:spcPts val="5599"/>
                </a:lnSpc>
              </a:pPr>
              <a:r>
                <a:rPr lang="en-US" sz="3999">
                  <a:solidFill>
                    <a:srgbClr val="FFFFFF"/>
                  </a:solidFill>
                  <a:latin typeface="Playpen Sans"/>
                  <a:ea typeface="Playpen Sans"/>
                  <a:cs typeface="Playpen Sans"/>
                  <a:sym typeface="Playpen Sans"/>
                </a:rPr>
                <a:t>if nilai &gt;= 75:</a:t>
              </a:r>
            </a:p>
            <a:p>
              <a:pPr algn="l">
                <a:lnSpc>
                  <a:spcPts val="5599"/>
                </a:lnSpc>
              </a:pPr>
              <a:r>
                <a:rPr lang="en-US" sz="3999">
                  <a:solidFill>
                    <a:srgbClr val="FFFFFF"/>
                  </a:solidFill>
                  <a:latin typeface="Playpen Sans"/>
                  <a:ea typeface="Playpen Sans"/>
                  <a:cs typeface="Playpen Sans"/>
                  <a:sym typeface="Playpen Sans"/>
                </a:rPr>
                <a:t> print("Lulus")</a:t>
              </a:r>
            </a:p>
            <a:p>
              <a:pPr algn="l">
                <a:lnSpc>
                  <a:spcPts val="5599"/>
                </a:lnSpc>
              </a:pPr>
              <a:r>
                <a:rPr lang="en-US" sz="3999">
                  <a:solidFill>
                    <a:srgbClr val="FFFFFF"/>
                  </a:solidFill>
                  <a:latin typeface="Playpen Sans"/>
                  <a:ea typeface="Playpen Sans"/>
                  <a:cs typeface="Playpen Sans"/>
                  <a:sym typeface="Playpen Sans"/>
                </a:rPr>
                <a:t>else:</a:t>
              </a:r>
            </a:p>
            <a:p>
              <a:pPr algn="l">
                <a:lnSpc>
                  <a:spcPts val="5599"/>
                </a:lnSpc>
              </a:pPr>
              <a:r>
                <a:rPr lang="en-US" sz="3999">
                  <a:solidFill>
                    <a:srgbClr val="FFFFFF"/>
                  </a:solidFill>
                  <a:latin typeface="Playpen Sans"/>
                  <a:ea typeface="Playpen Sans"/>
                  <a:cs typeface="Playpen Sans"/>
                  <a:sym typeface="Playpen Sans"/>
                </a:rPr>
                <a:t> print("Tidak Lulus")</a:t>
              </a:r>
            </a:p>
          </p:txBody>
        </p:sp>
      </p:grp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FFB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585527" y="-589801"/>
            <a:ext cx="2357348" cy="3996856"/>
          </a:xfrm>
          <a:custGeom>
            <a:avLst/>
            <a:gdLst/>
            <a:ahLst/>
            <a:cxnLst/>
            <a:rect r="r" b="b" t="t" l="l"/>
            <a:pathLst>
              <a:path h="3996856" w="2357348">
                <a:moveTo>
                  <a:pt x="0" y="0"/>
                </a:moveTo>
                <a:lnTo>
                  <a:pt x="2357347" y="0"/>
                </a:lnTo>
                <a:lnTo>
                  <a:pt x="2357347" y="3996856"/>
                </a:lnTo>
                <a:lnTo>
                  <a:pt x="0" y="399685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6511502" y="-357233"/>
            <a:ext cx="2357348" cy="3996856"/>
          </a:xfrm>
          <a:custGeom>
            <a:avLst/>
            <a:gdLst/>
            <a:ahLst/>
            <a:cxnLst/>
            <a:rect r="r" b="b" t="t" l="l"/>
            <a:pathLst>
              <a:path h="3996856" w="2357348">
                <a:moveTo>
                  <a:pt x="0" y="0"/>
                </a:moveTo>
                <a:lnTo>
                  <a:pt x="2357348" y="0"/>
                </a:lnTo>
                <a:lnTo>
                  <a:pt x="2357348" y="3996856"/>
                </a:lnTo>
                <a:lnTo>
                  <a:pt x="0" y="399685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176553" y="3943570"/>
            <a:ext cx="15934893" cy="4631660"/>
            <a:chOff x="0" y="0"/>
            <a:chExt cx="4461091" cy="129666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461090" cy="1296667"/>
            </a:xfrm>
            <a:custGeom>
              <a:avLst/>
              <a:gdLst/>
              <a:ahLst/>
              <a:cxnLst/>
              <a:rect r="r" b="b" t="t" l="l"/>
              <a:pathLst>
                <a:path h="1296667" w="4461090">
                  <a:moveTo>
                    <a:pt x="48585" y="0"/>
                  </a:moveTo>
                  <a:lnTo>
                    <a:pt x="4412506" y="0"/>
                  </a:lnTo>
                  <a:cubicBezTo>
                    <a:pt x="4439338" y="0"/>
                    <a:pt x="4461090" y="21752"/>
                    <a:pt x="4461090" y="48585"/>
                  </a:cubicBezTo>
                  <a:lnTo>
                    <a:pt x="4461090" y="1248083"/>
                  </a:lnTo>
                  <a:cubicBezTo>
                    <a:pt x="4461090" y="1274915"/>
                    <a:pt x="4439338" y="1296667"/>
                    <a:pt x="4412506" y="1296667"/>
                  </a:cubicBezTo>
                  <a:lnTo>
                    <a:pt x="48585" y="1296667"/>
                  </a:lnTo>
                  <a:cubicBezTo>
                    <a:pt x="21752" y="1296667"/>
                    <a:pt x="0" y="1274915"/>
                    <a:pt x="0" y="1248083"/>
                  </a:cubicBezTo>
                  <a:lnTo>
                    <a:pt x="0" y="48585"/>
                  </a:lnTo>
                  <a:cubicBezTo>
                    <a:pt x="0" y="21752"/>
                    <a:pt x="21752" y="0"/>
                    <a:pt x="48585" y="0"/>
                  </a:cubicBezTo>
                  <a:close/>
                </a:path>
              </a:pathLst>
            </a:custGeom>
            <a:solidFill>
              <a:srgbClr val="00A551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28575"/>
              <a:ext cx="4461091" cy="13252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5698455" y="1711770"/>
            <a:ext cx="6891090" cy="2806553"/>
          </a:xfrm>
          <a:custGeom>
            <a:avLst/>
            <a:gdLst/>
            <a:ahLst/>
            <a:cxnLst/>
            <a:rect r="r" b="b" t="t" l="l"/>
            <a:pathLst>
              <a:path h="2806553" w="6891090">
                <a:moveTo>
                  <a:pt x="0" y="0"/>
                </a:moveTo>
                <a:lnTo>
                  <a:pt x="6891090" y="0"/>
                </a:lnTo>
                <a:lnTo>
                  <a:pt x="6891090" y="2806553"/>
                </a:lnTo>
                <a:lnTo>
                  <a:pt x="0" y="280655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6567200" y="2381773"/>
            <a:ext cx="5153600" cy="15618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04"/>
              </a:lnSpc>
            </a:pPr>
            <a:r>
              <a:rPr lang="en-US" sz="5964">
                <a:solidFill>
                  <a:srgbClr val="FFFFFF"/>
                </a:solidFill>
                <a:latin typeface="210 빛글"/>
                <a:ea typeface="210 빛글"/>
                <a:cs typeface="210 빛글"/>
                <a:sym typeface="210 빛글"/>
              </a:rPr>
              <a:t>STRUKTUR PERULANGAN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526068">
            <a:off x="15871366" y="5306997"/>
            <a:ext cx="3324886" cy="5637308"/>
          </a:xfrm>
          <a:custGeom>
            <a:avLst/>
            <a:gdLst/>
            <a:ahLst/>
            <a:cxnLst/>
            <a:rect r="r" b="b" t="t" l="l"/>
            <a:pathLst>
              <a:path h="5637308" w="3324886">
                <a:moveTo>
                  <a:pt x="0" y="0"/>
                </a:moveTo>
                <a:lnTo>
                  <a:pt x="3324887" y="0"/>
                </a:lnTo>
                <a:lnTo>
                  <a:pt x="3324887" y="5637308"/>
                </a:lnTo>
                <a:lnTo>
                  <a:pt x="0" y="563730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-1133292">
            <a:off x="594633" y="5756576"/>
            <a:ext cx="3324886" cy="5637308"/>
          </a:xfrm>
          <a:custGeom>
            <a:avLst/>
            <a:gdLst/>
            <a:ahLst/>
            <a:cxnLst/>
            <a:rect r="r" b="b" t="t" l="l"/>
            <a:pathLst>
              <a:path h="5637308" w="3324886">
                <a:moveTo>
                  <a:pt x="0" y="0"/>
                </a:moveTo>
                <a:lnTo>
                  <a:pt x="3324887" y="0"/>
                </a:lnTo>
                <a:lnTo>
                  <a:pt x="3324887" y="5637308"/>
                </a:lnTo>
                <a:lnTo>
                  <a:pt x="0" y="563730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7761627" y="9737280"/>
            <a:ext cx="2764746" cy="1319318"/>
          </a:xfrm>
          <a:custGeom>
            <a:avLst/>
            <a:gdLst/>
            <a:ahLst/>
            <a:cxnLst/>
            <a:rect r="r" b="b" t="t" l="l"/>
            <a:pathLst>
              <a:path h="1319318" w="2764746">
                <a:moveTo>
                  <a:pt x="0" y="0"/>
                </a:moveTo>
                <a:lnTo>
                  <a:pt x="2764746" y="0"/>
                </a:lnTo>
                <a:lnTo>
                  <a:pt x="2764746" y="1319318"/>
                </a:lnTo>
                <a:lnTo>
                  <a:pt x="0" y="131931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4003409" y="5360226"/>
            <a:ext cx="12664929" cy="2012950"/>
            <a:chOff x="0" y="0"/>
            <a:chExt cx="16886572" cy="2683933"/>
          </a:xfrm>
        </p:grpSpPr>
        <p:sp>
          <p:nvSpPr>
            <p:cNvPr name="TextBox 13" id="13"/>
            <p:cNvSpPr txBox="true"/>
            <p:nvPr/>
          </p:nvSpPr>
          <p:spPr>
            <a:xfrm rot="0">
              <a:off x="0" y="393700"/>
              <a:ext cx="6206026" cy="182033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863599" indent="-431800" lvl="1">
                <a:lnSpc>
                  <a:spcPts val="5599"/>
                </a:lnSpc>
                <a:buFont typeface="Arial"/>
                <a:buChar char="•"/>
              </a:pPr>
              <a:r>
                <a:rPr lang="en-US" sz="3999">
                  <a:solidFill>
                    <a:srgbClr val="FFFFFF"/>
                  </a:solidFill>
                  <a:latin typeface="Playpen Sans"/>
                  <a:ea typeface="Playpen Sans"/>
                  <a:cs typeface="Playpen Sans"/>
                  <a:sym typeface="Playpen Sans"/>
                </a:rPr>
                <a:t>for</a:t>
              </a:r>
            </a:p>
            <a:p>
              <a:pPr algn="l" marL="863599" indent="-431800" lvl="1">
                <a:lnSpc>
                  <a:spcPts val="5599"/>
                </a:lnSpc>
                <a:buFont typeface="Arial"/>
                <a:buChar char="•"/>
              </a:pPr>
              <a:r>
                <a:rPr lang="en-US" sz="3999">
                  <a:solidFill>
                    <a:srgbClr val="FFFFFF"/>
                  </a:solidFill>
                  <a:latin typeface="Playpen Sans"/>
                  <a:ea typeface="Playpen Sans"/>
                  <a:cs typeface="Playpen Sans"/>
                  <a:sym typeface="Playpen Sans"/>
                </a:rPr>
                <a:t>while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7990759" y="-76200"/>
              <a:ext cx="8895812" cy="276013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599"/>
                </a:lnSpc>
              </a:pPr>
              <a:r>
                <a:rPr lang="en-US" sz="3999" b="true">
                  <a:solidFill>
                    <a:srgbClr val="FFFFFF"/>
                  </a:solidFill>
                  <a:latin typeface="Playpen Sans Bold"/>
                  <a:ea typeface="Playpen Sans Bold"/>
                  <a:cs typeface="Playpen Sans Bold"/>
                  <a:sym typeface="Playpen Sans Bold"/>
                </a:rPr>
                <a:t>Contoh:</a:t>
              </a:r>
            </a:p>
            <a:p>
              <a:pPr algn="l">
                <a:lnSpc>
                  <a:spcPts val="5599"/>
                </a:lnSpc>
              </a:pPr>
              <a:r>
                <a:rPr lang="en-US" sz="3999">
                  <a:solidFill>
                    <a:srgbClr val="FFFFFF"/>
                  </a:solidFill>
                  <a:latin typeface="Playpen Sans"/>
                  <a:ea typeface="Playpen Sans"/>
                  <a:cs typeface="Playpen Sans"/>
                  <a:sym typeface="Playpen Sans"/>
                </a:rPr>
                <a:t>f</a:t>
              </a:r>
              <a:r>
                <a:rPr lang="en-US" sz="3999">
                  <a:solidFill>
                    <a:srgbClr val="FFFFFF"/>
                  </a:solidFill>
                  <a:latin typeface="Playpen Sans"/>
                  <a:ea typeface="Playpen Sans"/>
                  <a:cs typeface="Playpen Sans"/>
                  <a:sym typeface="Playpen Sans"/>
                </a:rPr>
                <a:t>or</a:t>
              </a:r>
              <a:r>
                <a:rPr lang="en-US" sz="3999">
                  <a:solidFill>
                    <a:srgbClr val="FFFFFF"/>
                  </a:solidFill>
                  <a:latin typeface="Playpen Sans"/>
                  <a:ea typeface="Playpen Sans"/>
                  <a:cs typeface="Playpen Sans"/>
                  <a:sym typeface="Playpen Sans"/>
                </a:rPr>
                <a:t> i</a:t>
              </a:r>
              <a:r>
                <a:rPr lang="en-US" sz="3999">
                  <a:solidFill>
                    <a:srgbClr val="FFFFFF"/>
                  </a:solidFill>
                  <a:latin typeface="Playpen Sans"/>
                  <a:ea typeface="Playpen Sans"/>
                  <a:cs typeface="Playpen Sans"/>
                  <a:sym typeface="Playpen Sans"/>
                </a:rPr>
                <a:t> </a:t>
              </a:r>
              <a:r>
                <a:rPr lang="en-US" sz="3999">
                  <a:solidFill>
                    <a:srgbClr val="FFFFFF"/>
                  </a:solidFill>
                  <a:latin typeface="Playpen Sans"/>
                  <a:ea typeface="Playpen Sans"/>
                  <a:cs typeface="Playpen Sans"/>
                  <a:sym typeface="Playpen Sans"/>
                </a:rPr>
                <a:t>i</a:t>
              </a:r>
              <a:r>
                <a:rPr lang="en-US" sz="3999">
                  <a:solidFill>
                    <a:srgbClr val="FFFFFF"/>
                  </a:solidFill>
                  <a:latin typeface="Playpen Sans"/>
                  <a:ea typeface="Playpen Sans"/>
                  <a:cs typeface="Playpen Sans"/>
                  <a:sym typeface="Playpen Sans"/>
                </a:rPr>
                <a:t>n</a:t>
              </a:r>
              <a:r>
                <a:rPr lang="en-US" sz="3999">
                  <a:solidFill>
                    <a:srgbClr val="FFFFFF"/>
                  </a:solidFill>
                  <a:latin typeface="Playpen Sans"/>
                  <a:ea typeface="Playpen Sans"/>
                  <a:cs typeface="Playpen Sans"/>
                  <a:sym typeface="Playpen Sans"/>
                </a:rPr>
                <a:t> r</a:t>
              </a:r>
              <a:r>
                <a:rPr lang="en-US" sz="3999">
                  <a:solidFill>
                    <a:srgbClr val="FFFFFF"/>
                  </a:solidFill>
                  <a:latin typeface="Playpen Sans"/>
                  <a:ea typeface="Playpen Sans"/>
                  <a:cs typeface="Playpen Sans"/>
                  <a:sym typeface="Playpen Sans"/>
                </a:rPr>
                <a:t>a</a:t>
              </a:r>
              <a:r>
                <a:rPr lang="en-US" sz="3999">
                  <a:solidFill>
                    <a:srgbClr val="FFFFFF"/>
                  </a:solidFill>
                  <a:latin typeface="Playpen Sans"/>
                  <a:ea typeface="Playpen Sans"/>
                  <a:cs typeface="Playpen Sans"/>
                  <a:sym typeface="Playpen Sans"/>
                </a:rPr>
                <a:t>n</a:t>
              </a:r>
              <a:r>
                <a:rPr lang="en-US" sz="3999">
                  <a:solidFill>
                    <a:srgbClr val="FFFFFF"/>
                  </a:solidFill>
                  <a:latin typeface="Playpen Sans"/>
                  <a:ea typeface="Playpen Sans"/>
                  <a:cs typeface="Playpen Sans"/>
                  <a:sym typeface="Playpen Sans"/>
                </a:rPr>
                <a:t>ge</a:t>
              </a:r>
              <a:r>
                <a:rPr lang="en-US" sz="3999">
                  <a:solidFill>
                    <a:srgbClr val="FFFFFF"/>
                  </a:solidFill>
                  <a:latin typeface="Playpen Sans"/>
                  <a:ea typeface="Playpen Sans"/>
                  <a:cs typeface="Playpen Sans"/>
                  <a:sym typeface="Playpen Sans"/>
                </a:rPr>
                <a:t>(</a:t>
              </a:r>
              <a:r>
                <a:rPr lang="en-US" sz="3999">
                  <a:solidFill>
                    <a:srgbClr val="FFFFFF"/>
                  </a:solidFill>
                  <a:latin typeface="Playpen Sans"/>
                  <a:ea typeface="Playpen Sans"/>
                  <a:cs typeface="Playpen Sans"/>
                  <a:sym typeface="Playpen Sans"/>
                </a:rPr>
                <a:t>5</a:t>
              </a:r>
              <a:r>
                <a:rPr lang="en-US" sz="3999">
                  <a:solidFill>
                    <a:srgbClr val="FFFFFF"/>
                  </a:solidFill>
                  <a:latin typeface="Playpen Sans"/>
                  <a:ea typeface="Playpen Sans"/>
                  <a:cs typeface="Playpen Sans"/>
                  <a:sym typeface="Playpen Sans"/>
                </a:rPr>
                <a:t>):</a:t>
              </a:r>
            </a:p>
            <a:p>
              <a:pPr algn="l">
                <a:lnSpc>
                  <a:spcPts val="5599"/>
                </a:lnSpc>
              </a:pPr>
              <a:r>
                <a:rPr lang="en-US" sz="3999">
                  <a:solidFill>
                    <a:srgbClr val="FFFFFF"/>
                  </a:solidFill>
                  <a:latin typeface="Playpen Sans"/>
                  <a:ea typeface="Playpen Sans"/>
                  <a:cs typeface="Playpen Sans"/>
                  <a:sym typeface="Playpen Sans"/>
                </a:rPr>
                <a:t>   </a:t>
              </a:r>
              <a:r>
                <a:rPr lang="en-US" sz="3999">
                  <a:solidFill>
                    <a:srgbClr val="FFFFFF"/>
                  </a:solidFill>
                  <a:latin typeface="Playpen Sans"/>
                  <a:ea typeface="Playpen Sans"/>
                  <a:cs typeface="Playpen Sans"/>
                  <a:sym typeface="Playpen Sans"/>
                </a:rPr>
                <a:t> print(i)</a:t>
              </a:r>
            </a:p>
          </p:txBody>
        </p:sp>
      </p:grp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FFB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585527" y="-589801"/>
            <a:ext cx="2357348" cy="3996856"/>
          </a:xfrm>
          <a:custGeom>
            <a:avLst/>
            <a:gdLst/>
            <a:ahLst/>
            <a:cxnLst/>
            <a:rect r="r" b="b" t="t" l="l"/>
            <a:pathLst>
              <a:path h="3996856" w="2357348">
                <a:moveTo>
                  <a:pt x="0" y="0"/>
                </a:moveTo>
                <a:lnTo>
                  <a:pt x="2357347" y="0"/>
                </a:lnTo>
                <a:lnTo>
                  <a:pt x="2357347" y="3996856"/>
                </a:lnTo>
                <a:lnTo>
                  <a:pt x="0" y="399685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6511502" y="-357233"/>
            <a:ext cx="2357348" cy="3996856"/>
          </a:xfrm>
          <a:custGeom>
            <a:avLst/>
            <a:gdLst/>
            <a:ahLst/>
            <a:cxnLst/>
            <a:rect r="r" b="b" t="t" l="l"/>
            <a:pathLst>
              <a:path h="3996856" w="2357348">
                <a:moveTo>
                  <a:pt x="0" y="0"/>
                </a:moveTo>
                <a:lnTo>
                  <a:pt x="2357348" y="0"/>
                </a:lnTo>
                <a:lnTo>
                  <a:pt x="2357348" y="3996856"/>
                </a:lnTo>
                <a:lnTo>
                  <a:pt x="0" y="399685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176553" y="2705320"/>
            <a:ext cx="15934893" cy="7203437"/>
            <a:chOff x="0" y="0"/>
            <a:chExt cx="4461091" cy="201665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461090" cy="2016655"/>
            </a:xfrm>
            <a:custGeom>
              <a:avLst/>
              <a:gdLst/>
              <a:ahLst/>
              <a:cxnLst/>
              <a:rect r="r" b="b" t="t" l="l"/>
              <a:pathLst>
                <a:path h="2016655" w="4461090">
                  <a:moveTo>
                    <a:pt x="48585" y="0"/>
                  </a:moveTo>
                  <a:lnTo>
                    <a:pt x="4412506" y="0"/>
                  </a:lnTo>
                  <a:cubicBezTo>
                    <a:pt x="4439338" y="0"/>
                    <a:pt x="4461090" y="21752"/>
                    <a:pt x="4461090" y="48585"/>
                  </a:cubicBezTo>
                  <a:lnTo>
                    <a:pt x="4461090" y="1968071"/>
                  </a:lnTo>
                  <a:cubicBezTo>
                    <a:pt x="4461090" y="1994903"/>
                    <a:pt x="4439338" y="2016655"/>
                    <a:pt x="4412506" y="2016655"/>
                  </a:cubicBezTo>
                  <a:lnTo>
                    <a:pt x="48585" y="2016655"/>
                  </a:lnTo>
                  <a:cubicBezTo>
                    <a:pt x="21752" y="2016655"/>
                    <a:pt x="0" y="1994903"/>
                    <a:pt x="0" y="1968071"/>
                  </a:cubicBezTo>
                  <a:lnTo>
                    <a:pt x="0" y="48585"/>
                  </a:lnTo>
                  <a:cubicBezTo>
                    <a:pt x="0" y="21752"/>
                    <a:pt x="21752" y="0"/>
                    <a:pt x="48585" y="0"/>
                  </a:cubicBezTo>
                  <a:close/>
                </a:path>
              </a:pathLst>
            </a:custGeom>
            <a:solidFill>
              <a:srgbClr val="00A551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28575"/>
              <a:ext cx="4461091" cy="20452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5698455" y="664020"/>
            <a:ext cx="6891090" cy="2806553"/>
            <a:chOff x="0" y="0"/>
            <a:chExt cx="9188120" cy="374207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9188120" cy="3742071"/>
            </a:xfrm>
            <a:custGeom>
              <a:avLst/>
              <a:gdLst/>
              <a:ahLst/>
              <a:cxnLst/>
              <a:rect r="r" b="b" t="t" l="l"/>
              <a:pathLst>
                <a:path h="3742071" w="9188120">
                  <a:moveTo>
                    <a:pt x="0" y="0"/>
                  </a:moveTo>
                  <a:lnTo>
                    <a:pt x="9188120" y="0"/>
                  </a:lnTo>
                  <a:lnTo>
                    <a:pt x="9188120" y="3742071"/>
                  </a:lnTo>
                  <a:lnTo>
                    <a:pt x="0" y="37420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 rot="0">
              <a:off x="1158327" y="1382287"/>
              <a:ext cx="6871466" cy="111550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904"/>
                </a:lnSpc>
              </a:pPr>
              <a:r>
                <a:rPr lang="en-US" sz="5964">
                  <a:solidFill>
                    <a:srgbClr val="FFFFFF"/>
                  </a:solidFill>
                  <a:latin typeface="210 빛글"/>
                  <a:ea typeface="210 빛글"/>
                  <a:cs typeface="210 빛글"/>
                  <a:sym typeface="210 빛글"/>
                </a:rPr>
                <a:t>FUNGSI</a:t>
              </a: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526068">
            <a:off x="15871366" y="5306997"/>
            <a:ext cx="3324886" cy="5637308"/>
          </a:xfrm>
          <a:custGeom>
            <a:avLst/>
            <a:gdLst/>
            <a:ahLst/>
            <a:cxnLst/>
            <a:rect r="r" b="b" t="t" l="l"/>
            <a:pathLst>
              <a:path h="5637308" w="3324886">
                <a:moveTo>
                  <a:pt x="0" y="0"/>
                </a:moveTo>
                <a:lnTo>
                  <a:pt x="3324887" y="0"/>
                </a:lnTo>
                <a:lnTo>
                  <a:pt x="3324887" y="5637308"/>
                </a:lnTo>
                <a:lnTo>
                  <a:pt x="0" y="563730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-1133292">
            <a:off x="594633" y="5756576"/>
            <a:ext cx="3324886" cy="5637308"/>
          </a:xfrm>
          <a:custGeom>
            <a:avLst/>
            <a:gdLst/>
            <a:ahLst/>
            <a:cxnLst/>
            <a:rect r="r" b="b" t="t" l="l"/>
            <a:pathLst>
              <a:path h="5637308" w="3324886">
                <a:moveTo>
                  <a:pt x="0" y="0"/>
                </a:moveTo>
                <a:lnTo>
                  <a:pt x="3324887" y="0"/>
                </a:lnTo>
                <a:lnTo>
                  <a:pt x="3324887" y="5637308"/>
                </a:lnTo>
                <a:lnTo>
                  <a:pt x="0" y="563730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7761627" y="9737280"/>
            <a:ext cx="2764746" cy="1319318"/>
          </a:xfrm>
          <a:custGeom>
            <a:avLst/>
            <a:gdLst/>
            <a:ahLst/>
            <a:cxnLst/>
            <a:rect r="r" b="b" t="t" l="l"/>
            <a:pathLst>
              <a:path h="1319318" w="2764746">
                <a:moveTo>
                  <a:pt x="0" y="0"/>
                </a:moveTo>
                <a:lnTo>
                  <a:pt x="2764746" y="0"/>
                </a:lnTo>
                <a:lnTo>
                  <a:pt x="2764746" y="1319318"/>
                </a:lnTo>
                <a:lnTo>
                  <a:pt x="0" y="131931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837343" y="3663999"/>
            <a:ext cx="14613314" cy="5934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61341" indent="-280670" lvl="1">
              <a:lnSpc>
                <a:spcPts val="3640"/>
              </a:lnSpc>
              <a:buFont typeface="Arial"/>
              <a:buChar char="•"/>
            </a:pPr>
            <a:r>
              <a:rPr lang="en-US" sz="2600">
                <a:solidFill>
                  <a:srgbClr val="FFFFFF"/>
                </a:solidFill>
                <a:latin typeface="Playpen Sans"/>
                <a:ea typeface="Playpen Sans"/>
                <a:cs typeface="Playpen Sans"/>
                <a:sym typeface="Playpen Sans"/>
              </a:rPr>
              <a:t>Fungsi merupakan kumpulan perintah yang d</a:t>
            </a:r>
            <a:r>
              <a:rPr lang="en-US" sz="2600">
                <a:solidFill>
                  <a:srgbClr val="FFFFFF"/>
                </a:solidFill>
                <a:latin typeface="Playpen Sans"/>
                <a:ea typeface="Playpen Sans"/>
                <a:cs typeface="Playpen Sans"/>
                <a:sym typeface="Playpen Sans"/>
              </a:rPr>
              <a:t>igunakan untuk mempermudah pr</a:t>
            </a:r>
            <a:r>
              <a:rPr lang="en-US" sz="2600">
                <a:solidFill>
                  <a:srgbClr val="FFFFFF"/>
                </a:solidFill>
                <a:latin typeface="Playpen Sans"/>
                <a:ea typeface="Playpen Sans"/>
                <a:cs typeface="Playpen Sans"/>
                <a:sym typeface="Playpen Sans"/>
              </a:rPr>
              <a:t>ogram</a:t>
            </a:r>
          </a:p>
          <a:p>
            <a:pPr algn="l" marL="561341" indent="-280670" lvl="1">
              <a:lnSpc>
                <a:spcPts val="3640"/>
              </a:lnSpc>
              <a:buFont typeface="Arial"/>
              <a:buChar char="•"/>
            </a:pPr>
            <a:r>
              <a:rPr lang="en-US" sz="2600">
                <a:solidFill>
                  <a:srgbClr val="FFFFFF"/>
                </a:solidFill>
                <a:latin typeface="Playpen Sans"/>
                <a:ea typeface="Playpen Sans"/>
                <a:cs typeface="Playpen Sans"/>
                <a:sym typeface="Playpen Sans"/>
              </a:rPr>
              <a:t>Dibuat dengan def</a:t>
            </a:r>
          </a:p>
          <a:p>
            <a:pPr algn="l" marL="561341" indent="-280670" lvl="1">
              <a:lnSpc>
                <a:spcPts val="3640"/>
              </a:lnSpc>
              <a:buFont typeface="Arial"/>
              <a:buChar char="•"/>
            </a:pPr>
            <a:r>
              <a:rPr lang="en-US" sz="2600">
                <a:solidFill>
                  <a:srgbClr val="FFFFFF"/>
                </a:solidFill>
                <a:latin typeface="Playpen Sans"/>
                <a:ea typeface="Playpen Sans"/>
                <a:cs typeface="Playpen Sans"/>
                <a:sym typeface="Playpen Sans"/>
              </a:rPr>
              <a:t>Dipanggil dengan nama fungsi</a:t>
            </a:r>
          </a:p>
          <a:p>
            <a:pPr algn="l" marL="561341" indent="-280670" lvl="1">
              <a:lnSpc>
                <a:spcPts val="3640"/>
              </a:lnSpc>
              <a:buFont typeface="Arial"/>
              <a:buChar char="•"/>
            </a:pPr>
            <a:r>
              <a:rPr lang="en-US" sz="2600">
                <a:solidFill>
                  <a:srgbClr val="FFFFFF"/>
                </a:solidFill>
                <a:latin typeface="Playpen Sans"/>
                <a:ea typeface="Playpen Sans"/>
                <a:cs typeface="Playpen Sans"/>
                <a:sym typeface="Playpen Sans"/>
              </a:rPr>
              <a:t>Contoh:</a:t>
            </a:r>
          </a:p>
          <a:p>
            <a:pPr algn="l">
              <a:lnSpc>
                <a:spcPts val="3640"/>
              </a:lnSpc>
            </a:pPr>
            <a:r>
              <a:rPr lang="en-US" sz="2600">
                <a:solidFill>
                  <a:srgbClr val="FFFFFF"/>
                </a:solidFill>
                <a:latin typeface="Playpen Sans"/>
                <a:ea typeface="Playpen Sans"/>
                <a:cs typeface="Playpen Sans"/>
                <a:sym typeface="Playpen Sans"/>
              </a:rPr>
              <a:t>              def sapa():</a:t>
            </a:r>
          </a:p>
          <a:p>
            <a:pPr algn="l">
              <a:lnSpc>
                <a:spcPts val="3640"/>
              </a:lnSpc>
            </a:pPr>
            <a:r>
              <a:rPr lang="en-US" sz="2600">
                <a:solidFill>
                  <a:srgbClr val="FFFFFF"/>
                </a:solidFill>
                <a:latin typeface="Playpen Sans"/>
                <a:ea typeface="Playpen Sans"/>
                <a:cs typeface="Playpen Sans"/>
                <a:sym typeface="Playpen Sans"/>
              </a:rPr>
              <a:t>              print("Halo!")</a:t>
            </a:r>
          </a:p>
          <a:p>
            <a:pPr algn="l">
              <a:lnSpc>
                <a:spcPts val="3640"/>
              </a:lnSpc>
            </a:pPr>
            <a:r>
              <a:rPr lang="en-US" sz="2600">
                <a:solidFill>
                  <a:srgbClr val="FFFFFF"/>
                </a:solidFill>
                <a:latin typeface="Playpen Sans"/>
                <a:ea typeface="Playpen Sans"/>
                <a:cs typeface="Playpen Sans"/>
                <a:sym typeface="Playpen Sans"/>
              </a:rPr>
              <a:t>              </a:t>
            </a:r>
          </a:p>
          <a:p>
            <a:pPr algn="l">
              <a:lnSpc>
                <a:spcPts val="3640"/>
              </a:lnSpc>
            </a:pPr>
            <a:r>
              <a:rPr lang="en-US" sz="2600">
                <a:solidFill>
                  <a:srgbClr val="FFFFFF"/>
                </a:solidFill>
                <a:latin typeface="Playpen Sans"/>
                <a:ea typeface="Playpen Sans"/>
                <a:cs typeface="Playpen Sans"/>
                <a:sym typeface="Playpen Sans"/>
              </a:rPr>
              <a:t>              </a:t>
            </a:r>
            <a:r>
              <a:rPr lang="en-US" sz="2600">
                <a:solidFill>
                  <a:srgbClr val="FFFFFF"/>
                </a:solidFill>
                <a:latin typeface="Playpen Sans"/>
                <a:ea typeface="Playpen Sans"/>
                <a:cs typeface="Playpen Sans"/>
                <a:sym typeface="Playpen Sans"/>
              </a:rPr>
              <a:t>sapa()</a:t>
            </a:r>
          </a:p>
          <a:p>
            <a:pPr algn="l" marL="561341" indent="-280670" lvl="1">
              <a:lnSpc>
                <a:spcPts val="3640"/>
              </a:lnSpc>
              <a:buFont typeface="Arial"/>
              <a:buChar char="•"/>
            </a:pPr>
            <a:r>
              <a:rPr lang="en-US" sz="2600">
                <a:solidFill>
                  <a:srgbClr val="FFFFFF"/>
                </a:solidFill>
                <a:latin typeface="Playpen Sans"/>
                <a:ea typeface="Playpen Sans"/>
                <a:cs typeface="Playpen Sans"/>
                <a:sym typeface="Playpen Sans"/>
              </a:rPr>
              <a:t>Variabel yang dibuat di dalam fungsi disebut variabel lokal, dan hanya bisa digunakan di dalam fungsi tersebut.</a:t>
            </a:r>
          </a:p>
          <a:p>
            <a:pPr algn="l">
              <a:lnSpc>
                <a:spcPts val="3640"/>
              </a:lnSpc>
            </a:pPr>
            <a:r>
              <a:rPr lang="en-US" sz="2600">
                <a:solidFill>
                  <a:srgbClr val="FFFFFF"/>
                </a:solidFill>
                <a:latin typeface="Playpen Sans"/>
                <a:ea typeface="Playpen Sans"/>
                <a:cs typeface="Playpen Sans"/>
                <a:sym typeface="Playpen Sans"/>
              </a:rPr>
              <a:t>              def hitung():</a:t>
            </a:r>
          </a:p>
          <a:p>
            <a:pPr algn="l">
              <a:lnSpc>
                <a:spcPts val="3640"/>
              </a:lnSpc>
            </a:pPr>
            <a:r>
              <a:rPr lang="en-US" sz="2600">
                <a:solidFill>
                  <a:srgbClr val="FFFFFF"/>
                </a:solidFill>
                <a:latin typeface="Playpen Sans"/>
                <a:ea typeface="Playpen Sans"/>
                <a:cs typeface="Playpen Sans"/>
                <a:sym typeface="Playpen Sans"/>
              </a:rPr>
              <a:t>              x = 5</a:t>
            </a:r>
          </a:p>
          <a:p>
            <a:pPr algn="l">
              <a:lnSpc>
                <a:spcPts val="3640"/>
              </a:lnSpc>
            </a:pPr>
            <a:r>
              <a:rPr lang="en-US" sz="2600">
                <a:solidFill>
                  <a:srgbClr val="FFFFFF"/>
                </a:solidFill>
                <a:latin typeface="Playpen Sans"/>
                <a:ea typeface="Playpen Sans"/>
                <a:cs typeface="Playpen Sans"/>
                <a:sym typeface="Playpen Sans"/>
              </a:rPr>
              <a:t>              print(x)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FFB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2636919"/>
            <a:ext cx="16230600" cy="6847675"/>
            <a:chOff x="0" y="0"/>
            <a:chExt cx="4543876" cy="191705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543876" cy="1917057"/>
            </a:xfrm>
            <a:custGeom>
              <a:avLst/>
              <a:gdLst/>
              <a:ahLst/>
              <a:cxnLst/>
              <a:rect r="r" b="b" t="t" l="l"/>
              <a:pathLst>
                <a:path h="1917057" w="4543876">
                  <a:moveTo>
                    <a:pt x="47700" y="0"/>
                  </a:moveTo>
                  <a:lnTo>
                    <a:pt x="4496176" y="0"/>
                  </a:lnTo>
                  <a:cubicBezTo>
                    <a:pt x="4508827" y="0"/>
                    <a:pt x="4520959" y="5025"/>
                    <a:pt x="4529905" y="13971"/>
                  </a:cubicBezTo>
                  <a:cubicBezTo>
                    <a:pt x="4538850" y="22916"/>
                    <a:pt x="4543876" y="35049"/>
                    <a:pt x="4543876" y="47700"/>
                  </a:cubicBezTo>
                  <a:lnTo>
                    <a:pt x="4543876" y="1869357"/>
                  </a:lnTo>
                  <a:cubicBezTo>
                    <a:pt x="4543876" y="1882008"/>
                    <a:pt x="4538850" y="1894141"/>
                    <a:pt x="4529905" y="1903086"/>
                  </a:cubicBezTo>
                  <a:cubicBezTo>
                    <a:pt x="4520959" y="1912032"/>
                    <a:pt x="4508827" y="1917057"/>
                    <a:pt x="4496176" y="1917057"/>
                  </a:cubicBezTo>
                  <a:lnTo>
                    <a:pt x="47700" y="1917057"/>
                  </a:lnTo>
                  <a:cubicBezTo>
                    <a:pt x="35049" y="1917057"/>
                    <a:pt x="22916" y="1912032"/>
                    <a:pt x="13971" y="1903086"/>
                  </a:cubicBezTo>
                  <a:cubicBezTo>
                    <a:pt x="5025" y="1894141"/>
                    <a:pt x="0" y="1882008"/>
                    <a:pt x="0" y="1869357"/>
                  </a:cubicBezTo>
                  <a:lnTo>
                    <a:pt x="0" y="47700"/>
                  </a:lnTo>
                  <a:cubicBezTo>
                    <a:pt x="0" y="35049"/>
                    <a:pt x="5025" y="22916"/>
                    <a:pt x="13971" y="13971"/>
                  </a:cubicBezTo>
                  <a:cubicBezTo>
                    <a:pt x="22916" y="5025"/>
                    <a:pt x="35049" y="0"/>
                    <a:pt x="47700" y="0"/>
                  </a:cubicBezTo>
                  <a:close/>
                </a:path>
              </a:pathLst>
            </a:custGeom>
            <a:solidFill>
              <a:srgbClr val="00A551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4543876" cy="19456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-585527" y="-589801"/>
            <a:ext cx="2357348" cy="3996856"/>
          </a:xfrm>
          <a:custGeom>
            <a:avLst/>
            <a:gdLst/>
            <a:ahLst/>
            <a:cxnLst/>
            <a:rect r="r" b="b" t="t" l="l"/>
            <a:pathLst>
              <a:path h="3996856" w="2357348">
                <a:moveTo>
                  <a:pt x="0" y="0"/>
                </a:moveTo>
                <a:lnTo>
                  <a:pt x="2357347" y="0"/>
                </a:lnTo>
                <a:lnTo>
                  <a:pt x="2357347" y="3996856"/>
                </a:lnTo>
                <a:lnTo>
                  <a:pt x="0" y="399685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6511502" y="-357233"/>
            <a:ext cx="2357348" cy="3996856"/>
          </a:xfrm>
          <a:custGeom>
            <a:avLst/>
            <a:gdLst/>
            <a:ahLst/>
            <a:cxnLst/>
            <a:rect r="r" b="b" t="t" l="l"/>
            <a:pathLst>
              <a:path h="3996856" w="2357348">
                <a:moveTo>
                  <a:pt x="0" y="0"/>
                </a:moveTo>
                <a:lnTo>
                  <a:pt x="2357348" y="0"/>
                </a:lnTo>
                <a:lnTo>
                  <a:pt x="2357348" y="3996856"/>
                </a:lnTo>
                <a:lnTo>
                  <a:pt x="0" y="399685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931452">
            <a:off x="13031177" y="1141094"/>
            <a:ext cx="2116582" cy="3588641"/>
          </a:xfrm>
          <a:custGeom>
            <a:avLst/>
            <a:gdLst/>
            <a:ahLst/>
            <a:cxnLst/>
            <a:rect r="r" b="b" t="t" l="l"/>
            <a:pathLst>
              <a:path h="3588641" w="2116582">
                <a:moveTo>
                  <a:pt x="0" y="0"/>
                </a:moveTo>
                <a:lnTo>
                  <a:pt x="2116582" y="0"/>
                </a:lnTo>
                <a:lnTo>
                  <a:pt x="2116582" y="3588641"/>
                </a:lnTo>
                <a:lnTo>
                  <a:pt x="0" y="358864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-1710358">
            <a:off x="-273008" y="6635483"/>
            <a:ext cx="2603417" cy="4414064"/>
          </a:xfrm>
          <a:custGeom>
            <a:avLst/>
            <a:gdLst/>
            <a:ahLst/>
            <a:cxnLst/>
            <a:rect r="r" b="b" t="t" l="l"/>
            <a:pathLst>
              <a:path h="4414064" w="2603417">
                <a:moveTo>
                  <a:pt x="0" y="0"/>
                </a:moveTo>
                <a:lnTo>
                  <a:pt x="2603416" y="0"/>
                </a:lnTo>
                <a:lnTo>
                  <a:pt x="2603416" y="4414064"/>
                </a:lnTo>
                <a:lnTo>
                  <a:pt x="0" y="44140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8104193" y="3060483"/>
            <a:ext cx="8667795" cy="5944520"/>
            <a:chOff x="0" y="0"/>
            <a:chExt cx="2426613" cy="166421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426613" cy="1664212"/>
            </a:xfrm>
            <a:custGeom>
              <a:avLst/>
              <a:gdLst/>
              <a:ahLst/>
              <a:cxnLst/>
              <a:rect r="r" b="b" t="t" l="l"/>
              <a:pathLst>
                <a:path h="1664212" w="2426613">
                  <a:moveTo>
                    <a:pt x="89318" y="0"/>
                  </a:moveTo>
                  <a:lnTo>
                    <a:pt x="2337295" y="0"/>
                  </a:lnTo>
                  <a:cubicBezTo>
                    <a:pt x="2360983" y="0"/>
                    <a:pt x="2383702" y="9410"/>
                    <a:pt x="2400452" y="26161"/>
                  </a:cubicBezTo>
                  <a:cubicBezTo>
                    <a:pt x="2417203" y="42911"/>
                    <a:pt x="2426613" y="65630"/>
                    <a:pt x="2426613" y="89318"/>
                  </a:cubicBezTo>
                  <a:lnTo>
                    <a:pt x="2426613" y="1574894"/>
                  </a:lnTo>
                  <a:cubicBezTo>
                    <a:pt x="2426613" y="1598582"/>
                    <a:pt x="2417203" y="1621301"/>
                    <a:pt x="2400452" y="1638051"/>
                  </a:cubicBezTo>
                  <a:cubicBezTo>
                    <a:pt x="2383702" y="1654802"/>
                    <a:pt x="2360983" y="1664212"/>
                    <a:pt x="2337295" y="1664212"/>
                  </a:cubicBezTo>
                  <a:lnTo>
                    <a:pt x="89318" y="1664212"/>
                  </a:lnTo>
                  <a:cubicBezTo>
                    <a:pt x="65630" y="1664212"/>
                    <a:pt x="42911" y="1654802"/>
                    <a:pt x="26161" y="1638051"/>
                  </a:cubicBezTo>
                  <a:cubicBezTo>
                    <a:pt x="9410" y="1621301"/>
                    <a:pt x="0" y="1598582"/>
                    <a:pt x="0" y="1574894"/>
                  </a:cubicBezTo>
                  <a:lnTo>
                    <a:pt x="0" y="89318"/>
                  </a:lnTo>
                  <a:cubicBezTo>
                    <a:pt x="0" y="65630"/>
                    <a:pt x="9410" y="42911"/>
                    <a:pt x="26161" y="26161"/>
                  </a:cubicBezTo>
                  <a:cubicBezTo>
                    <a:pt x="42911" y="9410"/>
                    <a:pt x="65630" y="0"/>
                    <a:pt x="89318" y="0"/>
                  </a:cubicBezTo>
                  <a:close/>
                </a:path>
              </a:pathLst>
            </a:custGeom>
            <a:solidFill>
              <a:srgbClr val="FECC56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28575"/>
              <a:ext cx="2426613" cy="16927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931452">
            <a:off x="13129176" y="8754769"/>
            <a:ext cx="1716809" cy="2910831"/>
          </a:xfrm>
          <a:custGeom>
            <a:avLst/>
            <a:gdLst/>
            <a:ahLst/>
            <a:cxnLst/>
            <a:rect r="r" b="b" t="t" l="l"/>
            <a:pathLst>
              <a:path h="2910831" w="1716809">
                <a:moveTo>
                  <a:pt x="0" y="0"/>
                </a:moveTo>
                <a:lnTo>
                  <a:pt x="1716810" y="0"/>
                </a:lnTo>
                <a:lnTo>
                  <a:pt x="1716810" y="2910831"/>
                </a:lnTo>
                <a:lnTo>
                  <a:pt x="0" y="291083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0">
            <a:off x="1512415" y="3088497"/>
            <a:ext cx="6191729" cy="5944520"/>
            <a:chOff x="0" y="0"/>
            <a:chExt cx="1733420" cy="166421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733420" cy="1664212"/>
            </a:xfrm>
            <a:custGeom>
              <a:avLst/>
              <a:gdLst/>
              <a:ahLst/>
              <a:cxnLst/>
              <a:rect r="r" b="b" t="t" l="l"/>
              <a:pathLst>
                <a:path h="1664212" w="1733420">
                  <a:moveTo>
                    <a:pt x="125036" y="0"/>
                  </a:moveTo>
                  <a:lnTo>
                    <a:pt x="1608384" y="0"/>
                  </a:lnTo>
                  <a:cubicBezTo>
                    <a:pt x="1677439" y="0"/>
                    <a:pt x="1733420" y="55981"/>
                    <a:pt x="1733420" y="125036"/>
                  </a:cubicBezTo>
                  <a:lnTo>
                    <a:pt x="1733420" y="1539176"/>
                  </a:lnTo>
                  <a:cubicBezTo>
                    <a:pt x="1733420" y="1572337"/>
                    <a:pt x="1720247" y="1604141"/>
                    <a:pt x="1696798" y="1627590"/>
                  </a:cubicBezTo>
                  <a:cubicBezTo>
                    <a:pt x="1673349" y="1651039"/>
                    <a:pt x="1641545" y="1664212"/>
                    <a:pt x="1608384" y="1664212"/>
                  </a:cubicBezTo>
                  <a:lnTo>
                    <a:pt x="125036" y="1664212"/>
                  </a:lnTo>
                  <a:cubicBezTo>
                    <a:pt x="91875" y="1664212"/>
                    <a:pt x="60071" y="1651039"/>
                    <a:pt x="36622" y="1627590"/>
                  </a:cubicBezTo>
                  <a:cubicBezTo>
                    <a:pt x="13173" y="1604141"/>
                    <a:pt x="0" y="1572337"/>
                    <a:pt x="0" y="1539176"/>
                  </a:cubicBezTo>
                  <a:lnTo>
                    <a:pt x="0" y="125036"/>
                  </a:lnTo>
                  <a:cubicBezTo>
                    <a:pt x="0" y="91875"/>
                    <a:pt x="13173" y="60071"/>
                    <a:pt x="36622" y="36622"/>
                  </a:cubicBezTo>
                  <a:cubicBezTo>
                    <a:pt x="60071" y="13173"/>
                    <a:pt x="91875" y="0"/>
                    <a:pt x="125036" y="0"/>
                  </a:cubicBezTo>
                  <a:close/>
                </a:path>
              </a:pathLst>
            </a:custGeom>
            <a:solidFill>
              <a:srgbClr val="FECC56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28575"/>
              <a:ext cx="1733420" cy="16927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6" id="16"/>
          <p:cNvSpPr/>
          <p:nvPr/>
        </p:nvSpPr>
        <p:spPr>
          <a:xfrm flipH="false" flipV="false" rot="0">
            <a:off x="5696116" y="723900"/>
            <a:ext cx="6891090" cy="2806553"/>
          </a:xfrm>
          <a:custGeom>
            <a:avLst/>
            <a:gdLst/>
            <a:ahLst/>
            <a:cxnLst/>
            <a:rect r="r" b="b" t="t" l="l"/>
            <a:pathLst>
              <a:path h="2806553" w="6891090">
                <a:moveTo>
                  <a:pt x="0" y="0"/>
                </a:moveTo>
                <a:lnTo>
                  <a:pt x="6891090" y="0"/>
                </a:lnTo>
                <a:lnTo>
                  <a:pt x="6891090" y="2806553"/>
                </a:lnTo>
                <a:lnTo>
                  <a:pt x="0" y="280655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6564861" y="1768392"/>
            <a:ext cx="5153600" cy="8128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04"/>
              </a:lnSpc>
            </a:pPr>
            <a:r>
              <a:rPr lang="en-US" sz="5964">
                <a:solidFill>
                  <a:srgbClr val="FFFFFF"/>
                </a:solidFill>
                <a:latin typeface="210 빛글"/>
                <a:ea typeface="210 빛글"/>
                <a:cs typeface="210 빛글"/>
                <a:sym typeface="210 빛글"/>
              </a:rPr>
              <a:t>CONTOH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2175166" y="4195888"/>
            <a:ext cx="5528977" cy="36481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73"/>
              </a:lnSpc>
            </a:pPr>
            <a:r>
              <a:rPr lang="en-US" sz="2623" b="true">
                <a:solidFill>
                  <a:srgbClr val="000000"/>
                </a:solidFill>
                <a:latin typeface="Playpen Sans Bold"/>
                <a:ea typeface="Playpen Sans Bold"/>
                <a:cs typeface="Playpen Sans Bold"/>
                <a:sym typeface="Playpen Sans Bold"/>
              </a:rPr>
              <a:t>bilangan = 7</a:t>
            </a:r>
          </a:p>
          <a:p>
            <a:pPr algn="l">
              <a:lnSpc>
                <a:spcPts val="3673"/>
              </a:lnSpc>
            </a:pPr>
          </a:p>
          <a:p>
            <a:pPr algn="l">
              <a:lnSpc>
                <a:spcPts val="3673"/>
              </a:lnSpc>
            </a:pPr>
            <a:r>
              <a:rPr lang="en-US" sz="2623" b="true">
                <a:solidFill>
                  <a:srgbClr val="000000"/>
                </a:solidFill>
                <a:latin typeface="Playpen Sans Bold"/>
                <a:ea typeface="Playpen Sans Bold"/>
                <a:cs typeface="Playpen Sans Bold"/>
                <a:sym typeface="Playpen Sans Bold"/>
              </a:rPr>
              <a:t>if bilangan &gt; 0:</a:t>
            </a:r>
          </a:p>
          <a:p>
            <a:pPr algn="l">
              <a:lnSpc>
                <a:spcPts val="3673"/>
              </a:lnSpc>
            </a:pPr>
            <a:r>
              <a:rPr lang="en-US" sz="2623" b="true">
                <a:solidFill>
                  <a:srgbClr val="000000"/>
                </a:solidFill>
                <a:latin typeface="Playpen Sans Bold"/>
                <a:ea typeface="Playpen Sans Bold"/>
                <a:cs typeface="Playpen Sans Bold"/>
                <a:sym typeface="Playpen Sans Bold"/>
              </a:rPr>
              <a:t>    print("Positif")</a:t>
            </a:r>
          </a:p>
          <a:p>
            <a:pPr algn="l">
              <a:lnSpc>
                <a:spcPts val="3673"/>
              </a:lnSpc>
            </a:pPr>
            <a:r>
              <a:rPr lang="en-US" sz="2623" b="true">
                <a:solidFill>
                  <a:srgbClr val="000000"/>
                </a:solidFill>
                <a:latin typeface="Playpen Sans Bold"/>
                <a:ea typeface="Playpen Sans Bold"/>
                <a:cs typeface="Playpen Sans Bold"/>
                <a:sym typeface="Playpen Sans Bold"/>
              </a:rPr>
              <a:t>elif bilangan &lt; 0:</a:t>
            </a:r>
          </a:p>
          <a:p>
            <a:pPr algn="l">
              <a:lnSpc>
                <a:spcPts val="3673"/>
              </a:lnSpc>
            </a:pPr>
            <a:r>
              <a:rPr lang="en-US" sz="2623" b="true">
                <a:solidFill>
                  <a:srgbClr val="000000"/>
                </a:solidFill>
                <a:latin typeface="Playpen Sans Bold"/>
                <a:ea typeface="Playpen Sans Bold"/>
                <a:cs typeface="Playpen Sans Bold"/>
                <a:sym typeface="Playpen Sans Bold"/>
              </a:rPr>
              <a:t>    print(“Negatif”)</a:t>
            </a:r>
          </a:p>
          <a:p>
            <a:pPr algn="l">
              <a:lnSpc>
                <a:spcPts val="3673"/>
              </a:lnSpc>
            </a:pPr>
            <a:r>
              <a:rPr lang="en-US" sz="2623" b="true">
                <a:solidFill>
                  <a:srgbClr val="000000"/>
                </a:solidFill>
                <a:latin typeface="Playpen Sans Bold"/>
                <a:ea typeface="Playpen Sans Bold"/>
                <a:cs typeface="Playpen Sans Bold"/>
                <a:sym typeface="Playpen Sans Bold"/>
              </a:rPr>
              <a:t>else:</a:t>
            </a:r>
          </a:p>
          <a:p>
            <a:pPr algn="l">
              <a:lnSpc>
                <a:spcPts val="3673"/>
              </a:lnSpc>
            </a:pPr>
            <a:r>
              <a:rPr lang="en-US" sz="2623" b="true">
                <a:solidFill>
                  <a:srgbClr val="000000"/>
                </a:solidFill>
                <a:latin typeface="Playpen Sans Bold"/>
                <a:ea typeface="Playpen Sans Bold"/>
                <a:cs typeface="Playpen Sans Bold"/>
                <a:sym typeface="Playpen Sans Bold"/>
              </a:rPr>
              <a:t>    print("Nol")</a:t>
            </a:r>
          </a:p>
        </p:txBody>
      </p:sp>
      <p:sp>
        <p:nvSpPr>
          <p:cNvPr name="Freeform 19" id="19"/>
          <p:cNvSpPr/>
          <p:nvPr/>
        </p:nvSpPr>
        <p:spPr>
          <a:xfrm flipH="false" flipV="false" rot="0">
            <a:off x="3225906" y="-792004"/>
            <a:ext cx="2764746" cy="1319318"/>
          </a:xfrm>
          <a:custGeom>
            <a:avLst/>
            <a:gdLst/>
            <a:ahLst/>
            <a:cxnLst/>
            <a:rect r="r" b="b" t="t" l="l"/>
            <a:pathLst>
              <a:path h="1319318" w="2764746">
                <a:moveTo>
                  <a:pt x="0" y="0"/>
                </a:moveTo>
                <a:lnTo>
                  <a:pt x="2764746" y="0"/>
                </a:lnTo>
                <a:lnTo>
                  <a:pt x="2764746" y="1319317"/>
                </a:lnTo>
                <a:lnTo>
                  <a:pt x="0" y="131931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8319483" y="3216415"/>
            <a:ext cx="8452505" cy="5626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</a:pPr>
            <a:r>
              <a:rPr lang="en-US" b="true" sz="1999" u="sng">
                <a:solidFill>
                  <a:srgbClr val="000000"/>
                </a:solidFill>
                <a:latin typeface="Playpen Sans Bold"/>
                <a:ea typeface="Playpen Sans Bold"/>
                <a:cs typeface="Playpen Sans Bold"/>
                <a:sym typeface="Playpen Sans Bold"/>
              </a:rPr>
              <a:t>Penjelasan</a:t>
            </a:r>
          </a:p>
          <a:p>
            <a:pPr algn="l">
              <a:lnSpc>
                <a:spcPts val="2799"/>
              </a:lnSpc>
            </a:pPr>
          </a:p>
          <a:p>
            <a:pPr algn="l" marL="431799" indent="-215899" lvl="1">
              <a:lnSpc>
                <a:spcPts val="2799"/>
              </a:lnSpc>
              <a:buFont typeface="Arial"/>
              <a:buChar char="•"/>
            </a:pPr>
            <a:r>
              <a:rPr lang="en-US" b="true" sz="1999">
                <a:solidFill>
                  <a:srgbClr val="000000"/>
                </a:solidFill>
                <a:latin typeface="Playpen Sans Bold"/>
                <a:ea typeface="Playpen Sans Bold"/>
                <a:cs typeface="Playpen Sans Bold"/>
                <a:sym typeface="Playpen Sans Bold"/>
              </a:rPr>
              <a:t>bilangan = 7</a:t>
            </a:r>
          </a:p>
          <a:p>
            <a:pPr algn="l">
              <a:lnSpc>
                <a:spcPts val="2799"/>
              </a:lnSpc>
            </a:pPr>
            <a:r>
              <a:rPr lang="en-US" sz="1999">
                <a:solidFill>
                  <a:srgbClr val="000000"/>
                </a:solidFill>
                <a:latin typeface="Playpen Sans"/>
                <a:ea typeface="Playpen Sans"/>
                <a:cs typeface="Playpen Sans"/>
                <a:sym typeface="Playpen Sans"/>
              </a:rPr>
              <a:t>    </a:t>
            </a:r>
            <a:r>
              <a:rPr lang="en-US" sz="1999">
                <a:solidFill>
                  <a:srgbClr val="000000"/>
                </a:solidFill>
                <a:latin typeface="Playpen Sans"/>
                <a:ea typeface="Playpen Sans"/>
                <a:cs typeface="Playpen Sans"/>
                <a:sym typeface="Playpen Sans"/>
              </a:rPr>
              <a:t>→ Variabel bilangan diisi dengan nilai 7 (pemisalan)</a:t>
            </a:r>
          </a:p>
          <a:p>
            <a:pPr algn="l" marL="431799" indent="-215899" lvl="1">
              <a:lnSpc>
                <a:spcPts val="2799"/>
              </a:lnSpc>
              <a:buFont typeface="Arial"/>
              <a:buChar char="•"/>
            </a:pPr>
            <a:r>
              <a:rPr lang="en-US" b="true" sz="1999">
                <a:solidFill>
                  <a:srgbClr val="000000"/>
                </a:solidFill>
                <a:latin typeface="Playpen Sans Bold"/>
                <a:ea typeface="Playpen Sans Bold"/>
                <a:cs typeface="Playpen Sans Bold"/>
                <a:sym typeface="Playpen Sans Bold"/>
              </a:rPr>
              <a:t>if bilangan &gt; 0:</a:t>
            </a:r>
          </a:p>
          <a:p>
            <a:pPr algn="l">
              <a:lnSpc>
                <a:spcPts val="2799"/>
              </a:lnSpc>
            </a:pPr>
            <a:r>
              <a:rPr lang="en-US" sz="1999" b="true">
                <a:solidFill>
                  <a:srgbClr val="000000"/>
                </a:solidFill>
                <a:latin typeface="Playpen Sans Bold"/>
                <a:ea typeface="Playpen Sans Bold"/>
                <a:cs typeface="Playpen Sans Bold"/>
                <a:sym typeface="Playpen Sans Bold"/>
              </a:rPr>
              <a:t>    </a:t>
            </a:r>
            <a:r>
              <a:rPr lang="en-US" sz="1999">
                <a:solidFill>
                  <a:srgbClr val="000000"/>
                </a:solidFill>
                <a:latin typeface="Playpen Sans"/>
                <a:ea typeface="Playpen Sans"/>
                <a:cs typeface="Playpen Sans"/>
                <a:sym typeface="Playpen Sans"/>
              </a:rPr>
              <a:t>→ Mengecek apakah nilai bilangan lebih dari 0</a:t>
            </a:r>
          </a:p>
          <a:p>
            <a:pPr algn="l" marL="431799" indent="-215899" lvl="1">
              <a:lnSpc>
                <a:spcPts val="2799"/>
              </a:lnSpc>
              <a:buFont typeface="Arial"/>
              <a:buChar char="•"/>
            </a:pPr>
            <a:r>
              <a:rPr lang="en-US" b="true" sz="1999">
                <a:solidFill>
                  <a:srgbClr val="000000"/>
                </a:solidFill>
                <a:latin typeface="Playpen Sans Bold"/>
                <a:ea typeface="Playpen Sans Bold"/>
                <a:cs typeface="Playpen Sans Bold"/>
                <a:sym typeface="Playpen Sans Bold"/>
              </a:rPr>
              <a:t>print("Positif")</a:t>
            </a:r>
          </a:p>
          <a:p>
            <a:pPr algn="l">
              <a:lnSpc>
                <a:spcPts val="2799"/>
              </a:lnSpc>
            </a:pPr>
            <a:r>
              <a:rPr lang="en-US" sz="1999">
                <a:solidFill>
                  <a:srgbClr val="000000"/>
                </a:solidFill>
                <a:latin typeface="Playpen Sans"/>
                <a:ea typeface="Playpen Sans"/>
                <a:cs typeface="Playpen Sans"/>
                <a:sym typeface="Playpen Sans"/>
              </a:rPr>
              <a:t>    </a:t>
            </a:r>
            <a:r>
              <a:rPr lang="en-US" sz="1999">
                <a:solidFill>
                  <a:srgbClr val="000000"/>
                </a:solidFill>
                <a:latin typeface="Playpen Sans"/>
                <a:ea typeface="Playpen Sans"/>
                <a:cs typeface="Playpen Sans"/>
                <a:sym typeface="Playpen Sans"/>
              </a:rPr>
              <a:t>→ Jika kondisi benar, maka program menampilkan “Positif"</a:t>
            </a:r>
          </a:p>
          <a:p>
            <a:pPr algn="l" marL="431799" indent="-215899" lvl="1">
              <a:lnSpc>
                <a:spcPts val="2799"/>
              </a:lnSpc>
              <a:buFont typeface="Arial"/>
              <a:buChar char="•"/>
            </a:pPr>
            <a:r>
              <a:rPr lang="en-US" b="true" sz="1999">
                <a:solidFill>
                  <a:srgbClr val="000000"/>
                </a:solidFill>
                <a:latin typeface="Playpen Sans Bold"/>
                <a:ea typeface="Playpen Sans Bold"/>
                <a:cs typeface="Playpen Sans Bold"/>
                <a:sym typeface="Playpen Sans Bold"/>
              </a:rPr>
              <a:t>if bilangan &lt; 0:</a:t>
            </a:r>
          </a:p>
          <a:p>
            <a:pPr algn="l">
              <a:lnSpc>
                <a:spcPts val="2799"/>
              </a:lnSpc>
            </a:pPr>
            <a:r>
              <a:rPr lang="en-US" sz="1999">
                <a:solidFill>
                  <a:srgbClr val="000000"/>
                </a:solidFill>
                <a:latin typeface="Playpen Sans"/>
                <a:ea typeface="Playpen Sans"/>
                <a:cs typeface="Playpen Sans"/>
                <a:sym typeface="Playpen Sans"/>
              </a:rPr>
              <a:t>    → Mengecek apakah nilai bilangan kurang dari 0</a:t>
            </a:r>
          </a:p>
          <a:p>
            <a:pPr algn="l" marL="431799" indent="-215899" lvl="1">
              <a:lnSpc>
                <a:spcPts val="2799"/>
              </a:lnSpc>
              <a:buFont typeface="Arial"/>
              <a:buChar char="•"/>
            </a:pPr>
            <a:r>
              <a:rPr lang="en-US" b="true" sz="1999">
                <a:solidFill>
                  <a:srgbClr val="000000"/>
                </a:solidFill>
                <a:latin typeface="Playpen Sans Bold"/>
                <a:ea typeface="Playpen Sans Bold"/>
                <a:cs typeface="Playpen Sans Bold"/>
                <a:sym typeface="Playpen Sans Bold"/>
              </a:rPr>
              <a:t>print(“Negatif)</a:t>
            </a:r>
          </a:p>
          <a:p>
            <a:pPr algn="l">
              <a:lnSpc>
                <a:spcPts val="2799"/>
              </a:lnSpc>
            </a:pPr>
            <a:r>
              <a:rPr lang="en-US" sz="1999" b="true">
                <a:solidFill>
                  <a:srgbClr val="000000"/>
                </a:solidFill>
                <a:latin typeface="Playpen Sans Bold"/>
                <a:ea typeface="Playpen Sans Bold"/>
                <a:cs typeface="Playpen Sans Bold"/>
                <a:sym typeface="Playpen Sans Bold"/>
              </a:rPr>
              <a:t>     </a:t>
            </a:r>
            <a:r>
              <a:rPr lang="en-US" sz="1999">
                <a:solidFill>
                  <a:srgbClr val="000000"/>
                </a:solidFill>
                <a:latin typeface="Playpen Sans"/>
                <a:ea typeface="Playpen Sans"/>
                <a:cs typeface="Playpen Sans"/>
                <a:sym typeface="Playpen Sans"/>
              </a:rPr>
              <a:t>→ Jika kondisi benar, maka program menampilkan "Negatif"</a:t>
            </a:r>
          </a:p>
          <a:p>
            <a:pPr algn="l" marL="431799" indent="-215899" lvl="1">
              <a:lnSpc>
                <a:spcPts val="2799"/>
              </a:lnSpc>
              <a:buFont typeface="Arial"/>
              <a:buChar char="•"/>
            </a:pPr>
            <a:r>
              <a:rPr lang="en-US" b="true" sz="1999">
                <a:solidFill>
                  <a:srgbClr val="000000"/>
                </a:solidFill>
                <a:latin typeface="Playpen Sans Bold"/>
                <a:ea typeface="Playpen Sans Bold"/>
                <a:cs typeface="Playpen Sans Bold"/>
                <a:sym typeface="Playpen Sans Bold"/>
              </a:rPr>
              <a:t>else:</a:t>
            </a:r>
          </a:p>
          <a:p>
            <a:pPr algn="l">
              <a:lnSpc>
                <a:spcPts val="2799"/>
              </a:lnSpc>
            </a:pPr>
            <a:r>
              <a:rPr lang="en-US" sz="1999">
                <a:solidFill>
                  <a:srgbClr val="000000"/>
                </a:solidFill>
                <a:latin typeface="Playpen Sans"/>
                <a:ea typeface="Playpen Sans"/>
                <a:cs typeface="Playpen Sans"/>
                <a:sym typeface="Playpen Sans"/>
              </a:rPr>
              <a:t>    </a:t>
            </a:r>
            <a:r>
              <a:rPr lang="en-US" sz="1999">
                <a:solidFill>
                  <a:srgbClr val="000000"/>
                </a:solidFill>
                <a:latin typeface="Playpen Sans"/>
                <a:ea typeface="Playpen Sans"/>
                <a:cs typeface="Playpen Sans"/>
                <a:sym typeface="Playpen Sans"/>
              </a:rPr>
              <a:t>→ Jika kondisi salah (tidak lebih dari 0)</a:t>
            </a:r>
          </a:p>
          <a:p>
            <a:pPr algn="l" marL="431799" indent="-215899" lvl="1">
              <a:lnSpc>
                <a:spcPts val="2799"/>
              </a:lnSpc>
              <a:buFont typeface="Arial"/>
              <a:buChar char="•"/>
            </a:pPr>
            <a:r>
              <a:rPr lang="en-US" b="true" sz="1999">
                <a:solidFill>
                  <a:srgbClr val="000000"/>
                </a:solidFill>
                <a:latin typeface="Playpen Sans Bold"/>
                <a:ea typeface="Playpen Sans Bold"/>
                <a:cs typeface="Playpen Sans Bold"/>
                <a:sym typeface="Playpen Sans Bold"/>
              </a:rPr>
              <a:t>print("Nol")</a:t>
            </a:r>
          </a:p>
          <a:p>
            <a:pPr algn="l">
              <a:lnSpc>
                <a:spcPts val="2799"/>
              </a:lnSpc>
            </a:pPr>
            <a:r>
              <a:rPr lang="en-US" sz="1999" b="true">
                <a:solidFill>
                  <a:srgbClr val="000000"/>
                </a:solidFill>
                <a:latin typeface="Playpen Sans Bold"/>
                <a:ea typeface="Playpen Sans Bold"/>
                <a:cs typeface="Playpen Sans Bold"/>
                <a:sym typeface="Playpen Sans Bold"/>
              </a:rPr>
              <a:t>    </a:t>
            </a:r>
            <a:r>
              <a:rPr lang="en-US" sz="1999">
                <a:solidFill>
                  <a:srgbClr val="000000"/>
                </a:solidFill>
                <a:latin typeface="Playpen Sans"/>
                <a:ea typeface="Playpen Sans"/>
                <a:cs typeface="Playpen Sans"/>
                <a:sym typeface="Playpen Sans"/>
              </a:rPr>
              <a:t>→ Maka program menampilkan "Nol"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FFB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708230" y="2038416"/>
            <a:ext cx="10871541" cy="4427682"/>
          </a:xfrm>
          <a:custGeom>
            <a:avLst/>
            <a:gdLst/>
            <a:ahLst/>
            <a:cxnLst/>
            <a:rect r="r" b="b" t="t" l="l"/>
            <a:pathLst>
              <a:path h="4427682" w="10871541">
                <a:moveTo>
                  <a:pt x="0" y="0"/>
                </a:moveTo>
                <a:lnTo>
                  <a:pt x="10871540" y="0"/>
                </a:lnTo>
                <a:lnTo>
                  <a:pt x="10871540" y="4427682"/>
                </a:lnTo>
                <a:lnTo>
                  <a:pt x="0" y="442768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577116" y="3676890"/>
            <a:ext cx="7133768" cy="12487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824"/>
              </a:lnSpc>
            </a:pPr>
            <a:r>
              <a:rPr lang="en-US" sz="8255">
                <a:solidFill>
                  <a:srgbClr val="FFFFFF"/>
                </a:solidFill>
                <a:latin typeface="210 빛글"/>
                <a:ea typeface="210 빛글"/>
                <a:cs typeface="210 빛글"/>
                <a:sym typeface="210 빛글"/>
              </a:rPr>
              <a:t>THANK YOU!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2602998" y="7254997"/>
            <a:ext cx="13082004" cy="993587"/>
            <a:chOff x="0" y="0"/>
            <a:chExt cx="3744307" cy="28438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744307" cy="284383"/>
            </a:xfrm>
            <a:custGeom>
              <a:avLst/>
              <a:gdLst/>
              <a:ahLst/>
              <a:cxnLst/>
              <a:rect r="r" b="b" t="t" l="l"/>
              <a:pathLst>
                <a:path h="284383" w="3744307">
                  <a:moveTo>
                    <a:pt x="59180" y="0"/>
                  </a:moveTo>
                  <a:lnTo>
                    <a:pt x="3685127" y="0"/>
                  </a:lnTo>
                  <a:cubicBezTo>
                    <a:pt x="3700822" y="0"/>
                    <a:pt x="3715875" y="6235"/>
                    <a:pt x="3726973" y="17333"/>
                  </a:cubicBezTo>
                  <a:cubicBezTo>
                    <a:pt x="3738072" y="28432"/>
                    <a:pt x="3744307" y="43484"/>
                    <a:pt x="3744307" y="59180"/>
                  </a:cubicBezTo>
                  <a:lnTo>
                    <a:pt x="3744307" y="225203"/>
                  </a:lnTo>
                  <a:cubicBezTo>
                    <a:pt x="3744307" y="240898"/>
                    <a:pt x="3738072" y="255951"/>
                    <a:pt x="3726973" y="267049"/>
                  </a:cubicBezTo>
                  <a:cubicBezTo>
                    <a:pt x="3715875" y="278148"/>
                    <a:pt x="3700822" y="284383"/>
                    <a:pt x="3685127" y="284383"/>
                  </a:cubicBezTo>
                  <a:lnTo>
                    <a:pt x="59180" y="284383"/>
                  </a:lnTo>
                  <a:cubicBezTo>
                    <a:pt x="43484" y="284383"/>
                    <a:pt x="28432" y="278148"/>
                    <a:pt x="17333" y="267049"/>
                  </a:cubicBezTo>
                  <a:cubicBezTo>
                    <a:pt x="6235" y="255951"/>
                    <a:pt x="0" y="240898"/>
                    <a:pt x="0" y="225203"/>
                  </a:cubicBezTo>
                  <a:lnTo>
                    <a:pt x="0" y="59180"/>
                  </a:lnTo>
                  <a:cubicBezTo>
                    <a:pt x="0" y="43484"/>
                    <a:pt x="6235" y="28432"/>
                    <a:pt x="17333" y="17333"/>
                  </a:cubicBezTo>
                  <a:cubicBezTo>
                    <a:pt x="28432" y="6235"/>
                    <a:pt x="43484" y="0"/>
                    <a:pt x="59180" y="0"/>
                  </a:cubicBezTo>
                  <a:close/>
                </a:path>
              </a:pathLst>
            </a:custGeom>
            <a:solidFill>
              <a:srgbClr val="00A551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28575"/>
              <a:ext cx="3744307" cy="3129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2963060" y="7504683"/>
            <a:ext cx="12415113" cy="4465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37"/>
              </a:lnSpc>
            </a:pPr>
            <a:r>
              <a:rPr lang="en-US" sz="2669">
                <a:solidFill>
                  <a:srgbClr val="FFFFFF"/>
                </a:solidFill>
                <a:latin typeface="Playpen Sans"/>
                <a:ea typeface="Playpen Sans"/>
                <a:cs typeface="Playpen Sans"/>
                <a:sym typeface="Playpen Sans"/>
              </a:rPr>
              <a:t>PPL PPG UNESA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-1133292">
            <a:off x="-1330229" y="1020054"/>
            <a:ext cx="3441486" cy="5835001"/>
          </a:xfrm>
          <a:custGeom>
            <a:avLst/>
            <a:gdLst/>
            <a:ahLst/>
            <a:cxnLst/>
            <a:rect r="r" b="b" t="t" l="l"/>
            <a:pathLst>
              <a:path h="5835001" w="3441486">
                <a:moveTo>
                  <a:pt x="0" y="0"/>
                </a:moveTo>
                <a:lnTo>
                  <a:pt x="3441486" y="0"/>
                </a:lnTo>
                <a:lnTo>
                  <a:pt x="3441486" y="5835001"/>
                </a:lnTo>
                <a:lnTo>
                  <a:pt x="0" y="583500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25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-1133292">
            <a:off x="16174523" y="1020054"/>
            <a:ext cx="3441486" cy="5835001"/>
          </a:xfrm>
          <a:custGeom>
            <a:avLst/>
            <a:gdLst/>
            <a:ahLst/>
            <a:cxnLst/>
            <a:rect r="r" b="b" t="t" l="l"/>
            <a:pathLst>
              <a:path h="5835001" w="3441486">
                <a:moveTo>
                  <a:pt x="0" y="0"/>
                </a:moveTo>
                <a:lnTo>
                  <a:pt x="3441486" y="0"/>
                </a:lnTo>
                <a:lnTo>
                  <a:pt x="3441486" y="5835001"/>
                </a:lnTo>
                <a:lnTo>
                  <a:pt x="0" y="583500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25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-819747">
            <a:off x="689529" y="8102497"/>
            <a:ext cx="1606827" cy="2724357"/>
          </a:xfrm>
          <a:custGeom>
            <a:avLst/>
            <a:gdLst/>
            <a:ahLst/>
            <a:cxnLst/>
            <a:rect r="r" b="b" t="t" l="l"/>
            <a:pathLst>
              <a:path h="2724357" w="1606827">
                <a:moveTo>
                  <a:pt x="0" y="0"/>
                </a:moveTo>
                <a:lnTo>
                  <a:pt x="1606827" y="0"/>
                </a:lnTo>
                <a:lnTo>
                  <a:pt x="1606827" y="2724357"/>
                </a:lnTo>
                <a:lnTo>
                  <a:pt x="0" y="272435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2627696" y="9778554"/>
            <a:ext cx="2130986" cy="1016892"/>
          </a:xfrm>
          <a:custGeom>
            <a:avLst/>
            <a:gdLst/>
            <a:ahLst/>
            <a:cxnLst/>
            <a:rect r="r" b="b" t="t" l="l"/>
            <a:pathLst>
              <a:path h="1016892" w="2130986">
                <a:moveTo>
                  <a:pt x="0" y="0"/>
                </a:moveTo>
                <a:lnTo>
                  <a:pt x="2130986" y="0"/>
                </a:lnTo>
                <a:lnTo>
                  <a:pt x="2130986" y="1016892"/>
                </a:lnTo>
                <a:lnTo>
                  <a:pt x="0" y="101689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3155614" y="-508446"/>
            <a:ext cx="2130986" cy="1016892"/>
          </a:xfrm>
          <a:custGeom>
            <a:avLst/>
            <a:gdLst/>
            <a:ahLst/>
            <a:cxnLst/>
            <a:rect r="r" b="b" t="t" l="l"/>
            <a:pathLst>
              <a:path h="1016892" w="2130986">
                <a:moveTo>
                  <a:pt x="0" y="0"/>
                </a:moveTo>
                <a:lnTo>
                  <a:pt x="2130986" y="0"/>
                </a:lnTo>
                <a:lnTo>
                  <a:pt x="2130986" y="1016892"/>
                </a:lnTo>
                <a:lnTo>
                  <a:pt x="0" y="101689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1167781">
            <a:off x="15217727" y="-548855"/>
            <a:ext cx="1762365" cy="2988071"/>
          </a:xfrm>
          <a:custGeom>
            <a:avLst/>
            <a:gdLst/>
            <a:ahLst/>
            <a:cxnLst/>
            <a:rect r="r" b="b" t="t" l="l"/>
            <a:pathLst>
              <a:path h="2988071" w="1762365">
                <a:moveTo>
                  <a:pt x="0" y="0"/>
                </a:moveTo>
                <a:lnTo>
                  <a:pt x="1762366" y="0"/>
                </a:lnTo>
                <a:lnTo>
                  <a:pt x="1762366" y="2988070"/>
                </a:lnTo>
                <a:lnTo>
                  <a:pt x="0" y="298807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DAHGteyCWOc</dc:identifier>
  <dcterms:modified xsi:type="dcterms:W3CDTF">2011-08-01T06:04:30Z</dcterms:modified>
  <cp:revision>1</cp:revision>
  <dc:title>Pertemuan 3. Struktur Dasar Program Python</dc:title>
</cp:coreProperties>
</file>