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8288000" cy="10287000"/>
  <p:notesSz cx="6858000" cy="9144000"/>
  <p:embeddedFontLst>
    <p:embeddedFont>
      <p:font typeface="Dekko" panose="020B0604020202020204" charset="0"/>
      <p:regular r:id="rId15"/>
    </p:embeddedFont>
    <p:embeddedFont>
      <p:font typeface="Marykat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-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7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7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7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7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7.svg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3174472" y="1039252"/>
            <a:ext cx="11889328" cy="8514493"/>
          </a:xfrm>
          <a:custGeom>
            <a:avLst/>
            <a:gdLst/>
            <a:ahLst/>
            <a:cxnLst/>
            <a:rect l="l" t="t" r="r" b="b"/>
            <a:pathLst>
              <a:path w="11889328" h="8514493">
                <a:moveTo>
                  <a:pt x="0" y="0"/>
                </a:moveTo>
                <a:lnTo>
                  <a:pt x="11889328" y="0"/>
                </a:lnTo>
                <a:lnTo>
                  <a:pt x="11889328" y="8514493"/>
                </a:lnTo>
                <a:lnTo>
                  <a:pt x="0" y="85144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482194" y="6107440"/>
            <a:ext cx="3023552" cy="3143580"/>
          </a:xfrm>
          <a:custGeom>
            <a:avLst/>
            <a:gdLst/>
            <a:ahLst/>
            <a:cxnLst/>
            <a:rect l="l" t="t" r="r" b="b"/>
            <a:pathLst>
              <a:path w="3023552" h="3143580">
                <a:moveTo>
                  <a:pt x="0" y="0"/>
                </a:moveTo>
                <a:lnTo>
                  <a:pt x="3023552" y="0"/>
                </a:lnTo>
                <a:lnTo>
                  <a:pt x="3023552" y="3143580"/>
                </a:lnTo>
                <a:lnTo>
                  <a:pt x="0" y="3143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3721545" y="2692154"/>
            <a:ext cx="3080646" cy="2671760"/>
          </a:xfrm>
          <a:custGeom>
            <a:avLst/>
            <a:gdLst/>
            <a:ahLst/>
            <a:cxnLst/>
            <a:rect l="l" t="t" r="r" b="b"/>
            <a:pathLst>
              <a:path w="3080646" h="2671760">
                <a:moveTo>
                  <a:pt x="0" y="0"/>
                </a:moveTo>
                <a:lnTo>
                  <a:pt x="3080646" y="0"/>
                </a:lnTo>
                <a:lnTo>
                  <a:pt x="3080646" y="2671760"/>
                </a:lnTo>
                <a:lnTo>
                  <a:pt x="0" y="2671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3968237" y="3553431"/>
            <a:ext cx="10301798" cy="241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1"/>
              </a:lnSpc>
            </a:pPr>
            <a:r>
              <a:rPr lang="en-US" sz="106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Mengenal Algoritma dan Diagram Alir</a:t>
            </a:r>
          </a:p>
        </p:txBody>
      </p:sp>
      <p:sp>
        <p:nvSpPr>
          <p:cNvPr id="7" name="Freeform 7"/>
          <p:cNvSpPr/>
          <p:nvPr/>
        </p:nvSpPr>
        <p:spPr>
          <a:xfrm rot="-237180">
            <a:off x="13464341" y="6702965"/>
            <a:ext cx="2433142" cy="2101350"/>
          </a:xfrm>
          <a:custGeom>
            <a:avLst/>
            <a:gdLst/>
            <a:ahLst/>
            <a:cxnLst/>
            <a:rect l="l" t="t" r="r" b="b"/>
            <a:pathLst>
              <a:path w="2433142" h="2101350">
                <a:moveTo>
                  <a:pt x="0" y="0"/>
                </a:moveTo>
                <a:lnTo>
                  <a:pt x="2433142" y="0"/>
                </a:lnTo>
                <a:lnTo>
                  <a:pt x="2433142" y="2101350"/>
                </a:lnTo>
                <a:lnTo>
                  <a:pt x="0" y="2101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 rot="-1796209">
            <a:off x="1318965" y="2090304"/>
            <a:ext cx="5254244" cy="1203699"/>
          </a:xfrm>
          <a:custGeom>
            <a:avLst/>
            <a:gdLst/>
            <a:ahLst/>
            <a:cxnLst/>
            <a:rect l="l" t="t" r="r" b="b"/>
            <a:pathLst>
              <a:path w="5254244" h="1203699">
                <a:moveTo>
                  <a:pt x="0" y="0"/>
                </a:moveTo>
                <a:lnTo>
                  <a:pt x="5254244" y="0"/>
                </a:lnTo>
                <a:lnTo>
                  <a:pt x="5254244" y="1203700"/>
                </a:lnTo>
                <a:lnTo>
                  <a:pt x="0" y="1203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5967020" y="-3858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Freeform 10"/>
          <p:cNvSpPr/>
          <p:nvPr/>
        </p:nvSpPr>
        <p:spPr>
          <a:xfrm rot="-2699999">
            <a:off x="-811771" y="8337364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>
            <a:off x="5719216" y="6503457"/>
            <a:ext cx="7315200" cy="1130531"/>
          </a:xfrm>
          <a:custGeom>
            <a:avLst/>
            <a:gdLst/>
            <a:ahLst/>
            <a:cxnLst/>
            <a:rect l="l" t="t" r="r" b="b"/>
            <a:pathLst>
              <a:path w="7315200" h="1130531">
                <a:moveTo>
                  <a:pt x="0" y="0"/>
                </a:moveTo>
                <a:lnTo>
                  <a:pt x="7315200" y="0"/>
                </a:lnTo>
                <a:lnTo>
                  <a:pt x="7315200" y="1130531"/>
                </a:lnTo>
                <a:lnTo>
                  <a:pt x="0" y="1130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6403604" y="6598301"/>
            <a:ext cx="5663210" cy="84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0"/>
              </a:lnSpc>
            </a:pPr>
            <a:r>
              <a:rPr lang="en-US" sz="4964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PPL PPG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-3946257">
            <a:off x="-2488716" y="-5140522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4" y="0"/>
                </a:lnTo>
                <a:lnTo>
                  <a:pt x="12327014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223299">
            <a:off x="14365862" y="7360737"/>
            <a:ext cx="2864928" cy="2286733"/>
          </a:xfrm>
          <a:custGeom>
            <a:avLst/>
            <a:gdLst/>
            <a:ahLst/>
            <a:cxnLst/>
            <a:rect l="l" t="t" r="r" b="b"/>
            <a:pathLst>
              <a:path w="2864928" h="2286733">
                <a:moveTo>
                  <a:pt x="0" y="0"/>
                </a:moveTo>
                <a:lnTo>
                  <a:pt x="2864928" y="0"/>
                </a:lnTo>
                <a:lnTo>
                  <a:pt x="2864928" y="2286733"/>
                </a:lnTo>
                <a:lnTo>
                  <a:pt x="0" y="2286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369153" y="6339056"/>
            <a:ext cx="2873192" cy="3735829"/>
          </a:xfrm>
          <a:custGeom>
            <a:avLst/>
            <a:gdLst/>
            <a:ahLst/>
            <a:cxnLst/>
            <a:rect l="l" t="t" r="r" b="b"/>
            <a:pathLst>
              <a:path w="2873192" h="3735829">
                <a:moveTo>
                  <a:pt x="0" y="0"/>
                </a:moveTo>
                <a:lnTo>
                  <a:pt x="2873193" y="0"/>
                </a:lnTo>
                <a:lnTo>
                  <a:pt x="2873193" y="3735829"/>
                </a:lnTo>
                <a:lnTo>
                  <a:pt x="0" y="37358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 rot="-1205959">
            <a:off x="1137543" y="3187050"/>
            <a:ext cx="3042049" cy="1172571"/>
          </a:xfrm>
          <a:custGeom>
            <a:avLst/>
            <a:gdLst/>
            <a:ahLst/>
            <a:cxnLst/>
            <a:rect l="l" t="t" r="r" b="b"/>
            <a:pathLst>
              <a:path w="3042049" h="1172571">
                <a:moveTo>
                  <a:pt x="0" y="0"/>
                </a:moveTo>
                <a:lnTo>
                  <a:pt x="3042049" y="0"/>
                </a:lnTo>
                <a:lnTo>
                  <a:pt x="3042049" y="1172572"/>
                </a:lnTo>
                <a:lnTo>
                  <a:pt x="0" y="1172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11828974" y="-2397206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3" y="0"/>
                </a:lnTo>
                <a:lnTo>
                  <a:pt x="12327013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8" name="Group 8"/>
          <p:cNvGrpSpPr/>
          <p:nvPr/>
        </p:nvGrpSpPr>
        <p:grpSpPr>
          <a:xfrm>
            <a:off x="3073312" y="3706706"/>
            <a:ext cx="12141377" cy="5264700"/>
            <a:chOff x="0" y="0"/>
            <a:chExt cx="1035958" cy="4492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5958" cy="449208"/>
            </a:xfrm>
            <a:custGeom>
              <a:avLst/>
              <a:gdLst/>
              <a:ahLst/>
              <a:cxnLst/>
              <a:rect l="l" t="t" r="r" b="b"/>
              <a:pathLst>
                <a:path w="1035958" h="449208">
                  <a:moveTo>
                    <a:pt x="12454" y="0"/>
                  </a:moveTo>
                  <a:lnTo>
                    <a:pt x="1023504" y="0"/>
                  </a:lnTo>
                  <a:cubicBezTo>
                    <a:pt x="1026807" y="0"/>
                    <a:pt x="1029975" y="1312"/>
                    <a:pt x="1032310" y="3648"/>
                  </a:cubicBezTo>
                  <a:cubicBezTo>
                    <a:pt x="1034646" y="5983"/>
                    <a:pt x="1035958" y="9151"/>
                    <a:pt x="1035958" y="12454"/>
                  </a:cubicBezTo>
                  <a:lnTo>
                    <a:pt x="1035958" y="436754"/>
                  </a:lnTo>
                  <a:cubicBezTo>
                    <a:pt x="1035958" y="440057"/>
                    <a:pt x="1034646" y="443225"/>
                    <a:pt x="1032310" y="445561"/>
                  </a:cubicBezTo>
                  <a:cubicBezTo>
                    <a:pt x="1029975" y="447896"/>
                    <a:pt x="1026807" y="449208"/>
                    <a:pt x="1023504" y="449208"/>
                  </a:cubicBezTo>
                  <a:lnTo>
                    <a:pt x="12454" y="449208"/>
                  </a:lnTo>
                  <a:cubicBezTo>
                    <a:pt x="9151" y="449208"/>
                    <a:pt x="5983" y="447896"/>
                    <a:pt x="3648" y="445561"/>
                  </a:cubicBezTo>
                  <a:cubicBezTo>
                    <a:pt x="1312" y="443225"/>
                    <a:pt x="0" y="440057"/>
                    <a:pt x="0" y="436754"/>
                  </a:cubicBezTo>
                  <a:lnTo>
                    <a:pt x="0" y="12454"/>
                  </a:lnTo>
                  <a:cubicBezTo>
                    <a:pt x="0" y="9151"/>
                    <a:pt x="1312" y="5983"/>
                    <a:pt x="3648" y="3648"/>
                  </a:cubicBezTo>
                  <a:cubicBezTo>
                    <a:pt x="5983" y="1312"/>
                    <a:pt x="9151" y="0"/>
                    <a:pt x="12454" y="0"/>
                  </a:cubicBezTo>
                  <a:close/>
                </a:path>
              </a:pathLst>
            </a:custGeom>
            <a:solidFill>
              <a:srgbClr val="FFC96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5958" cy="487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084310" y="1088583"/>
            <a:ext cx="10301798" cy="161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1347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Algoritma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0982" y="4478275"/>
            <a:ext cx="10866035" cy="36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Algoritma adalah langkah-langkah logis dan sistematis untuk menyelesaikan suatu masalah.</a:t>
            </a:r>
          </a:p>
          <a:p>
            <a:pPr algn="l">
              <a:lnSpc>
                <a:spcPts val="4874"/>
              </a:lnSpc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Bersifat:</a:t>
            </a:r>
          </a:p>
          <a:p>
            <a:pPr marL="751732" lvl="1" indent="-375866" algn="l">
              <a:lnSpc>
                <a:spcPts val="4874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Jelas (Tidak Membingungkan)</a:t>
            </a:r>
          </a:p>
          <a:p>
            <a:pPr marL="751732" lvl="1" indent="-375866" algn="l">
              <a:lnSpc>
                <a:spcPts val="4874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Terurut (Berurutan / Sistematis)</a:t>
            </a:r>
          </a:p>
          <a:p>
            <a:pPr marL="751732" lvl="1" indent="-375866" algn="l">
              <a:lnSpc>
                <a:spcPts val="4874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Berhingga (Ada Akhirnya)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6018" y="-1375172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7" y="0"/>
                </a:lnTo>
                <a:lnTo>
                  <a:pt x="14294817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8099388" y="0"/>
            <a:ext cx="11026530" cy="10400545"/>
          </a:xfrm>
          <a:custGeom>
            <a:avLst/>
            <a:gdLst/>
            <a:ahLst/>
            <a:cxnLst/>
            <a:rect l="l" t="t" r="r" b="b"/>
            <a:pathLst>
              <a:path w="11026530" h="10400545">
                <a:moveTo>
                  <a:pt x="0" y="0"/>
                </a:moveTo>
                <a:lnTo>
                  <a:pt x="11026530" y="0"/>
                </a:lnTo>
                <a:lnTo>
                  <a:pt x="11026530" y="10400545"/>
                </a:lnTo>
                <a:lnTo>
                  <a:pt x="0" y="10400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7003" r="-20244" b="-29749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970380">
            <a:off x="16922635" y="6523103"/>
            <a:ext cx="2730731" cy="3300884"/>
          </a:xfrm>
          <a:custGeom>
            <a:avLst/>
            <a:gdLst/>
            <a:ahLst/>
            <a:cxnLst/>
            <a:rect l="l" t="t" r="r" b="b"/>
            <a:pathLst>
              <a:path w="2730731" h="3300884">
                <a:moveTo>
                  <a:pt x="0" y="0"/>
                </a:moveTo>
                <a:lnTo>
                  <a:pt x="2730730" y="0"/>
                </a:lnTo>
                <a:lnTo>
                  <a:pt x="2730730" y="3300883"/>
                </a:lnTo>
                <a:lnTo>
                  <a:pt x="0" y="3300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6132" y="6801087"/>
            <a:ext cx="3395204" cy="3413825"/>
          </a:xfrm>
          <a:custGeom>
            <a:avLst/>
            <a:gdLst/>
            <a:ahLst/>
            <a:cxnLst/>
            <a:rect l="l" t="t" r="r" b="b"/>
            <a:pathLst>
              <a:path w="3395204" h="3413825">
                <a:moveTo>
                  <a:pt x="0" y="0"/>
                </a:moveTo>
                <a:lnTo>
                  <a:pt x="3395204" y="0"/>
                </a:lnTo>
                <a:lnTo>
                  <a:pt x="3395204" y="3413825"/>
                </a:lnTo>
                <a:lnTo>
                  <a:pt x="0" y="341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9473451" y="0"/>
            <a:ext cx="6853714" cy="10287000"/>
          </a:xfrm>
          <a:custGeom>
            <a:avLst/>
            <a:gdLst/>
            <a:ahLst/>
            <a:cxnLst/>
            <a:rect l="l" t="t" r="r" b="b"/>
            <a:pathLst>
              <a:path w="6853714" h="10287000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929670" y="1954875"/>
            <a:ext cx="5278383" cy="353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89"/>
              </a:lnSpc>
            </a:pPr>
            <a:r>
              <a:rPr lang="en-US" sz="10575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Contoh Algoritma Sederhana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9670" y="5610751"/>
            <a:ext cx="3746540" cy="597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  <a:spcBef>
                <a:spcPct val="0"/>
              </a:spcBef>
            </a:pPr>
            <a:r>
              <a:rPr lang="en-US" sz="34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(Membuat mie instan)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-105504" y="4211065"/>
            <a:ext cx="18499009" cy="18499009"/>
          </a:xfrm>
          <a:custGeom>
            <a:avLst/>
            <a:gdLst/>
            <a:ahLst/>
            <a:cxnLst/>
            <a:rect l="l" t="t" r="r" b="b"/>
            <a:pathLst>
              <a:path w="18499009" h="18499009">
                <a:moveTo>
                  <a:pt x="0" y="0"/>
                </a:moveTo>
                <a:lnTo>
                  <a:pt x="18499008" y="0"/>
                </a:lnTo>
                <a:lnTo>
                  <a:pt x="18499008" y="18499008"/>
                </a:lnTo>
                <a:lnTo>
                  <a:pt x="0" y="18499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729343" y="6846263"/>
            <a:ext cx="2558657" cy="3440737"/>
          </a:xfrm>
          <a:custGeom>
            <a:avLst/>
            <a:gdLst/>
            <a:ahLst/>
            <a:cxnLst/>
            <a:rect l="l" t="t" r="r" b="b"/>
            <a:pathLst>
              <a:path w="2558657" h="3440737">
                <a:moveTo>
                  <a:pt x="0" y="0"/>
                </a:moveTo>
                <a:lnTo>
                  <a:pt x="2558657" y="0"/>
                </a:lnTo>
                <a:lnTo>
                  <a:pt x="2558657" y="3440737"/>
                </a:lnTo>
                <a:lnTo>
                  <a:pt x="0" y="3440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6119420" y="-2334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-821953" y="7192476"/>
            <a:ext cx="2765425" cy="3104049"/>
          </a:xfrm>
          <a:custGeom>
            <a:avLst/>
            <a:gdLst/>
            <a:ahLst/>
            <a:cxnLst/>
            <a:rect l="l" t="t" r="r" b="b"/>
            <a:pathLst>
              <a:path w="2765425" h="3104049">
                <a:moveTo>
                  <a:pt x="0" y="0"/>
                </a:moveTo>
                <a:lnTo>
                  <a:pt x="2765425" y="0"/>
                </a:lnTo>
                <a:lnTo>
                  <a:pt x="2765425" y="3104049"/>
                </a:lnTo>
                <a:lnTo>
                  <a:pt x="0" y="3104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5320736" y="435055"/>
            <a:ext cx="7646528" cy="305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1347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Ciri-Ciri Algoritma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66791" y="5117521"/>
            <a:ext cx="14708336" cy="4102286"/>
            <a:chOff x="0" y="0"/>
            <a:chExt cx="19611114" cy="5469715"/>
          </a:xfrm>
        </p:grpSpPr>
        <p:sp>
          <p:nvSpPr>
            <p:cNvPr id="9" name="TextBox 9"/>
            <p:cNvSpPr txBox="1"/>
            <p:nvPr/>
          </p:nvSpPr>
          <p:spPr>
            <a:xfrm>
              <a:off x="1770255" y="193738"/>
              <a:ext cx="714778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Finiteness (keterbatasan)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60914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781" y="206089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0255" y="2256371"/>
              <a:ext cx="714778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Input (masukan)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2123547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781" y="2268721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0255" y="4325737"/>
              <a:ext cx="714778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Output (keluaran)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4192913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781" y="4338087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67690" y="159099"/>
              <a:ext cx="714778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Definiteness (kepastian)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9197435" y="26275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3" y="0"/>
                  </a:lnTo>
                  <a:lnTo>
                    <a:pt x="1276803" y="1276803"/>
                  </a:lnTo>
                  <a:lnTo>
                    <a:pt x="0" y="1276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2217" y="171450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67690" y="2218271"/>
              <a:ext cx="8643424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Effectiveness (keefektivitasan)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97435" y="2085447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3" y="0"/>
                  </a:lnTo>
                  <a:lnTo>
                    <a:pt x="1276803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2217" y="2230621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67690" y="4287637"/>
              <a:ext cx="714778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Structured (terstruktur)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97435" y="4154813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3" y="0"/>
                  </a:lnTo>
                  <a:lnTo>
                    <a:pt x="1276803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2217" y="4299987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5400000">
            <a:off x="5822446" y="-2547950"/>
            <a:ext cx="6643107" cy="19026794"/>
          </a:xfrm>
          <a:custGeom>
            <a:avLst/>
            <a:gdLst/>
            <a:ahLst/>
            <a:cxnLst/>
            <a:rect l="l" t="t" r="r" b="b"/>
            <a:pathLst>
              <a:path w="6643107" h="19026794">
                <a:moveTo>
                  <a:pt x="0" y="0"/>
                </a:moveTo>
                <a:lnTo>
                  <a:pt x="6643108" y="0"/>
                </a:lnTo>
                <a:lnTo>
                  <a:pt x="6643108" y="19026793"/>
                </a:lnTo>
                <a:lnTo>
                  <a:pt x="0" y="19026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052" r="-86279" b="-5631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5400000">
            <a:off x="2224713" y="5765689"/>
            <a:ext cx="1498389" cy="1498389"/>
          </a:xfrm>
          <a:custGeom>
            <a:avLst/>
            <a:gdLst/>
            <a:ahLst/>
            <a:cxnLst/>
            <a:rect l="l" t="t" r="r" b="b"/>
            <a:pathLst>
              <a:path w="1498389" h="1498389">
                <a:moveTo>
                  <a:pt x="0" y="0"/>
                </a:moveTo>
                <a:lnTo>
                  <a:pt x="1498390" y="0"/>
                </a:lnTo>
                <a:lnTo>
                  <a:pt x="1498390" y="1498390"/>
                </a:lnTo>
                <a:lnTo>
                  <a:pt x="0" y="1498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4876457" y="6947310"/>
            <a:ext cx="3411543" cy="4114800"/>
          </a:xfrm>
          <a:custGeom>
            <a:avLst/>
            <a:gdLst/>
            <a:ahLst/>
            <a:cxnLst/>
            <a:rect l="l" t="t" r="r" b="b"/>
            <a:pathLst>
              <a:path w="3411543" h="4114800">
                <a:moveTo>
                  <a:pt x="0" y="0"/>
                </a:moveTo>
                <a:lnTo>
                  <a:pt x="3411543" y="0"/>
                </a:lnTo>
                <a:lnTo>
                  <a:pt x="3411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 rot="-5400000">
            <a:off x="10139149" y="5614939"/>
            <a:ext cx="1498389" cy="1498389"/>
          </a:xfrm>
          <a:custGeom>
            <a:avLst/>
            <a:gdLst/>
            <a:ahLst/>
            <a:cxnLst/>
            <a:rect l="l" t="t" r="r" b="b"/>
            <a:pathLst>
              <a:path w="1498389" h="1498389">
                <a:moveTo>
                  <a:pt x="0" y="0"/>
                </a:moveTo>
                <a:lnTo>
                  <a:pt x="1498389" y="0"/>
                </a:lnTo>
                <a:lnTo>
                  <a:pt x="1498389" y="1498389"/>
                </a:lnTo>
                <a:lnTo>
                  <a:pt x="0" y="1498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-227769" y="7264079"/>
            <a:ext cx="3777631" cy="3193816"/>
          </a:xfrm>
          <a:custGeom>
            <a:avLst/>
            <a:gdLst/>
            <a:ahLst/>
            <a:cxnLst/>
            <a:rect l="l" t="t" r="r" b="b"/>
            <a:pathLst>
              <a:path w="3777631" h="3193816">
                <a:moveTo>
                  <a:pt x="0" y="0"/>
                </a:moveTo>
                <a:lnTo>
                  <a:pt x="3777631" y="0"/>
                </a:lnTo>
                <a:lnTo>
                  <a:pt x="3777631" y="3193815"/>
                </a:lnTo>
                <a:lnTo>
                  <a:pt x="0" y="3193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769929" y="-568931"/>
            <a:ext cx="2127788" cy="2955261"/>
          </a:xfrm>
          <a:custGeom>
            <a:avLst/>
            <a:gdLst/>
            <a:ahLst/>
            <a:cxnLst/>
            <a:rect l="l" t="t" r="r" b="b"/>
            <a:pathLst>
              <a:path w="2127788" h="2955261">
                <a:moveTo>
                  <a:pt x="0" y="0"/>
                </a:moveTo>
                <a:lnTo>
                  <a:pt x="2127788" y="0"/>
                </a:lnTo>
                <a:lnTo>
                  <a:pt x="2127788" y="2955261"/>
                </a:lnTo>
                <a:lnTo>
                  <a:pt x="0" y="2955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4134728" y="1630655"/>
            <a:ext cx="10301798" cy="1200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1"/>
              </a:lnSpc>
            </a:pPr>
            <a:r>
              <a:rPr lang="en-US" sz="100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PENYAJIAN ALGORITMA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33796" y="6137059"/>
            <a:ext cx="559577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Diagram Alir (Flowchart)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97098" y="5815970"/>
            <a:ext cx="953621" cy="139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1"/>
              </a:lnSpc>
            </a:pPr>
            <a:r>
              <a:rPr lang="en-US" sz="8193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11533" y="5665219"/>
            <a:ext cx="953621" cy="139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1"/>
              </a:lnSpc>
            </a:pPr>
            <a:r>
              <a:rPr lang="en-US" sz="8193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47113" y="6061684"/>
            <a:ext cx="401617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Pseudecode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-3946257">
            <a:off x="-2488716" y="-5140522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4" y="0"/>
                </a:lnTo>
                <a:lnTo>
                  <a:pt x="12327014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223299">
            <a:off x="14365862" y="7360737"/>
            <a:ext cx="2864928" cy="2286733"/>
          </a:xfrm>
          <a:custGeom>
            <a:avLst/>
            <a:gdLst/>
            <a:ahLst/>
            <a:cxnLst/>
            <a:rect l="l" t="t" r="r" b="b"/>
            <a:pathLst>
              <a:path w="2864928" h="2286733">
                <a:moveTo>
                  <a:pt x="0" y="0"/>
                </a:moveTo>
                <a:lnTo>
                  <a:pt x="2864928" y="0"/>
                </a:lnTo>
                <a:lnTo>
                  <a:pt x="2864928" y="2286733"/>
                </a:lnTo>
                <a:lnTo>
                  <a:pt x="0" y="2286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369153" y="6339056"/>
            <a:ext cx="2873192" cy="3735829"/>
          </a:xfrm>
          <a:custGeom>
            <a:avLst/>
            <a:gdLst/>
            <a:ahLst/>
            <a:cxnLst/>
            <a:rect l="l" t="t" r="r" b="b"/>
            <a:pathLst>
              <a:path w="2873192" h="3735829">
                <a:moveTo>
                  <a:pt x="0" y="0"/>
                </a:moveTo>
                <a:lnTo>
                  <a:pt x="2873193" y="0"/>
                </a:lnTo>
                <a:lnTo>
                  <a:pt x="2873193" y="3735829"/>
                </a:lnTo>
                <a:lnTo>
                  <a:pt x="0" y="37358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 rot="-1205959">
            <a:off x="1137543" y="3187050"/>
            <a:ext cx="3042049" cy="1172571"/>
          </a:xfrm>
          <a:custGeom>
            <a:avLst/>
            <a:gdLst/>
            <a:ahLst/>
            <a:cxnLst/>
            <a:rect l="l" t="t" r="r" b="b"/>
            <a:pathLst>
              <a:path w="3042049" h="1172571">
                <a:moveTo>
                  <a:pt x="0" y="0"/>
                </a:moveTo>
                <a:lnTo>
                  <a:pt x="3042049" y="0"/>
                </a:lnTo>
                <a:lnTo>
                  <a:pt x="3042049" y="1172572"/>
                </a:lnTo>
                <a:lnTo>
                  <a:pt x="0" y="1172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11828974" y="-2397206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3" y="0"/>
                </a:lnTo>
                <a:lnTo>
                  <a:pt x="12327013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8" name="Group 8"/>
          <p:cNvGrpSpPr/>
          <p:nvPr/>
        </p:nvGrpSpPr>
        <p:grpSpPr>
          <a:xfrm>
            <a:off x="3073312" y="3706706"/>
            <a:ext cx="12141377" cy="5264700"/>
            <a:chOff x="0" y="0"/>
            <a:chExt cx="1035958" cy="4492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5958" cy="449208"/>
            </a:xfrm>
            <a:custGeom>
              <a:avLst/>
              <a:gdLst/>
              <a:ahLst/>
              <a:cxnLst/>
              <a:rect l="l" t="t" r="r" b="b"/>
              <a:pathLst>
                <a:path w="1035958" h="449208">
                  <a:moveTo>
                    <a:pt x="12454" y="0"/>
                  </a:moveTo>
                  <a:lnTo>
                    <a:pt x="1023504" y="0"/>
                  </a:lnTo>
                  <a:cubicBezTo>
                    <a:pt x="1026807" y="0"/>
                    <a:pt x="1029975" y="1312"/>
                    <a:pt x="1032310" y="3648"/>
                  </a:cubicBezTo>
                  <a:cubicBezTo>
                    <a:pt x="1034646" y="5983"/>
                    <a:pt x="1035958" y="9151"/>
                    <a:pt x="1035958" y="12454"/>
                  </a:cubicBezTo>
                  <a:lnTo>
                    <a:pt x="1035958" y="436754"/>
                  </a:lnTo>
                  <a:cubicBezTo>
                    <a:pt x="1035958" y="440057"/>
                    <a:pt x="1034646" y="443225"/>
                    <a:pt x="1032310" y="445561"/>
                  </a:cubicBezTo>
                  <a:cubicBezTo>
                    <a:pt x="1029975" y="447896"/>
                    <a:pt x="1026807" y="449208"/>
                    <a:pt x="1023504" y="449208"/>
                  </a:cubicBezTo>
                  <a:lnTo>
                    <a:pt x="12454" y="449208"/>
                  </a:lnTo>
                  <a:cubicBezTo>
                    <a:pt x="9151" y="449208"/>
                    <a:pt x="5983" y="447896"/>
                    <a:pt x="3648" y="445561"/>
                  </a:cubicBezTo>
                  <a:cubicBezTo>
                    <a:pt x="1312" y="443225"/>
                    <a:pt x="0" y="440057"/>
                    <a:pt x="0" y="436754"/>
                  </a:cubicBezTo>
                  <a:lnTo>
                    <a:pt x="0" y="12454"/>
                  </a:lnTo>
                  <a:cubicBezTo>
                    <a:pt x="0" y="9151"/>
                    <a:pt x="1312" y="5983"/>
                    <a:pt x="3648" y="3648"/>
                  </a:cubicBezTo>
                  <a:cubicBezTo>
                    <a:pt x="5983" y="1312"/>
                    <a:pt x="9151" y="0"/>
                    <a:pt x="12454" y="0"/>
                  </a:cubicBezTo>
                  <a:close/>
                </a:path>
              </a:pathLst>
            </a:custGeom>
            <a:solidFill>
              <a:srgbClr val="FFC96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5958" cy="487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487602" y="1343025"/>
            <a:ext cx="11312796" cy="12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6"/>
              </a:lnSpc>
            </a:pPr>
            <a:r>
              <a:rPr lang="en-US" sz="99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Diagram Alir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0982" y="5347590"/>
            <a:ext cx="10866035" cy="191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sz="368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Diagram alir adalah representasi visual dari algoritma. Menggunakan simbol-simbol tertentu untuk menggambarkan proses.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-105504" y="4211065"/>
            <a:ext cx="18499009" cy="18499009"/>
          </a:xfrm>
          <a:custGeom>
            <a:avLst/>
            <a:gdLst/>
            <a:ahLst/>
            <a:cxnLst/>
            <a:rect l="l" t="t" r="r" b="b"/>
            <a:pathLst>
              <a:path w="18499009" h="18499009">
                <a:moveTo>
                  <a:pt x="0" y="0"/>
                </a:moveTo>
                <a:lnTo>
                  <a:pt x="18499008" y="0"/>
                </a:lnTo>
                <a:lnTo>
                  <a:pt x="18499008" y="18499008"/>
                </a:lnTo>
                <a:lnTo>
                  <a:pt x="0" y="18499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729343" y="6846263"/>
            <a:ext cx="2558657" cy="3440737"/>
          </a:xfrm>
          <a:custGeom>
            <a:avLst/>
            <a:gdLst/>
            <a:ahLst/>
            <a:cxnLst/>
            <a:rect l="l" t="t" r="r" b="b"/>
            <a:pathLst>
              <a:path w="2558657" h="3440737">
                <a:moveTo>
                  <a:pt x="0" y="0"/>
                </a:moveTo>
                <a:lnTo>
                  <a:pt x="2558657" y="0"/>
                </a:lnTo>
                <a:lnTo>
                  <a:pt x="2558657" y="3440737"/>
                </a:lnTo>
                <a:lnTo>
                  <a:pt x="0" y="3440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6119420" y="-2334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-821953" y="7192476"/>
            <a:ext cx="2765425" cy="3104049"/>
          </a:xfrm>
          <a:custGeom>
            <a:avLst/>
            <a:gdLst/>
            <a:ahLst/>
            <a:cxnLst/>
            <a:rect l="l" t="t" r="r" b="b"/>
            <a:pathLst>
              <a:path w="2765425" h="3104049">
                <a:moveTo>
                  <a:pt x="0" y="0"/>
                </a:moveTo>
                <a:lnTo>
                  <a:pt x="2765425" y="0"/>
                </a:lnTo>
                <a:lnTo>
                  <a:pt x="2765425" y="3104049"/>
                </a:lnTo>
                <a:lnTo>
                  <a:pt x="0" y="3104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564405" y="952497"/>
            <a:ext cx="15159191" cy="261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14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Fungsi</a:t>
            </a:r>
          </a:p>
          <a:p>
            <a:pPr algn="ctr">
              <a:lnSpc>
                <a:spcPts val="9751"/>
              </a:lnSpc>
            </a:pPr>
            <a:r>
              <a:rPr lang="en-US" sz="114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Diagram Alir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075514" y="4885153"/>
            <a:ext cx="15805567" cy="4614647"/>
            <a:chOff x="0" y="0"/>
            <a:chExt cx="21074089" cy="6152862"/>
          </a:xfrm>
        </p:grpSpPr>
        <p:sp>
          <p:nvSpPr>
            <p:cNvPr id="9" name="TextBox 9"/>
            <p:cNvSpPr txBox="1"/>
            <p:nvPr/>
          </p:nvSpPr>
          <p:spPr>
            <a:xfrm>
              <a:off x="1770255" y="172237"/>
              <a:ext cx="14490861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Menyampaikan logika proses secara visual.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26275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3"/>
                  </a:lnTo>
                  <a:lnTo>
                    <a:pt x="0" y="1276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781" y="171450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0255" y="2239529"/>
              <a:ext cx="12630376" cy="899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Sebagai alat bantu analisis dan desain sistem.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2088908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781" y="2234083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0255" y="4304235"/>
              <a:ext cx="19303835" cy="1848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Menjadi acuan dalam proses debugging dan </a:t>
              </a:r>
            </a:p>
            <a:p>
              <a:pPr algn="l">
                <a:lnSpc>
                  <a:spcPts val="5623"/>
                </a:lnSpc>
              </a:pPr>
              <a:r>
                <a:rPr lang="en-US" sz="40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pengembangan program.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4158274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781" y="4303448"/>
              <a:ext cx="727240" cy="1000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5777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6018" y="-1375172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7" y="0"/>
                </a:lnTo>
                <a:lnTo>
                  <a:pt x="14294817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7307352" y="-97349"/>
            <a:ext cx="11129739" cy="10497895"/>
          </a:xfrm>
          <a:custGeom>
            <a:avLst/>
            <a:gdLst/>
            <a:ahLst/>
            <a:cxnLst/>
            <a:rect l="l" t="t" r="r" b="b"/>
            <a:pathLst>
              <a:path w="11129739" h="10497895">
                <a:moveTo>
                  <a:pt x="0" y="0"/>
                </a:moveTo>
                <a:lnTo>
                  <a:pt x="11129739" y="0"/>
                </a:lnTo>
                <a:lnTo>
                  <a:pt x="11129739" y="10497894"/>
                </a:lnTo>
                <a:lnTo>
                  <a:pt x="0" y="104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7003" r="-20244" b="-29749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970380">
            <a:off x="15557269" y="6523103"/>
            <a:ext cx="2730731" cy="3300884"/>
          </a:xfrm>
          <a:custGeom>
            <a:avLst/>
            <a:gdLst/>
            <a:ahLst/>
            <a:cxnLst/>
            <a:rect l="l" t="t" r="r" b="b"/>
            <a:pathLst>
              <a:path w="2730731" h="3300884">
                <a:moveTo>
                  <a:pt x="0" y="0"/>
                </a:moveTo>
                <a:lnTo>
                  <a:pt x="2730731" y="0"/>
                </a:lnTo>
                <a:lnTo>
                  <a:pt x="2730731" y="3300883"/>
                </a:lnTo>
                <a:lnTo>
                  <a:pt x="0" y="3300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6132" y="6801087"/>
            <a:ext cx="3395204" cy="3413825"/>
          </a:xfrm>
          <a:custGeom>
            <a:avLst/>
            <a:gdLst/>
            <a:ahLst/>
            <a:cxnLst/>
            <a:rect l="l" t="t" r="r" b="b"/>
            <a:pathLst>
              <a:path w="3395204" h="3413825">
                <a:moveTo>
                  <a:pt x="0" y="0"/>
                </a:moveTo>
                <a:lnTo>
                  <a:pt x="3395204" y="0"/>
                </a:lnTo>
                <a:lnTo>
                  <a:pt x="3395204" y="3413825"/>
                </a:lnTo>
                <a:lnTo>
                  <a:pt x="0" y="341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7682038" y="245432"/>
            <a:ext cx="7469554" cy="9796136"/>
          </a:xfrm>
          <a:custGeom>
            <a:avLst/>
            <a:gdLst/>
            <a:ahLst/>
            <a:cxnLst/>
            <a:rect l="l" t="t" r="r" b="b"/>
            <a:pathLst>
              <a:path w="7469554" h="9796136">
                <a:moveTo>
                  <a:pt x="0" y="0"/>
                </a:moveTo>
                <a:lnTo>
                  <a:pt x="7469553" y="0"/>
                </a:lnTo>
                <a:lnTo>
                  <a:pt x="7469553" y="9796136"/>
                </a:lnTo>
                <a:lnTo>
                  <a:pt x="0" y="9796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301405" y="3371869"/>
            <a:ext cx="5278383" cy="240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89"/>
              </a:lnSpc>
            </a:pPr>
            <a:r>
              <a:rPr lang="en-US" sz="10575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Simbol Flowchart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6018" y="-1375172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7" y="0"/>
                </a:lnTo>
                <a:lnTo>
                  <a:pt x="14294817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5607412" y="-327778"/>
            <a:ext cx="12680588" cy="11960701"/>
          </a:xfrm>
          <a:custGeom>
            <a:avLst/>
            <a:gdLst/>
            <a:ahLst/>
            <a:cxnLst/>
            <a:rect l="l" t="t" r="r" b="b"/>
            <a:pathLst>
              <a:path w="12680588" h="11960701">
                <a:moveTo>
                  <a:pt x="0" y="0"/>
                </a:moveTo>
                <a:lnTo>
                  <a:pt x="12680588" y="0"/>
                </a:lnTo>
                <a:lnTo>
                  <a:pt x="12680588" y="11960701"/>
                </a:lnTo>
                <a:lnTo>
                  <a:pt x="0" y="11960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7003" r="-20244" b="-29749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970380">
            <a:off x="15750590" y="677118"/>
            <a:ext cx="2730731" cy="3300884"/>
          </a:xfrm>
          <a:custGeom>
            <a:avLst/>
            <a:gdLst/>
            <a:ahLst/>
            <a:cxnLst/>
            <a:rect l="l" t="t" r="r" b="b"/>
            <a:pathLst>
              <a:path w="2730731" h="3300884">
                <a:moveTo>
                  <a:pt x="0" y="0"/>
                </a:moveTo>
                <a:lnTo>
                  <a:pt x="2730731" y="0"/>
                </a:lnTo>
                <a:lnTo>
                  <a:pt x="2730731" y="3300883"/>
                </a:lnTo>
                <a:lnTo>
                  <a:pt x="0" y="3300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6132" y="6801087"/>
            <a:ext cx="3395204" cy="3413825"/>
          </a:xfrm>
          <a:custGeom>
            <a:avLst/>
            <a:gdLst/>
            <a:ahLst/>
            <a:cxnLst/>
            <a:rect l="l" t="t" r="r" b="b"/>
            <a:pathLst>
              <a:path w="3395204" h="3413825">
                <a:moveTo>
                  <a:pt x="0" y="0"/>
                </a:moveTo>
                <a:lnTo>
                  <a:pt x="3395204" y="0"/>
                </a:lnTo>
                <a:lnTo>
                  <a:pt x="3395204" y="3413825"/>
                </a:lnTo>
                <a:lnTo>
                  <a:pt x="0" y="341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8112144" y="672335"/>
            <a:ext cx="2393224" cy="1057642"/>
            <a:chOff x="0" y="0"/>
            <a:chExt cx="3190965" cy="141019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190965" cy="1410190"/>
              <a:chOff x="0" y="0"/>
              <a:chExt cx="557931" cy="2465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57931" cy="246568"/>
              </a:xfrm>
              <a:custGeom>
                <a:avLst/>
                <a:gdLst/>
                <a:ahLst/>
                <a:cxnLst/>
                <a:rect l="l" t="t" r="r" b="b"/>
                <a:pathLst>
                  <a:path w="557931" h="246568">
                    <a:moveTo>
                      <a:pt x="278965" y="0"/>
                    </a:moveTo>
                    <a:cubicBezTo>
                      <a:pt x="124897" y="0"/>
                      <a:pt x="0" y="55196"/>
                      <a:pt x="0" y="123284"/>
                    </a:cubicBezTo>
                    <a:cubicBezTo>
                      <a:pt x="0" y="191371"/>
                      <a:pt x="124897" y="246568"/>
                      <a:pt x="278965" y="246568"/>
                    </a:cubicBezTo>
                    <a:cubicBezTo>
                      <a:pt x="433034" y="246568"/>
                      <a:pt x="557931" y="191371"/>
                      <a:pt x="557931" y="123284"/>
                    </a:cubicBezTo>
                    <a:cubicBezTo>
                      <a:pt x="557931" y="55196"/>
                      <a:pt x="433034" y="0"/>
                      <a:pt x="278965" y="0"/>
                    </a:cubicBezTo>
                    <a:close/>
                  </a:path>
                </a:pathLst>
              </a:custGeom>
              <a:solidFill>
                <a:srgbClr val="8D9253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2306" y="-14984"/>
                <a:ext cx="453319" cy="23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80974" y="264405"/>
              <a:ext cx="1029018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Marykate"/>
                  <a:ea typeface="Marykate"/>
                  <a:cs typeface="Marykate"/>
                  <a:sym typeface="Marykate"/>
                </a:rPr>
                <a:t>Mulai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65706" y="2101453"/>
            <a:ext cx="3086100" cy="797126"/>
            <a:chOff x="0" y="0"/>
            <a:chExt cx="812800" cy="2099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09943"/>
            </a:xfrm>
            <a:custGeom>
              <a:avLst/>
              <a:gdLst/>
              <a:ahLst/>
              <a:cxnLst/>
              <a:rect l="l" t="t" r="r" b="b"/>
              <a:pathLst>
                <a:path w="812800" h="209943">
                  <a:moveTo>
                    <a:pt x="0" y="0"/>
                  </a:moveTo>
                  <a:lnTo>
                    <a:pt x="812800" y="0"/>
                  </a:lnTo>
                  <a:lnTo>
                    <a:pt x="812800" y="209943"/>
                  </a:lnTo>
                  <a:lnTo>
                    <a:pt x="0" y="209943"/>
                  </a:lnTo>
                  <a:close/>
                </a:path>
              </a:pathLst>
            </a:custGeom>
            <a:solidFill>
              <a:srgbClr val="8D925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248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308756" y="1729977"/>
            <a:ext cx="0" cy="371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15" name="Group 15"/>
          <p:cNvGrpSpPr/>
          <p:nvPr/>
        </p:nvGrpSpPr>
        <p:grpSpPr>
          <a:xfrm>
            <a:off x="7765706" y="3270054"/>
            <a:ext cx="3086100" cy="797126"/>
            <a:chOff x="0" y="0"/>
            <a:chExt cx="812800" cy="2099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209943"/>
            </a:xfrm>
            <a:custGeom>
              <a:avLst/>
              <a:gdLst/>
              <a:ahLst/>
              <a:cxnLst/>
              <a:rect l="l" t="t" r="r" b="b"/>
              <a:pathLst>
                <a:path w="812800" h="209943">
                  <a:moveTo>
                    <a:pt x="0" y="0"/>
                  </a:moveTo>
                  <a:lnTo>
                    <a:pt x="812800" y="0"/>
                  </a:lnTo>
                  <a:lnTo>
                    <a:pt x="812800" y="209943"/>
                  </a:lnTo>
                  <a:lnTo>
                    <a:pt x="0" y="209943"/>
                  </a:lnTo>
                  <a:close/>
                </a:path>
              </a:pathLst>
            </a:custGeom>
            <a:solidFill>
              <a:srgbClr val="8D925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248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9308756" y="2898579"/>
            <a:ext cx="0" cy="371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19" name="Group 19"/>
          <p:cNvGrpSpPr/>
          <p:nvPr/>
        </p:nvGrpSpPr>
        <p:grpSpPr>
          <a:xfrm>
            <a:off x="7765706" y="4438655"/>
            <a:ext cx="3086100" cy="1232670"/>
            <a:chOff x="0" y="0"/>
            <a:chExt cx="812800" cy="3246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324654"/>
            </a:xfrm>
            <a:custGeom>
              <a:avLst/>
              <a:gdLst/>
              <a:ahLst/>
              <a:cxnLst/>
              <a:rect l="l" t="t" r="r" b="b"/>
              <a:pathLst>
                <a:path w="812800" h="324654">
                  <a:moveTo>
                    <a:pt x="406400" y="0"/>
                  </a:moveTo>
                  <a:lnTo>
                    <a:pt x="812800" y="162327"/>
                  </a:lnTo>
                  <a:lnTo>
                    <a:pt x="406400" y="324654"/>
                  </a:lnTo>
                  <a:lnTo>
                    <a:pt x="0" y="16232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925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700" y="17700"/>
              <a:ext cx="533400" cy="251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9308756" y="4067180"/>
            <a:ext cx="0" cy="371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sp>
        <p:nvSpPr>
          <p:cNvPr id="23" name="AutoShape 23"/>
          <p:cNvSpPr/>
          <p:nvPr/>
        </p:nvSpPr>
        <p:spPr>
          <a:xfrm flipV="1">
            <a:off x="6811206" y="5054990"/>
            <a:ext cx="954500" cy="2047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24" name="AutoShape 24"/>
          <p:cNvSpPr/>
          <p:nvPr/>
        </p:nvSpPr>
        <p:spPr>
          <a:xfrm flipV="1">
            <a:off x="6811206" y="3648523"/>
            <a:ext cx="0" cy="144480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25" name="AutoShape 25"/>
          <p:cNvSpPr/>
          <p:nvPr/>
        </p:nvSpPr>
        <p:spPr>
          <a:xfrm>
            <a:off x="6811206" y="3668617"/>
            <a:ext cx="954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sp>
        <p:nvSpPr>
          <p:cNvPr id="26" name="AutoShape 26"/>
          <p:cNvSpPr/>
          <p:nvPr/>
        </p:nvSpPr>
        <p:spPr>
          <a:xfrm>
            <a:off x="10851806" y="5054990"/>
            <a:ext cx="10450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27" name="Group 27"/>
          <p:cNvGrpSpPr/>
          <p:nvPr/>
        </p:nvGrpSpPr>
        <p:grpSpPr>
          <a:xfrm>
            <a:off x="11594914" y="5983912"/>
            <a:ext cx="3086100" cy="1232670"/>
            <a:chOff x="0" y="0"/>
            <a:chExt cx="812800" cy="32465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324654"/>
            </a:xfrm>
            <a:custGeom>
              <a:avLst/>
              <a:gdLst/>
              <a:ahLst/>
              <a:cxnLst/>
              <a:rect l="l" t="t" r="r" b="b"/>
              <a:pathLst>
                <a:path w="812800" h="324654">
                  <a:moveTo>
                    <a:pt x="406400" y="0"/>
                  </a:moveTo>
                  <a:lnTo>
                    <a:pt x="812800" y="162327"/>
                  </a:lnTo>
                  <a:lnTo>
                    <a:pt x="406400" y="324654"/>
                  </a:lnTo>
                  <a:lnTo>
                    <a:pt x="0" y="16232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925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9700" y="17700"/>
              <a:ext cx="533400" cy="251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 flipH="1">
            <a:off x="13137964" y="5385717"/>
            <a:ext cx="20027" cy="59819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31" name="Group 31"/>
          <p:cNvGrpSpPr/>
          <p:nvPr/>
        </p:nvGrpSpPr>
        <p:grpSpPr>
          <a:xfrm>
            <a:off x="11490575" y="4724263"/>
            <a:ext cx="3574806" cy="661454"/>
            <a:chOff x="0" y="0"/>
            <a:chExt cx="893888" cy="1653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3888" cy="165398"/>
            </a:xfrm>
            <a:custGeom>
              <a:avLst/>
              <a:gdLst/>
              <a:ahLst/>
              <a:cxnLst/>
              <a:rect l="l" t="t" r="r" b="b"/>
              <a:pathLst>
                <a:path w="893888" h="165398">
                  <a:moveTo>
                    <a:pt x="203200" y="0"/>
                  </a:moveTo>
                  <a:lnTo>
                    <a:pt x="893888" y="0"/>
                  </a:lnTo>
                  <a:lnTo>
                    <a:pt x="690688" y="165398"/>
                  </a:lnTo>
                  <a:lnTo>
                    <a:pt x="0" y="1653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D9253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00" y="-38100"/>
              <a:ext cx="690688" cy="203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142269" y="4705423"/>
            <a:ext cx="203144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Masukkan mie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017156" y="7435657"/>
            <a:ext cx="3086100" cy="797126"/>
            <a:chOff x="0" y="0"/>
            <a:chExt cx="4114800" cy="1062835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114800" cy="1062835"/>
              <a:chOff x="0" y="0"/>
              <a:chExt cx="812800" cy="20994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2099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0994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09943"/>
                    </a:lnTo>
                    <a:lnTo>
                      <a:pt x="0" y="209943"/>
                    </a:lnTo>
                    <a:close/>
                  </a:path>
                </a:pathLst>
              </a:custGeom>
              <a:solidFill>
                <a:srgbClr val="8D9253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812800" cy="248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707072" y="123614"/>
              <a:ext cx="2708593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Marykate"/>
                  <a:ea typeface="Marykate"/>
                  <a:cs typeface="Marykate"/>
                  <a:sym typeface="Marykate"/>
                </a:rPr>
                <a:t>Sajikan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91869" y="7435657"/>
            <a:ext cx="3086100" cy="797126"/>
            <a:chOff x="0" y="0"/>
            <a:chExt cx="4114800" cy="1062835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4114800" cy="1062835"/>
              <a:chOff x="0" y="0"/>
              <a:chExt cx="812800" cy="20994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2099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0994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09943"/>
                    </a:lnTo>
                    <a:lnTo>
                      <a:pt x="0" y="209943"/>
                    </a:lnTo>
                    <a:close/>
                  </a:path>
                </a:pathLst>
              </a:custGeom>
              <a:solidFill>
                <a:srgbClr val="8D9253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812800" cy="248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707072" y="123614"/>
              <a:ext cx="2708593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Marykate"/>
                  <a:ea typeface="Marykate"/>
                  <a:cs typeface="Marykate"/>
                  <a:sym typeface="Marykate"/>
                </a:rPr>
                <a:t>Tunggu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9417774" y="6600247"/>
            <a:ext cx="21771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6" name="AutoShape 46"/>
          <p:cNvSpPr/>
          <p:nvPr/>
        </p:nvSpPr>
        <p:spPr>
          <a:xfrm flipH="1">
            <a:off x="9417774" y="6600247"/>
            <a:ext cx="17146" cy="83541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sp>
        <p:nvSpPr>
          <p:cNvPr id="47" name="AutoShape 47"/>
          <p:cNvSpPr/>
          <p:nvPr/>
        </p:nvSpPr>
        <p:spPr>
          <a:xfrm>
            <a:off x="14681014" y="6600247"/>
            <a:ext cx="90318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8" name="AutoShape 48"/>
          <p:cNvSpPr/>
          <p:nvPr/>
        </p:nvSpPr>
        <p:spPr>
          <a:xfrm>
            <a:off x="15560206" y="6600247"/>
            <a:ext cx="0" cy="83541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49" name="Group 49"/>
          <p:cNvGrpSpPr/>
          <p:nvPr/>
        </p:nvGrpSpPr>
        <p:grpSpPr>
          <a:xfrm>
            <a:off x="14363594" y="8631155"/>
            <a:ext cx="2393224" cy="1057642"/>
            <a:chOff x="0" y="0"/>
            <a:chExt cx="3190965" cy="1410190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3190965" cy="1410190"/>
              <a:chOff x="0" y="0"/>
              <a:chExt cx="557931" cy="24656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557931" cy="246568"/>
              </a:xfrm>
              <a:custGeom>
                <a:avLst/>
                <a:gdLst/>
                <a:ahLst/>
                <a:cxnLst/>
                <a:rect l="l" t="t" r="r" b="b"/>
                <a:pathLst>
                  <a:path w="557931" h="246568">
                    <a:moveTo>
                      <a:pt x="278965" y="0"/>
                    </a:moveTo>
                    <a:cubicBezTo>
                      <a:pt x="124897" y="0"/>
                      <a:pt x="0" y="55196"/>
                      <a:pt x="0" y="123284"/>
                    </a:cubicBezTo>
                    <a:cubicBezTo>
                      <a:pt x="0" y="191371"/>
                      <a:pt x="124897" y="246568"/>
                      <a:pt x="278965" y="246568"/>
                    </a:cubicBezTo>
                    <a:cubicBezTo>
                      <a:pt x="433034" y="246568"/>
                      <a:pt x="557931" y="191371"/>
                      <a:pt x="557931" y="123284"/>
                    </a:cubicBezTo>
                    <a:cubicBezTo>
                      <a:pt x="557931" y="55196"/>
                      <a:pt x="433034" y="0"/>
                      <a:pt x="278965" y="0"/>
                    </a:cubicBezTo>
                    <a:close/>
                  </a:path>
                </a:pathLst>
              </a:custGeom>
              <a:solidFill>
                <a:srgbClr val="8D9253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2306" y="-14984"/>
                <a:ext cx="453319" cy="23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889094" y="264405"/>
              <a:ext cx="1412776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Marykate"/>
                  <a:ea typeface="Marykate"/>
                  <a:cs typeface="Marykate"/>
                  <a:sym typeface="Marykate"/>
                </a:rPr>
                <a:t>Selesai</a:t>
              </a:r>
            </a:p>
          </p:txBody>
        </p:sp>
      </p:grpSp>
      <p:sp>
        <p:nvSpPr>
          <p:cNvPr id="54" name="AutoShape 54"/>
          <p:cNvSpPr/>
          <p:nvPr/>
        </p:nvSpPr>
        <p:spPr>
          <a:xfrm>
            <a:off x="15560206" y="8232783"/>
            <a:ext cx="0" cy="39837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sp>
        <p:nvSpPr>
          <p:cNvPr id="55" name="AutoShape 55"/>
          <p:cNvSpPr/>
          <p:nvPr/>
        </p:nvSpPr>
        <p:spPr>
          <a:xfrm flipV="1">
            <a:off x="10977969" y="7834220"/>
            <a:ext cx="21599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56" name="AutoShape 56"/>
          <p:cNvSpPr/>
          <p:nvPr/>
        </p:nvSpPr>
        <p:spPr>
          <a:xfrm flipV="1">
            <a:off x="13137964" y="7216582"/>
            <a:ext cx="42792" cy="6176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D"/>
          </a:p>
        </p:txBody>
      </p:sp>
      <p:sp>
        <p:nvSpPr>
          <p:cNvPr id="57" name="TextBox 57"/>
          <p:cNvSpPr txBox="1"/>
          <p:nvPr/>
        </p:nvSpPr>
        <p:spPr>
          <a:xfrm>
            <a:off x="398262" y="2670460"/>
            <a:ext cx="5278383" cy="240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89"/>
              </a:lnSpc>
            </a:pPr>
            <a:r>
              <a:rPr lang="en-US" sz="10575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Contoh Flowchart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5104366"/>
            <a:ext cx="3063716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Membuat Mie Instan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90057" y="2150448"/>
            <a:ext cx="2037398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Siapkan bahan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634386" y="3319050"/>
            <a:ext cx="134874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Rebus air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44305" y="4735402"/>
            <a:ext cx="1928901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Air mendidih?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811616" y="2950466"/>
            <a:ext cx="687800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Tidak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977969" y="4371980"/>
            <a:ext cx="328699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Ya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258772" y="6280659"/>
            <a:ext cx="1758384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Mie matang?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620956" y="6734412"/>
            <a:ext cx="687800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Tidak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5684031" y="6734412"/>
            <a:ext cx="328699" cy="57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  <a:spcBef>
                <a:spcPct val="0"/>
              </a:spcBef>
            </a:pPr>
            <a:r>
              <a:rPr lang="en-US" sz="3330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-105504" y="3676154"/>
            <a:ext cx="18499009" cy="18499009"/>
          </a:xfrm>
          <a:custGeom>
            <a:avLst/>
            <a:gdLst/>
            <a:ahLst/>
            <a:cxnLst/>
            <a:rect l="l" t="t" r="r" b="b"/>
            <a:pathLst>
              <a:path w="18499009" h="18499009">
                <a:moveTo>
                  <a:pt x="0" y="0"/>
                </a:moveTo>
                <a:lnTo>
                  <a:pt x="18499008" y="0"/>
                </a:lnTo>
                <a:lnTo>
                  <a:pt x="18499008" y="18499009"/>
                </a:lnTo>
                <a:lnTo>
                  <a:pt x="0" y="18499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729343" y="6846263"/>
            <a:ext cx="2558657" cy="3440737"/>
          </a:xfrm>
          <a:custGeom>
            <a:avLst/>
            <a:gdLst/>
            <a:ahLst/>
            <a:cxnLst/>
            <a:rect l="l" t="t" r="r" b="b"/>
            <a:pathLst>
              <a:path w="2558657" h="3440737">
                <a:moveTo>
                  <a:pt x="0" y="0"/>
                </a:moveTo>
                <a:lnTo>
                  <a:pt x="2558657" y="0"/>
                </a:lnTo>
                <a:lnTo>
                  <a:pt x="2558657" y="3440737"/>
                </a:lnTo>
                <a:lnTo>
                  <a:pt x="0" y="3440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6119420" y="-2334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-821953" y="7192476"/>
            <a:ext cx="2765425" cy="3104049"/>
          </a:xfrm>
          <a:custGeom>
            <a:avLst/>
            <a:gdLst/>
            <a:ahLst/>
            <a:cxnLst/>
            <a:rect l="l" t="t" r="r" b="b"/>
            <a:pathLst>
              <a:path w="2765425" h="3104049">
                <a:moveTo>
                  <a:pt x="0" y="0"/>
                </a:moveTo>
                <a:lnTo>
                  <a:pt x="2765425" y="0"/>
                </a:lnTo>
                <a:lnTo>
                  <a:pt x="2765425" y="3104049"/>
                </a:lnTo>
                <a:lnTo>
                  <a:pt x="0" y="3104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564405" y="1071146"/>
            <a:ext cx="15159191" cy="137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1472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Kelebihan Flowchart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357431" y="4324200"/>
            <a:ext cx="15412450" cy="5393387"/>
            <a:chOff x="0" y="0"/>
            <a:chExt cx="20549934" cy="7191182"/>
          </a:xfrm>
        </p:grpSpPr>
        <p:sp>
          <p:nvSpPr>
            <p:cNvPr id="9" name="TextBox 9"/>
            <p:cNvSpPr txBox="1"/>
            <p:nvPr/>
          </p:nvSpPr>
          <p:spPr>
            <a:xfrm>
              <a:off x="1646936" y="298754"/>
              <a:ext cx="18902998" cy="622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28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Mudah dipahami → karena bentuknya gambar, bukan hanya tulisan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781" y="314153"/>
              <a:ext cx="727240" cy="7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7"/>
                </a:lnSpc>
              </a:pPr>
              <a:r>
                <a:rPr lang="en-US" sz="4620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6936" y="1773127"/>
              <a:ext cx="18902998" cy="622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28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Alur proses terlihat jelas → dari awal sampai akhir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474374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781" y="1788527"/>
              <a:ext cx="727240" cy="7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7"/>
                </a:lnSpc>
              </a:pPr>
              <a:r>
                <a:rPr lang="en-US" sz="4620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46936" y="3253129"/>
              <a:ext cx="18902998" cy="622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28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Mudah menemukan kesalahan → kalau ada langkah yang salah langsung terlihat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2954376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781" y="3268529"/>
              <a:ext cx="727240" cy="7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7"/>
                </a:lnSpc>
              </a:pPr>
              <a:r>
                <a:rPr lang="en-US" sz="4620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46936" y="4733131"/>
              <a:ext cx="18902998" cy="622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28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Mempermudah menjelaskan ke orang lain → lebih cepat dimengerti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4434378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4781" y="4748531"/>
              <a:ext cx="727240" cy="7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7"/>
                </a:lnSpc>
              </a:pPr>
              <a:r>
                <a:rPr lang="en-US" sz="4620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6936" y="6213134"/>
              <a:ext cx="18902998" cy="622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2817">
                  <a:solidFill>
                    <a:srgbClr val="000000"/>
                  </a:solidFill>
                  <a:latin typeface="Dekko"/>
                  <a:ea typeface="Dekko"/>
                  <a:cs typeface="Dekko"/>
                  <a:sym typeface="Dekko"/>
                </a:rPr>
                <a:t>Membantu perencanaan program → jadi lebih terstruktur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5914380"/>
              <a:ext cx="1276802" cy="1276802"/>
            </a:xfrm>
            <a:custGeom>
              <a:avLst/>
              <a:gdLst/>
              <a:ahLst/>
              <a:cxnLst/>
              <a:rect l="l" t="t" r="r" b="b"/>
              <a:pathLst>
                <a:path w="1276802" h="1276802">
                  <a:moveTo>
                    <a:pt x="0" y="0"/>
                  </a:moveTo>
                  <a:lnTo>
                    <a:pt x="1276802" y="0"/>
                  </a:lnTo>
                  <a:lnTo>
                    <a:pt x="1276802" y="1276802"/>
                  </a:lnTo>
                  <a:lnTo>
                    <a:pt x="0" y="1276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4781" y="6228533"/>
              <a:ext cx="727240" cy="7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7"/>
                </a:lnSpc>
              </a:pPr>
              <a:r>
                <a:rPr lang="en-US" sz="4620">
                  <a:solidFill>
                    <a:srgbClr val="9F4A13"/>
                  </a:solidFill>
                  <a:latin typeface="Marykate"/>
                  <a:ea typeface="Marykate"/>
                  <a:cs typeface="Marykate"/>
                  <a:sym typeface="Marykate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99969-CE58-8376-F564-B71B56B0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DD82EE-8350-DDC8-8ED0-2B8A3C5426AF}"/>
              </a:ext>
            </a:extLst>
          </p:cNvPr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03E35D-7169-305B-C467-F99480EAF5E5}"/>
              </a:ext>
            </a:extLst>
          </p:cNvPr>
          <p:cNvSpPr/>
          <p:nvPr/>
        </p:nvSpPr>
        <p:spPr>
          <a:xfrm>
            <a:off x="-105504" y="2447862"/>
            <a:ext cx="18499009" cy="19727302"/>
          </a:xfrm>
          <a:custGeom>
            <a:avLst/>
            <a:gdLst/>
            <a:ahLst/>
            <a:cxnLst/>
            <a:rect l="l" t="t" r="r" b="b"/>
            <a:pathLst>
              <a:path w="18499009" h="18499009">
                <a:moveTo>
                  <a:pt x="0" y="0"/>
                </a:moveTo>
                <a:lnTo>
                  <a:pt x="18499008" y="0"/>
                </a:lnTo>
                <a:lnTo>
                  <a:pt x="18499008" y="18499009"/>
                </a:lnTo>
                <a:lnTo>
                  <a:pt x="0" y="18499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478B66D-F1A7-452B-ACCC-6810CA59CC2F}"/>
              </a:ext>
            </a:extLst>
          </p:cNvPr>
          <p:cNvSpPr/>
          <p:nvPr/>
        </p:nvSpPr>
        <p:spPr>
          <a:xfrm>
            <a:off x="15729343" y="6846263"/>
            <a:ext cx="2558657" cy="3440737"/>
          </a:xfrm>
          <a:custGeom>
            <a:avLst/>
            <a:gdLst/>
            <a:ahLst/>
            <a:cxnLst/>
            <a:rect l="l" t="t" r="r" b="b"/>
            <a:pathLst>
              <a:path w="2558657" h="3440737">
                <a:moveTo>
                  <a:pt x="0" y="0"/>
                </a:moveTo>
                <a:lnTo>
                  <a:pt x="2558657" y="0"/>
                </a:lnTo>
                <a:lnTo>
                  <a:pt x="2558657" y="3440737"/>
                </a:lnTo>
                <a:lnTo>
                  <a:pt x="0" y="3440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D92626E-0657-7E8C-EA98-5783A1B5F05F}"/>
              </a:ext>
            </a:extLst>
          </p:cNvPr>
          <p:cNvSpPr/>
          <p:nvPr/>
        </p:nvSpPr>
        <p:spPr>
          <a:xfrm>
            <a:off x="16119420" y="-2334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3FB9121-47CB-DF2A-831B-9E2C3A6E1117}"/>
              </a:ext>
            </a:extLst>
          </p:cNvPr>
          <p:cNvSpPr/>
          <p:nvPr/>
        </p:nvSpPr>
        <p:spPr>
          <a:xfrm>
            <a:off x="-821953" y="7192476"/>
            <a:ext cx="2765425" cy="3104049"/>
          </a:xfrm>
          <a:custGeom>
            <a:avLst/>
            <a:gdLst/>
            <a:ahLst/>
            <a:cxnLst/>
            <a:rect l="l" t="t" r="r" b="b"/>
            <a:pathLst>
              <a:path w="2765425" h="3104049">
                <a:moveTo>
                  <a:pt x="0" y="0"/>
                </a:moveTo>
                <a:lnTo>
                  <a:pt x="2765425" y="0"/>
                </a:lnTo>
                <a:lnTo>
                  <a:pt x="2765425" y="3104049"/>
                </a:lnTo>
                <a:lnTo>
                  <a:pt x="0" y="3104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CF2C8F6-B64D-0E8F-3828-1DA9B144B908}"/>
              </a:ext>
            </a:extLst>
          </p:cNvPr>
          <p:cNvSpPr txBox="1"/>
          <p:nvPr/>
        </p:nvSpPr>
        <p:spPr>
          <a:xfrm>
            <a:off x="1564404" y="624047"/>
            <a:ext cx="15159191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1472" dirty="0" err="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Mendesain</a:t>
            </a:r>
            <a:r>
              <a:rPr lang="en-US" sz="11472" dirty="0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 </a:t>
            </a:r>
            <a:r>
              <a:rPr lang="en-US" sz="11472" dirty="0" err="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Perencanaan</a:t>
            </a:r>
            <a:r>
              <a:rPr lang="en-US" sz="11472" dirty="0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 </a:t>
            </a:r>
            <a:r>
              <a:rPr lang="en-US" sz="11472" dirty="0" err="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Proyek</a:t>
            </a:r>
            <a:endParaRPr lang="en-US" sz="11472" dirty="0">
              <a:solidFill>
                <a:srgbClr val="D45300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15C5553D-A55A-7866-5478-417D4389676D}"/>
              </a:ext>
            </a:extLst>
          </p:cNvPr>
          <p:cNvSpPr txBox="1"/>
          <p:nvPr/>
        </p:nvSpPr>
        <p:spPr>
          <a:xfrm>
            <a:off x="2115678" y="3463513"/>
            <a:ext cx="14769148" cy="462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5866" lvl="1" algn="ctr">
              <a:lnSpc>
                <a:spcPts val="4874"/>
              </a:lnSpc>
              <a:spcAft>
                <a:spcPts val="1800"/>
              </a:spcAft>
            </a:pP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“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Seorang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siswa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ingin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menghitung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luas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persegi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panjang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untuk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menentukan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ukuran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karpet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yang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akan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dibeli</a:t>
            </a:r>
            <a:r>
              <a:rPr lang="en-US" sz="44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.”</a:t>
            </a:r>
          </a:p>
          <a:p>
            <a:pPr marL="375866" lvl="1">
              <a:lnSpc>
                <a:spcPts val="4874"/>
              </a:lnSpc>
            </a:pP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Namun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sebelum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menghitung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,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siswa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harus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memastikan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bahwa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</a:t>
            </a:r>
          </a:p>
          <a:p>
            <a:pPr marL="833066" lvl="1" indent="-457200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Panjang dan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lebar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sudah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dimasukkan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dengan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benar</a:t>
            </a:r>
            <a:endParaRPr lang="en-US" sz="3481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  <a:p>
            <a:pPr marL="833066" lvl="1" indent="-457200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Nilai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panjang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dan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lebar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tidak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boleh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nol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atau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negative</a:t>
            </a:r>
          </a:p>
          <a:p>
            <a:pPr marL="833066" lvl="1" indent="-457200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sv-SE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Jika nilai tidak valid, maka harus mengulang memasukkan data.Jika nilai valid, maka luas akan dihitung dan ditampilkan.</a:t>
            </a:r>
            <a:endParaRPr lang="en-US" sz="3481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64897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2972446" y="1675245"/>
            <a:ext cx="11889328" cy="8514493"/>
          </a:xfrm>
          <a:custGeom>
            <a:avLst/>
            <a:gdLst/>
            <a:ahLst/>
            <a:cxnLst/>
            <a:rect l="l" t="t" r="r" b="b"/>
            <a:pathLst>
              <a:path w="11889328" h="8514493">
                <a:moveTo>
                  <a:pt x="0" y="0"/>
                </a:moveTo>
                <a:lnTo>
                  <a:pt x="11889328" y="0"/>
                </a:lnTo>
                <a:lnTo>
                  <a:pt x="11889328" y="8514493"/>
                </a:lnTo>
                <a:lnTo>
                  <a:pt x="0" y="85144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4" name="Freeform 4"/>
          <p:cNvSpPr/>
          <p:nvPr/>
        </p:nvSpPr>
        <p:spPr>
          <a:xfrm rot="-3946257">
            <a:off x="-2488716" y="-5140522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4" y="0"/>
                </a:lnTo>
                <a:lnTo>
                  <a:pt x="12327014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1205959">
            <a:off x="2196643" y="1515692"/>
            <a:ext cx="3042049" cy="1172571"/>
          </a:xfrm>
          <a:custGeom>
            <a:avLst/>
            <a:gdLst/>
            <a:ahLst/>
            <a:cxnLst/>
            <a:rect l="l" t="t" r="r" b="b"/>
            <a:pathLst>
              <a:path w="3042049" h="1172571">
                <a:moveTo>
                  <a:pt x="0" y="0"/>
                </a:moveTo>
                <a:lnTo>
                  <a:pt x="3042049" y="0"/>
                </a:lnTo>
                <a:lnTo>
                  <a:pt x="3042049" y="1172571"/>
                </a:lnTo>
                <a:lnTo>
                  <a:pt x="0" y="1172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1828974" y="-2397206"/>
            <a:ext cx="12327014" cy="8736262"/>
          </a:xfrm>
          <a:custGeom>
            <a:avLst/>
            <a:gdLst/>
            <a:ahLst/>
            <a:cxnLst/>
            <a:rect l="l" t="t" r="r" b="b"/>
            <a:pathLst>
              <a:path w="12327014" h="8736262">
                <a:moveTo>
                  <a:pt x="0" y="0"/>
                </a:moveTo>
                <a:lnTo>
                  <a:pt x="12327013" y="0"/>
                </a:lnTo>
                <a:lnTo>
                  <a:pt x="12327013" y="8736262"/>
                </a:lnTo>
                <a:lnTo>
                  <a:pt x="0" y="8736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13440384" y="1564681"/>
            <a:ext cx="1928078" cy="2270755"/>
          </a:xfrm>
          <a:custGeom>
            <a:avLst/>
            <a:gdLst/>
            <a:ahLst/>
            <a:cxnLst/>
            <a:rect l="l" t="t" r="r" b="b"/>
            <a:pathLst>
              <a:path w="1928078" h="2270755">
                <a:moveTo>
                  <a:pt x="0" y="0"/>
                </a:moveTo>
                <a:lnTo>
                  <a:pt x="1928078" y="0"/>
                </a:lnTo>
                <a:lnTo>
                  <a:pt x="1928078" y="2270755"/>
                </a:lnTo>
                <a:lnTo>
                  <a:pt x="0" y="2270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13679610" y="7084177"/>
            <a:ext cx="1996510" cy="2852157"/>
          </a:xfrm>
          <a:custGeom>
            <a:avLst/>
            <a:gdLst/>
            <a:ahLst/>
            <a:cxnLst/>
            <a:rect l="l" t="t" r="r" b="b"/>
            <a:pathLst>
              <a:path w="1996510" h="2852157">
                <a:moveTo>
                  <a:pt x="0" y="0"/>
                </a:moveTo>
                <a:lnTo>
                  <a:pt x="1996510" y="0"/>
                </a:lnTo>
                <a:lnTo>
                  <a:pt x="1996510" y="2852157"/>
                </a:lnTo>
                <a:lnTo>
                  <a:pt x="0" y="2852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132346" y="6563017"/>
            <a:ext cx="2951964" cy="3313429"/>
          </a:xfrm>
          <a:custGeom>
            <a:avLst/>
            <a:gdLst/>
            <a:ahLst/>
            <a:cxnLst/>
            <a:rect l="l" t="t" r="r" b="b"/>
            <a:pathLst>
              <a:path w="2951964" h="3313429">
                <a:moveTo>
                  <a:pt x="0" y="0"/>
                </a:moveTo>
                <a:lnTo>
                  <a:pt x="2951964" y="0"/>
                </a:lnTo>
                <a:lnTo>
                  <a:pt x="2951964" y="3313428"/>
                </a:lnTo>
                <a:lnTo>
                  <a:pt x="0" y="3313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TextBox 10"/>
          <p:cNvSpPr txBox="1"/>
          <p:nvPr/>
        </p:nvSpPr>
        <p:spPr>
          <a:xfrm>
            <a:off x="4084310" y="1088583"/>
            <a:ext cx="10301798" cy="161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13471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Kesimpulan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85929" y="4527069"/>
            <a:ext cx="9916143" cy="120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732" lvl="1" indent="-375866" algn="l">
              <a:lnSpc>
                <a:spcPts val="4874"/>
              </a:lnSpc>
              <a:buFont typeface="Arial"/>
              <a:buChar char="•"/>
            </a:pP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Algoritma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(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langkah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penyelesaian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masalah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)</a:t>
            </a:r>
          </a:p>
          <a:p>
            <a:pPr marL="751732" lvl="1" indent="-375866" algn="l">
              <a:lnSpc>
                <a:spcPts val="4874"/>
              </a:lnSpc>
              <a:buFont typeface="Arial"/>
              <a:buChar char="•"/>
            </a:pP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Flowchart (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visualisasi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en-US" sz="3481" dirty="0" err="1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algoritma</a:t>
            </a:r>
            <a:r>
              <a:rPr lang="en-US" sz="348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A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800" y="-1369159"/>
            <a:ext cx="14294817" cy="14294817"/>
          </a:xfrm>
          <a:custGeom>
            <a:avLst/>
            <a:gdLst/>
            <a:ahLst/>
            <a:cxnLst/>
            <a:rect l="l" t="t" r="r" b="b"/>
            <a:pathLst>
              <a:path w="14294817" h="14294817">
                <a:moveTo>
                  <a:pt x="0" y="0"/>
                </a:moveTo>
                <a:lnTo>
                  <a:pt x="14294818" y="0"/>
                </a:lnTo>
                <a:lnTo>
                  <a:pt x="14294818" y="14294817"/>
                </a:lnTo>
                <a:lnTo>
                  <a:pt x="0" y="1429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3326872" y="1191652"/>
            <a:ext cx="11889328" cy="8514493"/>
          </a:xfrm>
          <a:custGeom>
            <a:avLst/>
            <a:gdLst/>
            <a:ahLst/>
            <a:cxnLst/>
            <a:rect l="l" t="t" r="r" b="b"/>
            <a:pathLst>
              <a:path w="11889328" h="8514493">
                <a:moveTo>
                  <a:pt x="0" y="0"/>
                </a:moveTo>
                <a:lnTo>
                  <a:pt x="11889328" y="0"/>
                </a:lnTo>
                <a:lnTo>
                  <a:pt x="11889328" y="8514493"/>
                </a:lnTo>
                <a:lnTo>
                  <a:pt x="0" y="85144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TextBox 4"/>
          <p:cNvSpPr txBox="1"/>
          <p:nvPr/>
        </p:nvSpPr>
        <p:spPr>
          <a:xfrm>
            <a:off x="6381668" y="2873577"/>
            <a:ext cx="5707082" cy="3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68"/>
              </a:lnSpc>
            </a:pPr>
            <a:r>
              <a:rPr lang="en-US" sz="15844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Terima</a:t>
            </a:r>
          </a:p>
          <a:p>
            <a:pPr algn="ctr">
              <a:lnSpc>
                <a:spcPts val="13468"/>
              </a:lnSpc>
            </a:pPr>
            <a:r>
              <a:rPr lang="en-US" sz="15844">
                <a:solidFill>
                  <a:srgbClr val="D45300"/>
                </a:solidFill>
                <a:latin typeface="Marykate"/>
                <a:ea typeface="Marykate"/>
                <a:cs typeface="Marykate"/>
                <a:sym typeface="Marykate"/>
              </a:rPr>
              <a:t>Kasih</a:t>
            </a:r>
          </a:p>
        </p:txBody>
      </p:sp>
      <p:sp>
        <p:nvSpPr>
          <p:cNvPr id="5" name="Freeform 5"/>
          <p:cNvSpPr/>
          <p:nvPr/>
        </p:nvSpPr>
        <p:spPr>
          <a:xfrm rot="445249">
            <a:off x="6437396" y="821259"/>
            <a:ext cx="5254244" cy="1203699"/>
          </a:xfrm>
          <a:custGeom>
            <a:avLst/>
            <a:gdLst/>
            <a:ahLst/>
            <a:cxnLst/>
            <a:rect l="l" t="t" r="r" b="b"/>
            <a:pathLst>
              <a:path w="5254244" h="1203699">
                <a:moveTo>
                  <a:pt x="0" y="0"/>
                </a:moveTo>
                <a:lnTo>
                  <a:pt x="5254244" y="0"/>
                </a:lnTo>
                <a:lnTo>
                  <a:pt x="5254244" y="1203700"/>
                </a:lnTo>
                <a:lnTo>
                  <a:pt x="0" y="1203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5967020" y="-385860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 rot="-2699999">
            <a:off x="-811771" y="8337364"/>
            <a:ext cx="2761661" cy="2681321"/>
          </a:xfrm>
          <a:custGeom>
            <a:avLst/>
            <a:gdLst/>
            <a:ahLst/>
            <a:cxnLst/>
            <a:rect l="l" t="t" r="r" b="b"/>
            <a:pathLst>
              <a:path w="2761661" h="2681321">
                <a:moveTo>
                  <a:pt x="0" y="0"/>
                </a:moveTo>
                <a:lnTo>
                  <a:pt x="2761661" y="0"/>
                </a:lnTo>
                <a:lnTo>
                  <a:pt x="2761661" y="2681321"/>
                </a:lnTo>
                <a:lnTo>
                  <a:pt x="0" y="2681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13964672" y="3581408"/>
            <a:ext cx="1841630" cy="2665517"/>
          </a:xfrm>
          <a:custGeom>
            <a:avLst/>
            <a:gdLst/>
            <a:ahLst/>
            <a:cxnLst/>
            <a:rect l="l" t="t" r="r" b="b"/>
            <a:pathLst>
              <a:path w="1841630" h="2665517">
                <a:moveTo>
                  <a:pt x="0" y="0"/>
                </a:moveTo>
                <a:lnTo>
                  <a:pt x="1841629" y="0"/>
                </a:lnTo>
                <a:lnTo>
                  <a:pt x="1841629" y="2665517"/>
                </a:lnTo>
                <a:lnTo>
                  <a:pt x="0" y="2665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482194" y="3581408"/>
            <a:ext cx="3515670" cy="2665517"/>
          </a:xfrm>
          <a:custGeom>
            <a:avLst/>
            <a:gdLst/>
            <a:ahLst/>
            <a:cxnLst/>
            <a:rect l="l" t="t" r="r" b="b"/>
            <a:pathLst>
              <a:path w="3515670" h="2665517">
                <a:moveTo>
                  <a:pt x="0" y="0"/>
                </a:moveTo>
                <a:lnTo>
                  <a:pt x="3515670" y="0"/>
                </a:lnTo>
                <a:lnTo>
                  <a:pt x="3515670" y="2665517"/>
                </a:lnTo>
                <a:lnTo>
                  <a:pt x="0" y="2665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TextBox 10"/>
          <p:cNvSpPr txBox="1"/>
          <p:nvPr/>
        </p:nvSpPr>
        <p:spPr>
          <a:xfrm>
            <a:off x="5075614" y="6598301"/>
            <a:ext cx="8319190" cy="84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Semoga kita bisa bekerja sama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299</Words>
  <Application>Microsoft Office PowerPoint</Application>
  <PresentationFormat>Custom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Dekko</vt:lpstr>
      <vt:lpstr>Marykate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1. Mengenal Algoritma dan Diagram Alir</dc:title>
  <cp:lastModifiedBy>kknt15utm2</cp:lastModifiedBy>
  <cp:revision>3</cp:revision>
  <dcterms:created xsi:type="dcterms:W3CDTF">2006-08-16T00:00:00Z</dcterms:created>
  <dcterms:modified xsi:type="dcterms:W3CDTF">2026-04-15T00:03:32Z</dcterms:modified>
  <dc:identifier>DAHGIhn58vM</dc:identifier>
</cp:coreProperties>
</file>