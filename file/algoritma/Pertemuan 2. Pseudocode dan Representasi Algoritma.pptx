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Lucidity Condensed" charset="1" panose="00000600000000000000"/>
      <p:regular r:id="rId18"/>
    </p:embeddedFont>
    <p:embeddedFont>
      <p:font typeface="Clear Sans Bold" charset="1" panose="020B0803030202020304"/>
      <p:regular r:id="rId19"/>
    </p:embeddedFont>
    <p:embeddedFont>
      <p:font typeface="Clear Sans" charset="1" panose="020B05030302020203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42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4.png" Type="http://schemas.openxmlformats.org/officeDocument/2006/relationships/image"/><Relationship Id="rId9" Target="../media/image3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12" Target="../media/image40.png" Type="http://schemas.openxmlformats.org/officeDocument/2006/relationships/image"/><Relationship Id="rId13" Target="../media/image41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891374" y="-4016075"/>
            <a:ext cx="13493078" cy="19275826"/>
          </a:xfrm>
          <a:custGeom>
            <a:avLst/>
            <a:gdLst/>
            <a:ahLst/>
            <a:cxnLst/>
            <a:rect r="r" b="b" t="t" l="l"/>
            <a:pathLst>
              <a:path h="19275826" w="13493078">
                <a:moveTo>
                  <a:pt x="13493078" y="0"/>
                </a:moveTo>
                <a:lnTo>
                  <a:pt x="0" y="0"/>
                </a:lnTo>
                <a:lnTo>
                  <a:pt x="0" y="19275826"/>
                </a:lnTo>
                <a:lnTo>
                  <a:pt x="13493078" y="19275826"/>
                </a:lnTo>
                <a:lnTo>
                  <a:pt x="134930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58577" y="1816941"/>
            <a:ext cx="8570845" cy="6653118"/>
          </a:xfrm>
          <a:custGeom>
            <a:avLst/>
            <a:gdLst/>
            <a:ahLst/>
            <a:cxnLst/>
            <a:rect r="r" b="b" t="t" l="l"/>
            <a:pathLst>
              <a:path h="6653118" w="8570845">
                <a:moveTo>
                  <a:pt x="0" y="0"/>
                </a:moveTo>
                <a:lnTo>
                  <a:pt x="8570846" y="0"/>
                </a:lnTo>
                <a:lnTo>
                  <a:pt x="8570846" y="6653118"/>
                </a:lnTo>
                <a:lnTo>
                  <a:pt x="0" y="66531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08005" y="3217545"/>
            <a:ext cx="7471991" cy="410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0"/>
              </a:lnSpc>
            </a:pPr>
            <a:r>
              <a:rPr lang="en-US" sz="9000">
                <a:solidFill>
                  <a:srgbClr val="F4EBC1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Pseudocode dan Representasi Algoritma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-4706415" y="4531932"/>
            <a:ext cx="10635967" cy="1223136"/>
          </a:xfrm>
          <a:custGeom>
            <a:avLst/>
            <a:gdLst/>
            <a:ahLst/>
            <a:cxnLst/>
            <a:rect r="r" b="b" t="t" l="l"/>
            <a:pathLst>
              <a:path h="1223136" w="10635967">
                <a:moveTo>
                  <a:pt x="0" y="0"/>
                </a:moveTo>
                <a:lnTo>
                  <a:pt x="10635967" y="0"/>
                </a:lnTo>
                <a:lnTo>
                  <a:pt x="10635967" y="1223136"/>
                </a:lnTo>
                <a:lnTo>
                  <a:pt x="0" y="12231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719343" y="7373190"/>
            <a:ext cx="2849314" cy="522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1"/>
              </a:lnSpc>
            </a:pPr>
            <a:r>
              <a:rPr lang="en-US" sz="3072" b="true">
                <a:solidFill>
                  <a:srgbClr val="F4EBC1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PPL PPG UNESA</a:t>
            </a:r>
          </a:p>
        </p:txBody>
      </p:sp>
      <p:sp>
        <p:nvSpPr>
          <p:cNvPr name="Freeform 7" id="7"/>
          <p:cNvSpPr/>
          <p:nvPr/>
        </p:nvSpPr>
        <p:spPr>
          <a:xfrm flipH="false" flipV="true" rot="-5400000">
            <a:off x="12361557" y="4357448"/>
            <a:ext cx="10635967" cy="1223136"/>
          </a:xfrm>
          <a:custGeom>
            <a:avLst/>
            <a:gdLst/>
            <a:ahLst/>
            <a:cxnLst/>
            <a:rect r="r" b="b" t="t" l="l"/>
            <a:pathLst>
              <a:path h="1223136" w="10635967">
                <a:moveTo>
                  <a:pt x="0" y="1223137"/>
                </a:moveTo>
                <a:lnTo>
                  <a:pt x="10635967" y="1223137"/>
                </a:lnTo>
                <a:lnTo>
                  <a:pt x="10635967" y="0"/>
                </a:lnTo>
                <a:lnTo>
                  <a:pt x="0" y="0"/>
                </a:lnTo>
                <a:lnTo>
                  <a:pt x="0" y="122313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582297" y="-3145749"/>
            <a:ext cx="13493078" cy="19275826"/>
          </a:xfrm>
          <a:custGeom>
            <a:avLst/>
            <a:gdLst/>
            <a:ahLst/>
            <a:cxnLst/>
            <a:rect r="r" b="b" t="t" l="l"/>
            <a:pathLst>
              <a:path h="19275826" w="13493078">
                <a:moveTo>
                  <a:pt x="13493078" y="0"/>
                </a:moveTo>
                <a:lnTo>
                  <a:pt x="0" y="0"/>
                </a:lnTo>
                <a:lnTo>
                  <a:pt x="0" y="19275826"/>
                </a:lnTo>
                <a:lnTo>
                  <a:pt x="13493078" y="19275826"/>
                </a:lnTo>
                <a:lnTo>
                  <a:pt x="134930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09077" y="-254375"/>
            <a:ext cx="12150032" cy="11103647"/>
            <a:chOff x="0" y="0"/>
            <a:chExt cx="3200008" cy="29244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00008" cy="2924417"/>
            </a:xfrm>
            <a:custGeom>
              <a:avLst/>
              <a:gdLst/>
              <a:ahLst/>
              <a:cxnLst/>
              <a:rect r="r" b="b" t="t" l="l"/>
              <a:pathLst>
                <a:path h="2924417" w="3200008">
                  <a:moveTo>
                    <a:pt x="32497" y="0"/>
                  </a:moveTo>
                  <a:lnTo>
                    <a:pt x="3167512" y="0"/>
                  </a:lnTo>
                  <a:cubicBezTo>
                    <a:pt x="3176130" y="0"/>
                    <a:pt x="3184396" y="3424"/>
                    <a:pt x="3190490" y="9518"/>
                  </a:cubicBezTo>
                  <a:cubicBezTo>
                    <a:pt x="3196585" y="15612"/>
                    <a:pt x="3200008" y="23878"/>
                    <a:pt x="3200008" y="32497"/>
                  </a:cubicBezTo>
                  <a:lnTo>
                    <a:pt x="3200008" y="2891921"/>
                  </a:lnTo>
                  <a:cubicBezTo>
                    <a:pt x="3200008" y="2900539"/>
                    <a:pt x="3196585" y="2908805"/>
                    <a:pt x="3190490" y="2914899"/>
                  </a:cubicBezTo>
                  <a:cubicBezTo>
                    <a:pt x="3184396" y="2920994"/>
                    <a:pt x="3176130" y="2924417"/>
                    <a:pt x="3167512" y="2924417"/>
                  </a:cubicBezTo>
                  <a:lnTo>
                    <a:pt x="32497" y="2924417"/>
                  </a:lnTo>
                  <a:cubicBezTo>
                    <a:pt x="14549" y="2924417"/>
                    <a:pt x="0" y="2909868"/>
                    <a:pt x="0" y="2891921"/>
                  </a:cubicBezTo>
                  <a:lnTo>
                    <a:pt x="0" y="32497"/>
                  </a:lnTo>
                  <a:cubicBezTo>
                    <a:pt x="0" y="14549"/>
                    <a:pt x="14549" y="0"/>
                    <a:pt x="32497" y="0"/>
                  </a:cubicBezTo>
                  <a:close/>
                </a:path>
              </a:pathLst>
            </a:custGeom>
            <a:solidFill>
              <a:srgbClr val="D97550"/>
            </a:solidFill>
            <a:ln w="123825" cap="rnd">
              <a:solidFill>
                <a:srgbClr val="F6B33B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00008" cy="29625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9"/>
                </a:lnSpc>
              </a:pPr>
            </a:p>
          </p:txBody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2233202" y="171000"/>
            <a:ext cx="5026098" cy="9944999"/>
            <a:chOff x="0" y="0"/>
            <a:chExt cx="2620010" cy="51841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85420" y="156210"/>
              <a:ext cx="2250453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0453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112419" t="0" r="-112419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79738" y="187960"/>
              <a:ext cx="63785" cy="63501"/>
            </a:xfrm>
            <a:custGeom>
              <a:avLst/>
              <a:gdLst/>
              <a:ahLst/>
              <a:cxnLst/>
              <a:rect r="r" b="b" t="t" l="l"/>
              <a:pathLst>
                <a:path h="63501" w="63785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86086" y="4046175"/>
            <a:ext cx="10400943" cy="349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3591" indent="-431796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EFF2CF"/>
                </a:solidFill>
                <a:latin typeface="Clear Sans"/>
                <a:ea typeface="Clear Sans"/>
                <a:cs typeface="Clear Sans"/>
                <a:sym typeface="Clear Sans"/>
              </a:rPr>
              <a:t>Pseudocode adalah penulisan algoritma dalam bentuk teks</a:t>
            </a:r>
          </a:p>
          <a:p>
            <a:pPr algn="l" marL="863591" indent="-431796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EFF2CF"/>
                </a:solidFill>
                <a:latin typeface="Clear Sans"/>
                <a:ea typeface="Clear Sans"/>
                <a:cs typeface="Clear Sans"/>
                <a:sym typeface="Clear Sans"/>
              </a:rPr>
              <a:t>Ditulis menyerupai kode program</a:t>
            </a:r>
          </a:p>
          <a:p>
            <a:pPr algn="l" marL="863591" indent="-431796" lvl="1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EFF2CF"/>
                </a:solidFill>
                <a:latin typeface="Clear Sans"/>
                <a:ea typeface="Clear Sans"/>
                <a:cs typeface="Clear Sans"/>
                <a:sym typeface="Clear Sans"/>
              </a:rPr>
              <a:t>Tidak terikat bahasa pemrograman tertentu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5718598" y="9047153"/>
            <a:ext cx="1689832" cy="866743"/>
          </a:xfrm>
          <a:custGeom>
            <a:avLst/>
            <a:gdLst/>
            <a:ahLst/>
            <a:cxnLst/>
            <a:rect r="r" b="b" t="t" l="l"/>
            <a:pathLst>
              <a:path h="866743" w="1689832">
                <a:moveTo>
                  <a:pt x="0" y="0"/>
                </a:moveTo>
                <a:lnTo>
                  <a:pt x="1689832" y="0"/>
                </a:lnTo>
                <a:lnTo>
                  <a:pt x="1689832" y="866743"/>
                </a:lnTo>
                <a:lnTo>
                  <a:pt x="0" y="8667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1092159" y="0"/>
            <a:ext cx="2137404" cy="1891602"/>
          </a:xfrm>
          <a:custGeom>
            <a:avLst/>
            <a:gdLst/>
            <a:ahLst/>
            <a:cxnLst/>
            <a:rect r="r" b="b" t="t" l="l"/>
            <a:pathLst>
              <a:path h="1891602" w="2137404">
                <a:moveTo>
                  <a:pt x="2137404" y="0"/>
                </a:moveTo>
                <a:lnTo>
                  <a:pt x="0" y="0"/>
                </a:lnTo>
                <a:lnTo>
                  <a:pt x="0" y="1891602"/>
                </a:lnTo>
                <a:lnTo>
                  <a:pt x="2137404" y="1891602"/>
                </a:lnTo>
                <a:lnTo>
                  <a:pt x="2137404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309077" y="7535501"/>
            <a:ext cx="3443725" cy="3023304"/>
          </a:xfrm>
          <a:custGeom>
            <a:avLst/>
            <a:gdLst/>
            <a:ahLst/>
            <a:cxnLst/>
            <a:rect r="r" b="b" t="t" l="l"/>
            <a:pathLst>
              <a:path h="3023304" w="3443725">
                <a:moveTo>
                  <a:pt x="0" y="0"/>
                </a:moveTo>
                <a:lnTo>
                  <a:pt x="3443725" y="0"/>
                </a:lnTo>
                <a:lnTo>
                  <a:pt x="3443725" y="3023304"/>
                </a:lnTo>
                <a:lnTo>
                  <a:pt x="0" y="30233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668265" y="1215291"/>
            <a:ext cx="7091660" cy="175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44"/>
              </a:lnSpc>
            </a:pPr>
            <a:r>
              <a:rPr lang="en-US" sz="10246">
                <a:solidFill>
                  <a:srgbClr val="EFF2CF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PSEUDOCODE</a:t>
            </a:r>
          </a:p>
        </p:txBody>
      </p:sp>
      <p:sp>
        <p:nvSpPr>
          <p:cNvPr name="Freeform 21" id="21"/>
          <p:cNvSpPr/>
          <p:nvPr/>
        </p:nvSpPr>
        <p:spPr>
          <a:xfrm flipH="false" flipV="true" rot="0">
            <a:off x="-309077" y="-254375"/>
            <a:ext cx="3443725" cy="3023304"/>
          </a:xfrm>
          <a:custGeom>
            <a:avLst/>
            <a:gdLst/>
            <a:ahLst/>
            <a:cxnLst/>
            <a:rect r="r" b="b" t="t" l="l"/>
            <a:pathLst>
              <a:path h="3023304" w="3443725">
                <a:moveTo>
                  <a:pt x="0" y="3023304"/>
                </a:moveTo>
                <a:lnTo>
                  <a:pt x="3443725" y="3023304"/>
                </a:lnTo>
                <a:lnTo>
                  <a:pt x="3443725" y="0"/>
                </a:lnTo>
                <a:lnTo>
                  <a:pt x="0" y="0"/>
                </a:lnTo>
                <a:lnTo>
                  <a:pt x="0" y="3023304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1903548" y="-3218122"/>
            <a:ext cx="13493078" cy="19275826"/>
          </a:xfrm>
          <a:custGeom>
            <a:avLst/>
            <a:gdLst/>
            <a:ahLst/>
            <a:cxnLst/>
            <a:rect r="r" b="b" t="t" l="l"/>
            <a:pathLst>
              <a:path h="19275826" w="13493078">
                <a:moveTo>
                  <a:pt x="13493078" y="0"/>
                </a:moveTo>
                <a:lnTo>
                  <a:pt x="0" y="0"/>
                </a:lnTo>
                <a:lnTo>
                  <a:pt x="0" y="19275825"/>
                </a:lnTo>
                <a:lnTo>
                  <a:pt x="13493078" y="19275825"/>
                </a:lnTo>
                <a:lnTo>
                  <a:pt x="134930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97550"/>
            </a:solidFill>
            <a:ln w="104775" cap="rnd">
              <a:solidFill>
                <a:srgbClr val="F6B33B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231509"/>
            <a:ext cx="6864549" cy="3377930"/>
          </a:xfrm>
          <a:custGeom>
            <a:avLst/>
            <a:gdLst/>
            <a:ahLst/>
            <a:cxnLst/>
            <a:rect r="r" b="b" t="t" l="l"/>
            <a:pathLst>
              <a:path h="3377930" w="6864549">
                <a:moveTo>
                  <a:pt x="0" y="0"/>
                </a:moveTo>
                <a:lnTo>
                  <a:pt x="6864549" y="0"/>
                </a:lnTo>
                <a:lnTo>
                  <a:pt x="6864549" y="3377930"/>
                </a:lnTo>
                <a:lnTo>
                  <a:pt x="0" y="33779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10394751" y="1231509"/>
            <a:ext cx="6864549" cy="3377930"/>
          </a:xfrm>
          <a:custGeom>
            <a:avLst/>
            <a:gdLst/>
            <a:ahLst/>
            <a:cxnLst/>
            <a:rect r="r" b="b" t="t" l="l"/>
            <a:pathLst>
              <a:path h="3377930" w="6864549">
                <a:moveTo>
                  <a:pt x="6864549" y="0"/>
                </a:moveTo>
                <a:lnTo>
                  <a:pt x="0" y="0"/>
                </a:lnTo>
                <a:lnTo>
                  <a:pt x="0" y="3377930"/>
                </a:lnTo>
                <a:lnTo>
                  <a:pt x="6864549" y="3377930"/>
                </a:lnTo>
                <a:lnTo>
                  <a:pt x="686454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54548" y="784430"/>
            <a:ext cx="8378905" cy="2646337"/>
          </a:xfrm>
          <a:custGeom>
            <a:avLst/>
            <a:gdLst/>
            <a:ahLst/>
            <a:cxnLst/>
            <a:rect r="r" b="b" t="t" l="l"/>
            <a:pathLst>
              <a:path h="2646337" w="8378905">
                <a:moveTo>
                  <a:pt x="0" y="0"/>
                </a:moveTo>
                <a:lnTo>
                  <a:pt x="8378904" y="0"/>
                </a:lnTo>
                <a:lnTo>
                  <a:pt x="8378904" y="2646338"/>
                </a:lnTo>
                <a:lnTo>
                  <a:pt x="0" y="26463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4743" y="1231509"/>
            <a:ext cx="1830833" cy="1620287"/>
          </a:xfrm>
          <a:custGeom>
            <a:avLst/>
            <a:gdLst/>
            <a:ahLst/>
            <a:cxnLst/>
            <a:rect r="r" b="b" t="t" l="l"/>
            <a:pathLst>
              <a:path h="1620287" w="1830833">
                <a:moveTo>
                  <a:pt x="0" y="0"/>
                </a:moveTo>
                <a:lnTo>
                  <a:pt x="1830833" y="0"/>
                </a:lnTo>
                <a:lnTo>
                  <a:pt x="1830833" y="1620287"/>
                </a:lnTo>
                <a:lnTo>
                  <a:pt x="0" y="16202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5154168" y="1231509"/>
            <a:ext cx="1830833" cy="1620287"/>
          </a:xfrm>
          <a:custGeom>
            <a:avLst/>
            <a:gdLst/>
            <a:ahLst/>
            <a:cxnLst/>
            <a:rect r="r" b="b" t="t" l="l"/>
            <a:pathLst>
              <a:path h="1620287" w="1830833">
                <a:moveTo>
                  <a:pt x="1830833" y="0"/>
                </a:moveTo>
                <a:lnTo>
                  <a:pt x="0" y="0"/>
                </a:lnTo>
                <a:lnTo>
                  <a:pt x="0" y="1620287"/>
                </a:lnTo>
                <a:lnTo>
                  <a:pt x="1830833" y="1620287"/>
                </a:lnTo>
                <a:lnTo>
                  <a:pt x="183083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251431" y="1457325"/>
            <a:ext cx="7785138" cy="172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86"/>
              </a:lnSpc>
            </a:pPr>
            <a:r>
              <a:rPr lang="en-US" sz="14189">
                <a:solidFill>
                  <a:srgbClr val="F4EBC1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FUNGSI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978622" y="4897628"/>
            <a:ext cx="10330755" cy="3079874"/>
            <a:chOff x="0" y="0"/>
            <a:chExt cx="13774341" cy="4106498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85725"/>
              <a:ext cx="13140333" cy="944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20806" indent="-460403" lvl="1">
                <a:lnSpc>
                  <a:spcPts val="5970"/>
                </a:lnSpc>
                <a:buAutoNum type="arabicPeriod" startAt="1"/>
              </a:pPr>
              <a:r>
                <a:rPr lang="en-US" sz="4264">
                  <a:solidFill>
                    <a:srgbClr val="0A0A0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Mempermudah memahami algoritma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541053"/>
              <a:ext cx="13774341" cy="944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20806" indent="-460403" lvl="1">
                <a:lnSpc>
                  <a:spcPts val="5970"/>
                </a:lnSpc>
                <a:buAutoNum type="arabicPeriod" startAt="1"/>
              </a:pPr>
              <a:r>
                <a:rPr lang="en-US" sz="4264">
                  <a:solidFill>
                    <a:srgbClr val="0A0A0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Digunakan sebelum membuat program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3161913"/>
              <a:ext cx="10657284" cy="944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920806" indent="-460403" lvl="1">
                <a:lnSpc>
                  <a:spcPts val="5970"/>
                </a:lnSpc>
                <a:buAutoNum type="arabicPeriod" startAt="1"/>
              </a:pPr>
              <a:r>
                <a:rPr lang="en-US" sz="4264">
                  <a:solidFill>
                    <a:srgbClr val="0A0A0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Mengurangi kesalahan logika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039209" y="-3337443"/>
            <a:ext cx="13493078" cy="19275826"/>
          </a:xfrm>
          <a:custGeom>
            <a:avLst/>
            <a:gdLst/>
            <a:ahLst/>
            <a:cxnLst/>
            <a:rect r="r" b="b" t="t" l="l"/>
            <a:pathLst>
              <a:path h="19275826" w="13493078">
                <a:moveTo>
                  <a:pt x="13493078" y="0"/>
                </a:moveTo>
                <a:lnTo>
                  <a:pt x="0" y="0"/>
                </a:lnTo>
                <a:lnTo>
                  <a:pt x="0" y="19275826"/>
                </a:lnTo>
                <a:lnTo>
                  <a:pt x="13493078" y="19275826"/>
                </a:lnTo>
                <a:lnTo>
                  <a:pt x="134930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97550"/>
            </a:solidFill>
            <a:ln w="161925" cap="rnd">
              <a:solidFill>
                <a:srgbClr val="F6B33B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053249" y="211337"/>
            <a:ext cx="1960959" cy="1960959"/>
          </a:xfrm>
          <a:custGeom>
            <a:avLst/>
            <a:gdLst/>
            <a:ahLst/>
            <a:cxnLst/>
            <a:rect r="r" b="b" t="t" l="l"/>
            <a:pathLst>
              <a:path h="1960959" w="1960959">
                <a:moveTo>
                  <a:pt x="0" y="0"/>
                </a:moveTo>
                <a:lnTo>
                  <a:pt x="1960959" y="0"/>
                </a:lnTo>
                <a:lnTo>
                  <a:pt x="1960959" y="1960959"/>
                </a:lnTo>
                <a:lnTo>
                  <a:pt x="0" y="1960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157288" y="1191817"/>
            <a:ext cx="1842484" cy="1960959"/>
          </a:xfrm>
          <a:custGeom>
            <a:avLst/>
            <a:gdLst/>
            <a:ahLst/>
            <a:cxnLst/>
            <a:rect r="r" b="b" t="t" l="l"/>
            <a:pathLst>
              <a:path h="1960959" w="1842484">
                <a:moveTo>
                  <a:pt x="1842484" y="1960959"/>
                </a:moveTo>
                <a:lnTo>
                  <a:pt x="0" y="1960959"/>
                </a:lnTo>
                <a:lnTo>
                  <a:pt x="0" y="0"/>
                </a:lnTo>
                <a:lnTo>
                  <a:pt x="1842484" y="0"/>
                </a:lnTo>
                <a:lnTo>
                  <a:pt x="1842484" y="196095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572" y="8143329"/>
            <a:ext cx="1960959" cy="1960959"/>
          </a:xfrm>
          <a:custGeom>
            <a:avLst/>
            <a:gdLst/>
            <a:ahLst/>
            <a:cxnLst/>
            <a:rect r="r" b="b" t="t" l="l"/>
            <a:pathLst>
              <a:path h="1960959" w="1960959">
                <a:moveTo>
                  <a:pt x="0" y="0"/>
                </a:moveTo>
                <a:lnTo>
                  <a:pt x="1960958" y="0"/>
                </a:lnTo>
                <a:lnTo>
                  <a:pt x="1960958" y="1960958"/>
                </a:lnTo>
                <a:lnTo>
                  <a:pt x="0" y="1960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191244" y="7162849"/>
            <a:ext cx="1842484" cy="1960959"/>
          </a:xfrm>
          <a:custGeom>
            <a:avLst/>
            <a:gdLst/>
            <a:ahLst/>
            <a:cxnLst/>
            <a:rect r="r" b="b" t="t" l="l"/>
            <a:pathLst>
              <a:path h="1960959" w="1842484">
                <a:moveTo>
                  <a:pt x="0" y="0"/>
                </a:moveTo>
                <a:lnTo>
                  <a:pt x="1842485" y="0"/>
                </a:lnTo>
                <a:lnTo>
                  <a:pt x="1842485" y="1960959"/>
                </a:lnTo>
                <a:lnTo>
                  <a:pt x="0" y="19609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156641" y="3228976"/>
            <a:ext cx="13974719" cy="1196417"/>
            <a:chOff x="0" y="0"/>
            <a:chExt cx="18632958" cy="1595223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789866" y="7746"/>
              <a:ext cx="17843093" cy="1579731"/>
              <a:chOff x="0" y="0"/>
              <a:chExt cx="3524562" cy="31204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524562" cy="312046"/>
              </a:xfrm>
              <a:custGeom>
                <a:avLst/>
                <a:gdLst/>
                <a:ahLst/>
                <a:cxnLst/>
                <a:rect r="r" b="b" t="t" l="l"/>
                <a:pathLst>
                  <a:path h="312046" w="3524562">
                    <a:moveTo>
                      <a:pt x="29504" y="0"/>
                    </a:moveTo>
                    <a:lnTo>
                      <a:pt x="3495057" y="0"/>
                    </a:lnTo>
                    <a:cubicBezTo>
                      <a:pt x="3511352" y="0"/>
                      <a:pt x="3524562" y="13210"/>
                      <a:pt x="3524562" y="29504"/>
                    </a:cubicBezTo>
                    <a:lnTo>
                      <a:pt x="3524562" y="282541"/>
                    </a:lnTo>
                    <a:cubicBezTo>
                      <a:pt x="3524562" y="290366"/>
                      <a:pt x="3521453" y="297871"/>
                      <a:pt x="3515920" y="303404"/>
                    </a:cubicBezTo>
                    <a:cubicBezTo>
                      <a:pt x="3510387" y="308937"/>
                      <a:pt x="3502882" y="312046"/>
                      <a:pt x="3495057" y="312046"/>
                    </a:cubicBezTo>
                    <a:lnTo>
                      <a:pt x="29504" y="312046"/>
                    </a:lnTo>
                    <a:cubicBezTo>
                      <a:pt x="21679" y="312046"/>
                      <a:pt x="14175" y="308937"/>
                      <a:pt x="8642" y="303404"/>
                    </a:cubicBezTo>
                    <a:cubicBezTo>
                      <a:pt x="3108" y="297871"/>
                      <a:pt x="0" y="290366"/>
                      <a:pt x="0" y="282541"/>
                    </a:cubicBezTo>
                    <a:lnTo>
                      <a:pt x="0" y="29504"/>
                    </a:lnTo>
                    <a:cubicBezTo>
                      <a:pt x="0" y="21679"/>
                      <a:pt x="3108" y="14175"/>
                      <a:pt x="8642" y="8642"/>
                    </a:cubicBezTo>
                    <a:cubicBezTo>
                      <a:pt x="14175" y="3108"/>
                      <a:pt x="21679" y="0"/>
                      <a:pt x="29504" y="0"/>
                    </a:cubicBezTo>
                    <a:close/>
                  </a:path>
                </a:pathLst>
              </a:custGeom>
              <a:solidFill>
                <a:srgbClr val="F4EBC1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3524562" cy="3501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9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0" y="0"/>
              <a:ext cx="1579731" cy="1595223"/>
              <a:chOff x="0" y="0"/>
              <a:chExt cx="812800" cy="820771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20771"/>
              </a:xfrm>
              <a:custGeom>
                <a:avLst/>
                <a:gdLst/>
                <a:ahLst/>
                <a:cxnLst/>
                <a:rect r="r" b="b" t="t" l="l"/>
                <a:pathLst>
                  <a:path h="820771" w="812800">
                    <a:moveTo>
                      <a:pt x="406400" y="0"/>
                    </a:moveTo>
                    <a:cubicBezTo>
                      <a:pt x="181951" y="0"/>
                      <a:pt x="0" y="183736"/>
                      <a:pt x="0" y="410385"/>
                    </a:cubicBezTo>
                    <a:cubicBezTo>
                      <a:pt x="0" y="637035"/>
                      <a:pt x="181951" y="820771"/>
                      <a:pt x="406400" y="820771"/>
                    </a:cubicBezTo>
                    <a:cubicBezTo>
                      <a:pt x="630849" y="820771"/>
                      <a:pt x="812800" y="637035"/>
                      <a:pt x="812800" y="410385"/>
                    </a:cubicBezTo>
                    <a:cubicBezTo>
                      <a:pt x="812800" y="18373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9CECB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747"/>
                <a:ext cx="660400" cy="7430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299"/>
                  </a:lnSpc>
                </a:pPr>
                <a:r>
                  <a:rPr lang="en-US" b="true" sz="4499">
                    <a:solidFill>
                      <a:srgbClr val="FFFFFF"/>
                    </a:solidFill>
                    <a:latin typeface="Clear Sans Bold"/>
                    <a:ea typeface="Clear Sans Bold"/>
                    <a:cs typeface="Clear Sans Bold"/>
                    <a:sym typeface="Clear Sans Bold"/>
                  </a:rPr>
                  <a:t>1</a:t>
                </a: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829884" y="377453"/>
              <a:ext cx="11694579" cy="773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Menggunakan bahasa yang sederhana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737438" y="1019778"/>
            <a:ext cx="8813124" cy="2132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58"/>
              </a:lnSpc>
            </a:pPr>
            <a:r>
              <a:rPr lang="en-US" sz="12398">
                <a:solidFill>
                  <a:srgbClr val="F4EBC1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CIRI-CIRI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156641" y="4664379"/>
            <a:ext cx="13974719" cy="1196417"/>
            <a:chOff x="0" y="0"/>
            <a:chExt cx="18632958" cy="1595223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789866" y="7746"/>
              <a:ext cx="17843093" cy="1579731"/>
              <a:chOff x="0" y="0"/>
              <a:chExt cx="3524562" cy="312046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524562" cy="312046"/>
              </a:xfrm>
              <a:custGeom>
                <a:avLst/>
                <a:gdLst/>
                <a:ahLst/>
                <a:cxnLst/>
                <a:rect r="r" b="b" t="t" l="l"/>
                <a:pathLst>
                  <a:path h="312046" w="3524562">
                    <a:moveTo>
                      <a:pt x="29504" y="0"/>
                    </a:moveTo>
                    <a:lnTo>
                      <a:pt x="3495057" y="0"/>
                    </a:lnTo>
                    <a:cubicBezTo>
                      <a:pt x="3511352" y="0"/>
                      <a:pt x="3524562" y="13210"/>
                      <a:pt x="3524562" y="29504"/>
                    </a:cubicBezTo>
                    <a:lnTo>
                      <a:pt x="3524562" y="282541"/>
                    </a:lnTo>
                    <a:cubicBezTo>
                      <a:pt x="3524562" y="290366"/>
                      <a:pt x="3521453" y="297871"/>
                      <a:pt x="3515920" y="303404"/>
                    </a:cubicBezTo>
                    <a:cubicBezTo>
                      <a:pt x="3510387" y="308937"/>
                      <a:pt x="3502882" y="312046"/>
                      <a:pt x="3495057" y="312046"/>
                    </a:cubicBezTo>
                    <a:lnTo>
                      <a:pt x="29504" y="312046"/>
                    </a:lnTo>
                    <a:cubicBezTo>
                      <a:pt x="21679" y="312046"/>
                      <a:pt x="14175" y="308937"/>
                      <a:pt x="8642" y="303404"/>
                    </a:cubicBezTo>
                    <a:cubicBezTo>
                      <a:pt x="3108" y="297871"/>
                      <a:pt x="0" y="290366"/>
                      <a:pt x="0" y="282541"/>
                    </a:cubicBezTo>
                    <a:lnTo>
                      <a:pt x="0" y="29504"/>
                    </a:lnTo>
                    <a:cubicBezTo>
                      <a:pt x="0" y="21679"/>
                      <a:pt x="3108" y="14175"/>
                      <a:pt x="8642" y="8642"/>
                    </a:cubicBezTo>
                    <a:cubicBezTo>
                      <a:pt x="14175" y="3108"/>
                      <a:pt x="21679" y="0"/>
                      <a:pt x="29504" y="0"/>
                    </a:cubicBezTo>
                    <a:close/>
                  </a:path>
                </a:pathLst>
              </a:custGeom>
              <a:solidFill>
                <a:srgbClr val="F4EBC1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3524562" cy="3501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9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0" y="0"/>
              <a:ext cx="1579731" cy="1595223"/>
              <a:chOff x="0" y="0"/>
              <a:chExt cx="812800" cy="82077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20771"/>
              </a:xfrm>
              <a:custGeom>
                <a:avLst/>
                <a:gdLst/>
                <a:ahLst/>
                <a:cxnLst/>
                <a:rect r="r" b="b" t="t" l="l"/>
                <a:pathLst>
                  <a:path h="820771" w="812800">
                    <a:moveTo>
                      <a:pt x="406400" y="0"/>
                    </a:moveTo>
                    <a:cubicBezTo>
                      <a:pt x="181951" y="0"/>
                      <a:pt x="0" y="183736"/>
                      <a:pt x="0" y="410385"/>
                    </a:cubicBezTo>
                    <a:cubicBezTo>
                      <a:pt x="0" y="637035"/>
                      <a:pt x="181951" y="820771"/>
                      <a:pt x="406400" y="820771"/>
                    </a:cubicBezTo>
                    <a:cubicBezTo>
                      <a:pt x="630849" y="820771"/>
                      <a:pt x="812800" y="637035"/>
                      <a:pt x="812800" y="410385"/>
                    </a:cubicBezTo>
                    <a:cubicBezTo>
                      <a:pt x="812800" y="18373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9CECB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76200" y="747"/>
                <a:ext cx="660400" cy="7430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299"/>
                  </a:lnSpc>
                </a:pPr>
                <a:r>
                  <a:rPr lang="en-US" b="true" sz="4499">
                    <a:solidFill>
                      <a:srgbClr val="FFFFFF"/>
                    </a:solidFill>
                    <a:latin typeface="Clear Sans Bold"/>
                    <a:ea typeface="Clear Sans Bold"/>
                    <a:cs typeface="Clear Sans Bold"/>
                    <a:sym typeface="Clear Sans Bold"/>
                  </a:rPr>
                  <a:t>2</a:t>
                </a: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1829884" y="377453"/>
              <a:ext cx="11694579" cy="773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Tidak terikat aturan baku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156641" y="6098921"/>
            <a:ext cx="13974719" cy="1196417"/>
            <a:chOff x="0" y="0"/>
            <a:chExt cx="18632958" cy="1595223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789866" y="7746"/>
              <a:ext cx="17843093" cy="1579731"/>
              <a:chOff x="0" y="0"/>
              <a:chExt cx="3524562" cy="312046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3524562" cy="312046"/>
              </a:xfrm>
              <a:custGeom>
                <a:avLst/>
                <a:gdLst/>
                <a:ahLst/>
                <a:cxnLst/>
                <a:rect r="r" b="b" t="t" l="l"/>
                <a:pathLst>
                  <a:path h="312046" w="3524562">
                    <a:moveTo>
                      <a:pt x="29504" y="0"/>
                    </a:moveTo>
                    <a:lnTo>
                      <a:pt x="3495057" y="0"/>
                    </a:lnTo>
                    <a:cubicBezTo>
                      <a:pt x="3511352" y="0"/>
                      <a:pt x="3524562" y="13210"/>
                      <a:pt x="3524562" y="29504"/>
                    </a:cubicBezTo>
                    <a:lnTo>
                      <a:pt x="3524562" y="282541"/>
                    </a:lnTo>
                    <a:cubicBezTo>
                      <a:pt x="3524562" y="290366"/>
                      <a:pt x="3521453" y="297871"/>
                      <a:pt x="3515920" y="303404"/>
                    </a:cubicBezTo>
                    <a:cubicBezTo>
                      <a:pt x="3510387" y="308937"/>
                      <a:pt x="3502882" y="312046"/>
                      <a:pt x="3495057" y="312046"/>
                    </a:cubicBezTo>
                    <a:lnTo>
                      <a:pt x="29504" y="312046"/>
                    </a:lnTo>
                    <a:cubicBezTo>
                      <a:pt x="21679" y="312046"/>
                      <a:pt x="14175" y="308937"/>
                      <a:pt x="8642" y="303404"/>
                    </a:cubicBezTo>
                    <a:cubicBezTo>
                      <a:pt x="3108" y="297871"/>
                      <a:pt x="0" y="290366"/>
                      <a:pt x="0" y="282541"/>
                    </a:cubicBezTo>
                    <a:lnTo>
                      <a:pt x="0" y="29504"/>
                    </a:lnTo>
                    <a:cubicBezTo>
                      <a:pt x="0" y="21679"/>
                      <a:pt x="3108" y="14175"/>
                      <a:pt x="8642" y="8642"/>
                    </a:cubicBezTo>
                    <a:cubicBezTo>
                      <a:pt x="14175" y="3108"/>
                      <a:pt x="21679" y="0"/>
                      <a:pt x="29504" y="0"/>
                    </a:cubicBezTo>
                    <a:close/>
                  </a:path>
                </a:pathLst>
              </a:custGeom>
              <a:solidFill>
                <a:srgbClr val="F4EBC1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3524562" cy="3501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0"/>
              <a:ext cx="1579731" cy="1595223"/>
              <a:chOff x="0" y="0"/>
              <a:chExt cx="812800" cy="820771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812800" cy="820771"/>
              </a:xfrm>
              <a:custGeom>
                <a:avLst/>
                <a:gdLst/>
                <a:ahLst/>
                <a:cxnLst/>
                <a:rect r="r" b="b" t="t" l="l"/>
                <a:pathLst>
                  <a:path h="820771" w="812800">
                    <a:moveTo>
                      <a:pt x="406400" y="0"/>
                    </a:moveTo>
                    <a:cubicBezTo>
                      <a:pt x="181951" y="0"/>
                      <a:pt x="0" y="183736"/>
                      <a:pt x="0" y="410385"/>
                    </a:cubicBezTo>
                    <a:cubicBezTo>
                      <a:pt x="0" y="637035"/>
                      <a:pt x="181951" y="820771"/>
                      <a:pt x="406400" y="820771"/>
                    </a:cubicBezTo>
                    <a:cubicBezTo>
                      <a:pt x="630849" y="820771"/>
                      <a:pt x="812800" y="637035"/>
                      <a:pt x="812800" y="410385"/>
                    </a:cubicBezTo>
                    <a:cubicBezTo>
                      <a:pt x="812800" y="18373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9CECB"/>
              </a:solidFill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76200" y="747"/>
                <a:ext cx="660400" cy="7430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299"/>
                  </a:lnSpc>
                </a:pPr>
                <a:r>
                  <a:rPr lang="en-US" b="true" sz="4499">
                    <a:solidFill>
                      <a:srgbClr val="FFFFFF"/>
                    </a:solidFill>
                    <a:latin typeface="Clear Sans Bold"/>
                    <a:ea typeface="Clear Sans Bold"/>
                    <a:cs typeface="Clear Sans Bold"/>
                    <a:sym typeface="Clear Sans Bold"/>
                  </a:rPr>
                  <a:t>3</a:t>
                </a: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1829884" y="377453"/>
              <a:ext cx="11694579" cy="773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Mudah dipahami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156641" y="7533463"/>
            <a:ext cx="13974719" cy="1196417"/>
            <a:chOff x="0" y="0"/>
            <a:chExt cx="18632958" cy="1595223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789866" y="7746"/>
              <a:ext cx="17843093" cy="1579731"/>
              <a:chOff x="0" y="0"/>
              <a:chExt cx="3524562" cy="312046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524562" cy="312046"/>
              </a:xfrm>
              <a:custGeom>
                <a:avLst/>
                <a:gdLst/>
                <a:ahLst/>
                <a:cxnLst/>
                <a:rect r="r" b="b" t="t" l="l"/>
                <a:pathLst>
                  <a:path h="312046" w="3524562">
                    <a:moveTo>
                      <a:pt x="29504" y="0"/>
                    </a:moveTo>
                    <a:lnTo>
                      <a:pt x="3495057" y="0"/>
                    </a:lnTo>
                    <a:cubicBezTo>
                      <a:pt x="3511352" y="0"/>
                      <a:pt x="3524562" y="13210"/>
                      <a:pt x="3524562" y="29504"/>
                    </a:cubicBezTo>
                    <a:lnTo>
                      <a:pt x="3524562" y="282541"/>
                    </a:lnTo>
                    <a:cubicBezTo>
                      <a:pt x="3524562" y="290366"/>
                      <a:pt x="3521453" y="297871"/>
                      <a:pt x="3515920" y="303404"/>
                    </a:cubicBezTo>
                    <a:cubicBezTo>
                      <a:pt x="3510387" y="308937"/>
                      <a:pt x="3502882" y="312046"/>
                      <a:pt x="3495057" y="312046"/>
                    </a:cubicBezTo>
                    <a:lnTo>
                      <a:pt x="29504" y="312046"/>
                    </a:lnTo>
                    <a:cubicBezTo>
                      <a:pt x="21679" y="312046"/>
                      <a:pt x="14175" y="308937"/>
                      <a:pt x="8642" y="303404"/>
                    </a:cubicBezTo>
                    <a:cubicBezTo>
                      <a:pt x="3108" y="297871"/>
                      <a:pt x="0" y="290366"/>
                      <a:pt x="0" y="282541"/>
                    </a:cubicBezTo>
                    <a:lnTo>
                      <a:pt x="0" y="29504"/>
                    </a:lnTo>
                    <a:cubicBezTo>
                      <a:pt x="0" y="21679"/>
                      <a:pt x="3108" y="14175"/>
                      <a:pt x="8642" y="8642"/>
                    </a:cubicBezTo>
                    <a:cubicBezTo>
                      <a:pt x="14175" y="3108"/>
                      <a:pt x="21679" y="0"/>
                      <a:pt x="29504" y="0"/>
                    </a:cubicBezTo>
                    <a:close/>
                  </a:path>
                </a:pathLst>
              </a:custGeom>
              <a:solidFill>
                <a:srgbClr val="F4EBC1"/>
              </a:solidFill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3524562" cy="3501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0" y="0"/>
              <a:ext cx="1579731" cy="1595223"/>
              <a:chOff x="0" y="0"/>
              <a:chExt cx="812800" cy="820771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20771"/>
              </a:xfrm>
              <a:custGeom>
                <a:avLst/>
                <a:gdLst/>
                <a:ahLst/>
                <a:cxnLst/>
                <a:rect r="r" b="b" t="t" l="l"/>
                <a:pathLst>
                  <a:path h="820771" w="812800">
                    <a:moveTo>
                      <a:pt x="406400" y="0"/>
                    </a:moveTo>
                    <a:cubicBezTo>
                      <a:pt x="181951" y="0"/>
                      <a:pt x="0" y="183736"/>
                      <a:pt x="0" y="410385"/>
                    </a:cubicBezTo>
                    <a:cubicBezTo>
                      <a:pt x="0" y="637035"/>
                      <a:pt x="181951" y="820771"/>
                      <a:pt x="406400" y="820771"/>
                    </a:cubicBezTo>
                    <a:cubicBezTo>
                      <a:pt x="630849" y="820771"/>
                      <a:pt x="812800" y="637035"/>
                      <a:pt x="812800" y="410385"/>
                    </a:cubicBezTo>
                    <a:cubicBezTo>
                      <a:pt x="812800" y="18373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9CECB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747"/>
                <a:ext cx="660400" cy="74307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6299"/>
                  </a:lnSpc>
                </a:pPr>
                <a:r>
                  <a:rPr lang="en-US" b="true" sz="4499">
                    <a:solidFill>
                      <a:srgbClr val="FFFFFF"/>
                    </a:solidFill>
                    <a:latin typeface="Clear Sans Bold"/>
                    <a:ea typeface="Clear Sans Bold"/>
                    <a:cs typeface="Clear Sans Bold"/>
                    <a:sym typeface="Clear Sans Bold"/>
                  </a:rPr>
                  <a:t>4</a:t>
                </a: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1829884" y="377453"/>
              <a:ext cx="11694579" cy="7736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Berfokus pada logika</a:t>
              </a:r>
            </a:p>
          </p:txBody>
        </p:sp>
      </p:grpSp>
    </p:spTree>
  </p:cSld>
  <p:clrMapOvr>
    <a:masterClrMapping/>
  </p:clrMapOvr>
  <p:transition spd="slow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397461" y="-3387272"/>
            <a:ext cx="13493078" cy="19275826"/>
          </a:xfrm>
          <a:custGeom>
            <a:avLst/>
            <a:gdLst/>
            <a:ahLst/>
            <a:cxnLst/>
            <a:rect r="r" b="b" t="t" l="l"/>
            <a:pathLst>
              <a:path h="19275826" w="13493078">
                <a:moveTo>
                  <a:pt x="13493078" y="0"/>
                </a:moveTo>
                <a:lnTo>
                  <a:pt x="0" y="0"/>
                </a:lnTo>
                <a:lnTo>
                  <a:pt x="0" y="19275826"/>
                </a:lnTo>
                <a:lnTo>
                  <a:pt x="13493078" y="19275826"/>
                </a:lnTo>
                <a:lnTo>
                  <a:pt x="134930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97550"/>
            </a:solidFill>
            <a:ln w="76200" cap="rnd">
              <a:solidFill>
                <a:srgbClr val="F9EDBD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708250" y="1875744"/>
            <a:ext cx="7350945" cy="2127193"/>
            <a:chOff x="0" y="0"/>
            <a:chExt cx="1936051" cy="56024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36051" cy="560248"/>
            </a:xfrm>
            <a:custGeom>
              <a:avLst/>
              <a:gdLst/>
              <a:ahLst/>
              <a:cxnLst/>
              <a:rect r="r" b="b" t="t" l="l"/>
              <a:pathLst>
                <a:path h="560248" w="1936051">
                  <a:moveTo>
                    <a:pt x="53713" y="0"/>
                  </a:moveTo>
                  <a:lnTo>
                    <a:pt x="1882339" y="0"/>
                  </a:lnTo>
                  <a:cubicBezTo>
                    <a:pt x="1896584" y="0"/>
                    <a:pt x="1910246" y="5659"/>
                    <a:pt x="1920319" y="15732"/>
                  </a:cubicBezTo>
                  <a:cubicBezTo>
                    <a:pt x="1930392" y="25805"/>
                    <a:pt x="1936051" y="39467"/>
                    <a:pt x="1936051" y="53713"/>
                  </a:cubicBezTo>
                  <a:lnTo>
                    <a:pt x="1936051" y="506536"/>
                  </a:lnTo>
                  <a:cubicBezTo>
                    <a:pt x="1936051" y="536201"/>
                    <a:pt x="1912003" y="560248"/>
                    <a:pt x="1882339" y="560248"/>
                  </a:cubicBezTo>
                  <a:lnTo>
                    <a:pt x="53713" y="560248"/>
                  </a:lnTo>
                  <a:cubicBezTo>
                    <a:pt x="24048" y="560248"/>
                    <a:pt x="0" y="536201"/>
                    <a:pt x="0" y="506536"/>
                  </a:cubicBezTo>
                  <a:lnTo>
                    <a:pt x="0" y="53713"/>
                  </a:lnTo>
                  <a:cubicBezTo>
                    <a:pt x="0" y="24048"/>
                    <a:pt x="24048" y="0"/>
                    <a:pt x="53713" y="0"/>
                  </a:cubicBezTo>
                  <a:close/>
                </a:path>
              </a:pathLst>
            </a:custGeom>
            <a:solidFill>
              <a:srgbClr val="F6B33B"/>
            </a:solidFill>
            <a:ln w="38100" cap="rnd">
              <a:solidFill>
                <a:srgbClr val="F9EDBD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36051" cy="598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0">
            <a:off x="6061425" y="5411988"/>
            <a:ext cx="3756947" cy="3753816"/>
          </a:xfrm>
          <a:custGeom>
            <a:avLst/>
            <a:gdLst/>
            <a:ahLst/>
            <a:cxnLst/>
            <a:rect r="r" b="b" t="t" l="l"/>
            <a:pathLst>
              <a:path h="3753816" w="3756947">
                <a:moveTo>
                  <a:pt x="3756947" y="3753817"/>
                </a:moveTo>
                <a:lnTo>
                  <a:pt x="0" y="3753817"/>
                </a:lnTo>
                <a:lnTo>
                  <a:pt x="0" y="0"/>
                </a:lnTo>
                <a:lnTo>
                  <a:pt x="3756947" y="0"/>
                </a:lnTo>
                <a:lnTo>
                  <a:pt x="3756947" y="3753817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708250" y="4135247"/>
            <a:ext cx="7350945" cy="2571747"/>
            <a:chOff x="0" y="0"/>
            <a:chExt cx="1936051" cy="67733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6051" cy="677332"/>
            </a:xfrm>
            <a:custGeom>
              <a:avLst/>
              <a:gdLst/>
              <a:ahLst/>
              <a:cxnLst/>
              <a:rect r="r" b="b" t="t" l="l"/>
              <a:pathLst>
                <a:path h="677332" w="1936051">
                  <a:moveTo>
                    <a:pt x="53713" y="0"/>
                  </a:moveTo>
                  <a:lnTo>
                    <a:pt x="1882339" y="0"/>
                  </a:lnTo>
                  <a:cubicBezTo>
                    <a:pt x="1896584" y="0"/>
                    <a:pt x="1910246" y="5659"/>
                    <a:pt x="1920319" y="15732"/>
                  </a:cubicBezTo>
                  <a:cubicBezTo>
                    <a:pt x="1930392" y="25805"/>
                    <a:pt x="1936051" y="39467"/>
                    <a:pt x="1936051" y="53713"/>
                  </a:cubicBezTo>
                  <a:lnTo>
                    <a:pt x="1936051" y="623620"/>
                  </a:lnTo>
                  <a:cubicBezTo>
                    <a:pt x="1936051" y="653285"/>
                    <a:pt x="1912003" y="677332"/>
                    <a:pt x="1882339" y="677332"/>
                  </a:cubicBezTo>
                  <a:lnTo>
                    <a:pt x="53713" y="677332"/>
                  </a:lnTo>
                  <a:cubicBezTo>
                    <a:pt x="24048" y="677332"/>
                    <a:pt x="0" y="653285"/>
                    <a:pt x="0" y="623620"/>
                  </a:cubicBezTo>
                  <a:lnTo>
                    <a:pt x="0" y="53713"/>
                  </a:lnTo>
                  <a:cubicBezTo>
                    <a:pt x="0" y="24048"/>
                    <a:pt x="24048" y="0"/>
                    <a:pt x="53713" y="0"/>
                  </a:cubicBezTo>
                  <a:close/>
                </a:path>
              </a:pathLst>
            </a:custGeom>
            <a:solidFill>
              <a:srgbClr val="F6B33B"/>
            </a:solidFill>
            <a:ln w="38100" cap="rnd">
              <a:solidFill>
                <a:srgbClr val="F9EDBD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36051" cy="715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08250" y="6840344"/>
            <a:ext cx="7350945" cy="2253682"/>
            <a:chOff x="0" y="0"/>
            <a:chExt cx="1936051" cy="5935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6051" cy="593562"/>
            </a:xfrm>
            <a:custGeom>
              <a:avLst/>
              <a:gdLst/>
              <a:ahLst/>
              <a:cxnLst/>
              <a:rect r="r" b="b" t="t" l="l"/>
              <a:pathLst>
                <a:path h="593562" w="1936051">
                  <a:moveTo>
                    <a:pt x="53713" y="0"/>
                  </a:moveTo>
                  <a:lnTo>
                    <a:pt x="1882339" y="0"/>
                  </a:lnTo>
                  <a:cubicBezTo>
                    <a:pt x="1896584" y="0"/>
                    <a:pt x="1910246" y="5659"/>
                    <a:pt x="1920319" y="15732"/>
                  </a:cubicBezTo>
                  <a:cubicBezTo>
                    <a:pt x="1930392" y="25805"/>
                    <a:pt x="1936051" y="39467"/>
                    <a:pt x="1936051" y="53713"/>
                  </a:cubicBezTo>
                  <a:lnTo>
                    <a:pt x="1936051" y="539850"/>
                  </a:lnTo>
                  <a:cubicBezTo>
                    <a:pt x="1936051" y="569514"/>
                    <a:pt x="1912003" y="593562"/>
                    <a:pt x="1882339" y="593562"/>
                  </a:cubicBezTo>
                  <a:lnTo>
                    <a:pt x="53713" y="593562"/>
                  </a:lnTo>
                  <a:cubicBezTo>
                    <a:pt x="24048" y="593562"/>
                    <a:pt x="0" y="569514"/>
                    <a:pt x="0" y="539850"/>
                  </a:cubicBezTo>
                  <a:lnTo>
                    <a:pt x="0" y="53713"/>
                  </a:lnTo>
                  <a:cubicBezTo>
                    <a:pt x="0" y="24048"/>
                    <a:pt x="24048" y="0"/>
                    <a:pt x="53713" y="0"/>
                  </a:cubicBezTo>
                  <a:close/>
                </a:path>
              </a:pathLst>
            </a:custGeom>
            <a:solidFill>
              <a:srgbClr val="F6B33B"/>
            </a:solidFill>
            <a:ln w="38100" cap="rnd">
              <a:solidFill>
                <a:srgbClr val="F9EDBD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6051" cy="631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true" rot="0">
            <a:off x="8322605" y="4495365"/>
            <a:ext cx="1218957" cy="648135"/>
          </a:xfrm>
          <a:custGeom>
            <a:avLst/>
            <a:gdLst/>
            <a:ahLst/>
            <a:cxnLst/>
            <a:rect r="r" b="b" t="t" l="l"/>
            <a:pathLst>
              <a:path h="648135" w="1218957">
                <a:moveTo>
                  <a:pt x="0" y="648135"/>
                </a:moveTo>
                <a:lnTo>
                  <a:pt x="1218958" y="648135"/>
                </a:lnTo>
                <a:lnTo>
                  <a:pt x="1218958" y="0"/>
                </a:lnTo>
                <a:lnTo>
                  <a:pt x="0" y="0"/>
                </a:lnTo>
                <a:lnTo>
                  <a:pt x="0" y="648135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57288" y="1190669"/>
            <a:ext cx="4118232" cy="4114800"/>
          </a:xfrm>
          <a:custGeom>
            <a:avLst/>
            <a:gdLst/>
            <a:ahLst/>
            <a:cxnLst/>
            <a:rect r="r" b="b" t="t" l="l"/>
            <a:pathLst>
              <a:path h="4114800" w="4118232">
                <a:moveTo>
                  <a:pt x="0" y="0"/>
                </a:moveTo>
                <a:lnTo>
                  <a:pt x="4118232" y="0"/>
                </a:lnTo>
                <a:lnTo>
                  <a:pt x="411823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08132" y="357156"/>
            <a:ext cx="4536124" cy="1667026"/>
          </a:xfrm>
          <a:custGeom>
            <a:avLst/>
            <a:gdLst/>
            <a:ahLst/>
            <a:cxnLst/>
            <a:rect r="r" b="b" t="t" l="l"/>
            <a:pathLst>
              <a:path h="1667026" w="4536124">
                <a:moveTo>
                  <a:pt x="0" y="0"/>
                </a:moveTo>
                <a:lnTo>
                  <a:pt x="4536124" y="0"/>
                </a:lnTo>
                <a:lnTo>
                  <a:pt x="4536124" y="1667026"/>
                </a:lnTo>
                <a:lnTo>
                  <a:pt x="0" y="16670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true" flipV="false" rot="0">
            <a:off x="16494945" y="756262"/>
            <a:ext cx="1345389" cy="1190669"/>
          </a:xfrm>
          <a:custGeom>
            <a:avLst/>
            <a:gdLst/>
            <a:ahLst/>
            <a:cxnLst/>
            <a:rect r="r" b="b" t="t" l="l"/>
            <a:pathLst>
              <a:path h="1190669" w="1345389">
                <a:moveTo>
                  <a:pt x="1345389" y="0"/>
                </a:moveTo>
                <a:lnTo>
                  <a:pt x="0" y="0"/>
                </a:lnTo>
                <a:lnTo>
                  <a:pt x="0" y="1190669"/>
                </a:lnTo>
                <a:lnTo>
                  <a:pt x="1345389" y="1190669"/>
                </a:lnTo>
                <a:lnTo>
                  <a:pt x="1345389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814960" y="421105"/>
            <a:ext cx="3522468" cy="1243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60"/>
              </a:lnSpc>
            </a:pPr>
            <a:r>
              <a:rPr lang="en-US" sz="7257">
                <a:solidFill>
                  <a:srgbClr val="F4EBC1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STRUKTUR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40266" y="1972929"/>
            <a:ext cx="6886913" cy="1800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Input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Data atau nilai yang dimasukkan ke dalam program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Contoh: memasukkan angka, nama, atau nilai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40266" y="4273040"/>
            <a:ext cx="6886913" cy="225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Proses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Langkah-langkah pengolahan data untuk menghasilkan solusi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Contoh: perhitungan, perbandingan, atau pengolahan data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40266" y="7020962"/>
            <a:ext cx="6886913" cy="180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Output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Hasil dari proses yang telah dilakukan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Contoh: menampilkan hasil perhitungan ke layar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16564" y="2661374"/>
            <a:ext cx="6844116" cy="2660802"/>
            <a:chOff x="0" y="0"/>
            <a:chExt cx="1936051" cy="75268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36051" cy="752683"/>
            </a:xfrm>
            <a:custGeom>
              <a:avLst/>
              <a:gdLst/>
              <a:ahLst/>
              <a:cxnLst/>
              <a:rect r="r" b="b" t="t" l="l"/>
              <a:pathLst>
                <a:path h="752683" w="1936051">
                  <a:moveTo>
                    <a:pt x="57690" y="0"/>
                  </a:moveTo>
                  <a:lnTo>
                    <a:pt x="1878361" y="0"/>
                  </a:lnTo>
                  <a:cubicBezTo>
                    <a:pt x="1893662" y="0"/>
                    <a:pt x="1908335" y="6078"/>
                    <a:pt x="1919154" y="16897"/>
                  </a:cubicBezTo>
                  <a:cubicBezTo>
                    <a:pt x="1929973" y="27716"/>
                    <a:pt x="1936051" y="42390"/>
                    <a:pt x="1936051" y="57690"/>
                  </a:cubicBezTo>
                  <a:lnTo>
                    <a:pt x="1936051" y="694993"/>
                  </a:lnTo>
                  <a:cubicBezTo>
                    <a:pt x="1936051" y="710293"/>
                    <a:pt x="1929973" y="724967"/>
                    <a:pt x="1919154" y="735786"/>
                  </a:cubicBezTo>
                  <a:cubicBezTo>
                    <a:pt x="1908335" y="746605"/>
                    <a:pt x="1893662" y="752683"/>
                    <a:pt x="1878361" y="752683"/>
                  </a:cubicBezTo>
                  <a:lnTo>
                    <a:pt x="57690" y="752683"/>
                  </a:lnTo>
                  <a:cubicBezTo>
                    <a:pt x="42390" y="752683"/>
                    <a:pt x="27716" y="746605"/>
                    <a:pt x="16897" y="735786"/>
                  </a:cubicBezTo>
                  <a:cubicBezTo>
                    <a:pt x="6078" y="724967"/>
                    <a:pt x="0" y="710293"/>
                    <a:pt x="0" y="694993"/>
                  </a:cubicBezTo>
                  <a:lnTo>
                    <a:pt x="0" y="57690"/>
                  </a:lnTo>
                  <a:cubicBezTo>
                    <a:pt x="0" y="42390"/>
                    <a:pt x="6078" y="27716"/>
                    <a:pt x="16897" y="16897"/>
                  </a:cubicBezTo>
                  <a:cubicBezTo>
                    <a:pt x="27716" y="6078"/>
                    <a:pt x="42390" y="0"/>
                    <a:pt x="57690" y="0"/>
                  </a:cubicBezTo>
                  <a:close/>
                </a:path>
              </a:pathLst>
            </a:custGeom>
            <a:solidFill>
              <a:srgbClr val="F6B33B"/>
            </a:solidFill>
            <a:ln w="38100" cap="rnd">
              <a:solidFill>
                <a:srgbClr val="F9EDBD"/>
              </a:solidFill>
              <a:prstDash val="solid"/>
              <a:round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936051" cy="79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16564" y="5469989"/>
            <a:ext cx="6844116" cy="2155638"/>
            <a:chOff x="0" y="0"/>
            <a:chExt cx="1936051" cy="60978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36051" cy="609783"/>
            </a:xfrm>
            <a:custGeom>
              <a:avLst/>
              <a:gdLst/>
              <a:ahLst/>
              <a:cxnLst/>
              <a:rect r="r" b="b" t="t" l="l"/>
              <a:pathLst>
                <a:path h="609783" w="1936051">
                  <a:moveTo>
                    <a:pt x="57690" y="0"/>
                  </a:moveTo>
                  <a:lnTo>
                    <a:pt x="1878361" y="0"/>
                  </a:lnTo>
                  <a:cubicBezTo>
                    <a:pt x="1893662" y="0"/>
                    <a:pt x="1908335" y="6078"/>
                    <a:pt x="1919154" y="16897"/>
                  </a:cubicBezTo>
                  <a:cubicBezTo>
                    <a:pt x="1929973" y="27716"/>
                    <a:pt x="1936051" y="42390"/>
                    <a:pt x="1936051" y="57690"/>
                  </a:cubicBezTo>
                  <a:lnTo>
                    <a:pt x="1936051" y="552093"/>
                  </a:lnTo>
                  <a:cubicBezTo>
                    <a:pt x="1936051" y="567393"/>
                    <a:pt x="1929973" y="582067"/>
                    <a:pt x="1919154" y="592886"/>
                  </a:cubicBezTo>
                  <a:cubicBezTo>
                    <a:pt x="1908335" y="603705"/>
                    <a:pt x="1893662" y="609783"/>
                    <a:pt x="1878361" y="609783"/>
                  </a:cubicBezTo>
                  <a:lnTo>
                    <a:pt x="57690" y="609783"/>
                  </a:lnTo>
                  <a:cubicBezTo>
                    <a:pt x="42390" y="609783"/>
                    <a:pt x="27716" y="603705"/>
                    <a:pt x="16897" y="592886"/>
                  </a:cubicBezTo>
                  <a:cubicBezTo>
                    <a:pt x="6078" y="582067"/>
                    <a:pt x="0" y="567393"/>
                    <a:pt x="0" y="552093"/>
                  </a:cubicBezTo>
                  <a:lnTo>
                    <a:pt x="0" y="57690"/>
                  </a:lnTo>
                  <a:cubicBezTo>
                    <a:pt x="0" y="42390"/>
                    <a:pt x="6078" y="27716"/>
                    <a:pt x="16897" y="16897"/>
                  </a:cubicBezTo>
                  <a:cubicBezTo>
                    <a:pt x="27716" y="6078"/>
                    <a:pt x="42390" y="0"/>
                    <a:pt x="57690" y="0"/>
                  </a:cubicBezTo>
                  <a:close/>
                </a:path>
              </a:pathLst>
            </a:custGeom>
            <a:solidFill>
              <a:srgbClr val="F6B33B"/>
            </a:solidFill>
            <a:ln w="38100" cap="rnd">
              <a:solidFill>
                <a:srgbClr val="F9EDBD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936051" cy="6478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532583" y="5628327"/>
            <a:ext cx="6412078" cy="180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Deklarasi Variab</a:t>
            </a:r>
            <a:r>
              <a:rPr lang="en-US" sz="2600" b="true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el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Keterangan nama variabel beserta dengan tipe data.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Contoh: var a,b : integer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532583" y="2843695"/>
            <a:ext cx="6412078" cy="2258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b="true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Judul Program</a:t>
            </a:r>
          </a:p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Judul atau nama algoritma atau pseudocode.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lear Sans"/>
                <a:ea typeface="Clear Sans"/>
                <a:cs typeface="Clear Sans"/>
                <a:sym typeface="Clear Sans"/>
              </a:rPr>
              <a:t>Contoh: Program hitungLuas, Program hitung_luas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40266" y="1235211"/>
            <a:ext cx="6412078" cy="42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Deskripsi Algoritma: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492111" y="-3960200"/>
            <a:ext cx="13493078" cy="19275826"/>
          </a:xfrm>
          <a:custGeom>
            <a:avLst/>
            <a:gdLst/>
            <a:ahLst/>
            <a:cxnLst/>
            <a:rect r="r" b="b" t="t" l="l"/>
            <a:pathLst>
              <a:path h="19275826" w="13493078">
                <a:moveTo>
                  <a:pt x="13493078" y="0"/>
                </a:moveTo>
                <a:lnTo>
                  <a:pt x="0" y="0"/>
                </a:lnTo>
                <a:lnTo>
                  <a:pt x="0" y="19275826"/>
                </a:lnTo>
                <a:lnTo>
                  <a:pt x="13493078" y="19275826"/>
                </a:lnTo>
                <a:lnTo>
                  <a:pt x="134930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97550"/>
            </a:solidFill>
            <a:ln w="66675" cap="rnd">
              <a:solidFill>
                <a:srgbClr val="FFC51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4421" y="364295"/>
            <a:ext cx="1960959" cy="1960959"/>
          </a:xfrm>
          <a:custGeom>
            <a:avLst/>
            <a:gdLst/>
            <a:ahLst/>
            <a:cxnLst/>
            <a:rect r="r" b="b" t="t" l="l"/>
            <a:pathLst>
              <a:path h="1960959" w="1960959">
                <a:moveTo>
                  <a:pt x="0" y="0"/>
                </a:moveTo>
                <a:lnTo>
                  <a:pt x="1960958" y="0"/>
                </a:lnTo>
                <a:lnTo>
                  <a:pt x="1960958" y="1960959"/>
                </a:lnTo>
                <a:lnTo>
                  <a:pt x="0" y="1960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27041" y="364295"/>
            <a:ext cx="1960959" cy="1960959"/>
          </a:xfrm>
          <a:custGeom>
            <a:avLst/>
            <a:gdLst/>
            <a:ahLst/>
            <a:cxnLst/>
            <a:rect r="r" b="b" t="t" l="l"/>
            <a:pathLst>
              <a:path h="1960959" w="1960959">
                <a:moveTo>
                  <a:pt x="0" y="0"/>
                </a:moveTo>
                <a:lnTo>
                  <a:pt x="1960959" y="0"/>
                </a:lnTo>
                <a:lnTo>
                  <a:pt x="1960959" y="1960959"/>
                </a:lnTo>
                <a:lnTo>
                  <a:pt x="0" y="1960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841511" y="-45280"/>
            <a:ext cx="6604979" cy="2427330"/>
            <a:chOff x="0" y="0"/>
            <a:chExt cx="8806639" cy="3236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06639" cy="3236440"/>
            </a:xfrm>
            <a:custGeom>
              <a:avLst/>
              <a:gdLst/>
              <a:ahLst/>
              <a:cxnLst/>
              <a:rect r="r" b="b" t="t" l="l"/>
              <a:pathLst>
                <a:path h="3236440" w="8806639">
                  <a:moveTo>
                    <a:pt x="0" y="0"/>
                  </a:moveTo>
                  <a:lnTo>
                    <a:pt x="8806639" y="0"/>
                  </a:lnTo>
                  <a:lnTo>
                    <a:pt x="8806639" y="3236440"/>
                  </a:lnTo>
                  <a:lnTo>
                    <a:pt x="0" y="3236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672224" y="357745"/>
              <a:ext cx="5462191" cy="200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99"/>
                </a:lnSpc>
              </a:pPr>
              <a:r>
                <a:rPr lang="en-US" sz="9000">
                  <a:solidFill>
                    <a:srgbClr val="E06641"/>
                  </a:solidFill>
                  <a:latin typeface="Lucidity Condensed"/>
                  <a:ea typeface="Lucidity Condensed"/>
                  <a:cs typeface="Lucidity Condensed"/>
                  <a:sym typeface="Lucidity Condensed"/>
                </a:rPr>
                <a:t>CONTOH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04900" y="2325254"/>
            <a:ext cx="1880468" cy="5022942"/>
          </a:xfrm>
          <a:custGeom>
            <a:avLst/>
            <a:gdLst/>
            <a:ahLst/>
            <a:cxnLst/>
            <a:rect r="r" b="b" t="t" l="l"/>
            <a:pathLst>
              <a:path h="5022942" w="1880468">
                <a:moveTo>
                  <a:pt x="0" y="0"/>
                </a:moveTo>
                <a:lnTo>
                  <a:pt x="1880468" y="0"/>
                </a:lnTo>
                <a:lnTo>
                  <a:pt x="1880468" y="5022942"/>
                </a:lnTo>
                <a:lnTo>
                  <a:pt x="0" y="50229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206030" b="-583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94564" y="1148263"/>
            <a:ext cx="1862670" cy="5052246"/>
          </a:xfrm>
          <a:custGeom>
            <a:avLst/>
            <a:gdLst/>
            <a:ahLst/>
            <a:cxnLst/>
            <a:rect r="r" b="b" t="t" l="l"/>
            <a:pathLst>
              <a:path h="5052246" w="1862670">
                <a:moveTo>
                  <a:pt x="1862671" y="0"/>
                </a:moveTo>
                <a:lnTo>
                  <a:pt x="0" y="0"/>
                </a:lnTo>
                <a:lnTo>
                  <a:pt x="0" y="5052246"/>
                </a:lnTo>
                <a:lnTo>
                  <a:pt x="1862671" y="5052246"/>
                </a:lnTo>
                <a:lnTo>
                  <a:pt x="186267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208955" b="0"/>
            </a:stretch>
          </a:blipFill>
        </p:spPr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2985368" y="2813438"/>
          <a:ext cx="12056830" cy="5728551"/>
        </p:xfrm>
        <a:graphic>
          <a:graphicData uri="http://schemas.openxmlformats.org/drawingml/2006/table">
            <a:tbl>
              <a:tblPr/>
              <a:tblGrid>
                <a:gridCol w="2275264"/>
                <a:gridCol w="1600047"/>
                <a:gridCol w="8181519"/>
              </a:tblGrid>
              <a:tr h="1097173">
                <a:tc gridSpan="3"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Judul Program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Program HitungLuasLingkaran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Judul Program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999">
                <a:tc gridSpan="3"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Deklarasi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var  r : integer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Deklarasi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999">
                <a:tc rowSpan="3"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Deskripsi </a:t>
                      </a: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Algoritma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INPUT </a:t>
                      </a: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Input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53381">
                <a:tc vMerge="true"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Deskripsi </a:t>
                      </a: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Algoritma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luas = 0</a:t>
                      </a:r>
                      <a:endParaRPr lang="en-US" sz="1100"/>
                    </a:p>
                    <a:p>
                      <a:pPr algn="just"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luas = 3.14 * r * r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Proses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5999">
                <a:tc vMerge="true"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Deskripsi </a:t>
                      </a: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Algoritma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OUTPUT </a:t>
                      </a: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luas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Output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609751" y="-3440974"/>
            <a:ext cx="13493078" cy="19275826"/>
          </a:xfrm>
          <a:custGeom>
            <a:avLst/>
            <a:gdLst/>
            <a:ahLst/>
            <a:cxnLst/>
            <a:rect r="r" b="b" t="t" l="l"/>
            <a:pathLst>
              <a:path h="19275826" w="13493078">
                <a:moveTo>
                  <a:pt x="13493078" y="0"/>
                </a:moveTo>
                <a:lnTo>
                  <a:pt x="0" y="0"/>
                </a:lnTo>
                <a:lnTo>
                  <a:pt x="0" y="19275826"/>
                </a:lnTo>
                <a:lnTo>
                  <a:pt x="13493078" y="19275826"/>
                </a:lnTo>
                <a:lnTo>
                  <a:pt x="134930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97550"/>
            </a:solidFill>
            <a:ln w="123825" cap="rnd">
              <a:solidFill>
                <a:srgbClr val="EFF2C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2957552" y="1028700"/>
            <a:ext cx="4187443" cy="3676226"/>
          </a:xfrm>
          <a:custGeom>
            <a:avLst/>
            <a:gdLst/>
            <a:ahLst/>
            <a:cxnLst/>
            <a:rect r="r" b="b" t="t" l="l"/>
            <a:pathLst>
              <a:path h="3676226" w="4187443">
                <a:moveTo>
                  <a:pt x="4187443" y="0"/>
                </a:moveTo>
                <a:lnTo>
                  <a:pt x="0" y="0"/>
                </a:lnTo>
                <a:lnTo>
                  <a:pt x="0" y="3676226"/>
                </a:lnTo>
                <a:lnTo>
                  <a:pt x="4187443" y="3676226"/>
                </a:lnTo>
                <a:lnTo>
                  <a:pt x="41874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2928977" y="5429766"/>
            <a:ext cx="4187443" cy="3676226"/>
          </a:xfrm>
          <a:custGeom>
            <a:avLst/>
            <a:gdLst/>
            <a:ahLst/>
            <a:cxnLst/>
            <a:rect r="r" b="b" t="t" l="l"/>
            <a:pathLst>
              <a:path h="3676226" w="4187443">
                <a:moveTo>
                  <a:pt x="4187443" y="3676226"/>
                </a:moveTo>
                <a:lnTo>
                  <a:pt x="0" y="3676226"/>
                </a:lnTo>
                <a:lnTo>
                  <a:pt x="0" y="0"/>
                </a:lnTo>
                <a:lnTo>
                  <a:pt x="4187443" y="0"/>
                </a:lnTo>
                <a:lnTo>
                  <a:pt x="4187443" y="36762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29795" y="3799332"/>
            <a:ext cx="7315200" cy="2688336"/>
          </a:xfrm>
          <a:custGeom>
            <a:avLst/>
            <a:gdLst/>
            <a:ahLst/>
            <a:cxnLst/>
            <a:rect r="r" b="b" t="t" l="l"/>
            <a:pathLst>
              <a:path h="2688336" w="7315200">
                <a:moveTo>
                  <a:pt x="0" y="0"/>
                </a:moveTo>
                <a:lnTo>
                  <a:pt x="7315200" y="0"/>
                </a:lnTo>
                <a:lnTo>
                  <a:pt x="7315200" y="2688336"/>
                </a:lnTo>
                <a:lnTo>
                  <a:pt x="0" y="26883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8531" y="4410912"/>
            <a:ext cx="1090221" cy="1786027"/>
          </a:xfrm>
          <a:custGeom>
            <a:avLst/>
            <a:gdLst/>
            <a:ahLst/>
            <a:cxnLst/>
            <a:rect r="r" b="b" t="t" l="l"/>
            <a:pathLst>
              <a:path h="1786027" w="1090221">
                <a:moveTo>
                  <a:pt x="0" y="0"/>
                </a:moveTo>
                <a:lnTo>
                  <a:pt x="1090221" y="0"/>
                </a:lnTo>
                <a:lnTo>
                  <a:pt x="1090221" y="1786027"/>
                </a:lnTo>
                <a:lnTo>
                  <a:pt x="0" y="17860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60652" y="4163262"/>
            <a:ext cx="6453485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EFF2CF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PERCABANGAN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728752" y="2519385"/>
            <a:ext cx="8544156" cy="5248230"/>
            <a:chOff x="0" y="0"/>
            <a:chExt cx="11392208" cy="699764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189498"/>
              <a:ext cx="10801391" cy="2057400"/>
              <a:chOff x="0" y="0"/>
              <a:chExt cx="2133608" cy="406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3360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133608">
                    <a:moveTo>
                      <a:pt x="1930408" y="0"/>
                    </a:moveTo>
                    <a:cubicBezTo>
                      <a:pt x="2042632" y="0"/>
                      <a:pt x="2133608" y="90976"/>
                      <a:pt x="2133608" y="203200"/>
                    </a:cubicBezTo>
                    <a:cubicBezTo>
                      <a:pt x="2133608" y="315424"/>
                      <a:pt x="2042632" y="406400"/>
                      <a:pt x="1930408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EFF2CF"/>
              </a:solidFill>
              <a:ln w="76200" cap="sq">
                <a:solidFill>
                  <a:srgbClr val="F6B33B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133608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71820" y="466781"/>
              <a:ext cx="9498230" cy="1369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8" indent="-269874" lvl="1">
                <a:lnSpc>
                  <a:spcPts val="43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</a:t>
              </a:r>
              <a:r>
                <a:rPr lang="en-US" sz="24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enggunakan IF – ELSE</a:t>
              </a:r>
            </a:p>
            <a:p>
              <a:pPr algn="l" marL="539748" indent="-269874" lvl="1">
                <a:lnSpc>
                  <a:spcPts val="43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Digunakan untuk pengambilan keputusan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10308021" y="0"/>
              <a:ext cx="986741" cy="1218198"/>
            </a:xfrm>
            <a:custGeom>
              <a:avLst/>
              <a:gdLst/>
              <a:ahLst/>
              <a:cxnLst/>
              <a:rect r="r" b="b" t="t" l="l"/>
              <a:pathLst>
                <a:path h="1218198" w="986741">
                  <a:moveTo>
                    <a:pt x="0" y="0"/>
                  </a:moveTo>
                  <a:lnTo>
                    <a:pt x="986740" y="0"/>
                  </a:lnTo>
                  <a:lnTo>
                    <a:pt x="986740" y="1218198"/>
                  </a:lnTo>
                  <a:lnTo>
                    <a:pt x="0" y="1218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7" id="17"/>
            <p:cNvGrpSpPr/>
            <p:nvPr/>
          </p:nvGrpSpPr>
          <p:grpSpPr>
            <a:xfrm rot="0">
              <a:off x="0" y="2837474"/>
              <a:ext cx="10801391" cy="4160166"/>
              <a:chOff x="0" y="0"/>
              <a:chExt cx="2133608" cy="821761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133608" cy="821761"/>
              </a:xfrm>
              <a:custGeom>
                <a:avLst/>
                <a:gdLst/>
                <a:ahLst/>
                <a:cxnLst/>
                <a:rect r="r" b="b" t="t" l="l"/>
                <a:pathLst>
                  <a:path h="821761" w="2133608">
                    <a:moveTo>
                      <a:pt x="1930408" y="0"/>
                    </a:moveTo>
                    <a:cubicBezTo>
                      <a:pt x="2042632" y="0"/>
                      <a:pt x="2133608" y="183958"/>
                      <a:pt x="2133608" y="410881"/>
                    </a:cubicBezTo>
                    <a:cubicBezTo>
                      <a:pt x="2133608" y="637804"/>
                      <a:pt x="2042632" y="821761"/>
                      <a:pt x="1930408" y="821761"/>
                    </a:cubicBezTo>
                    <a:lnTo>
                      <a:pt x="203200" y="821761"/>
                    </a:lnTo>
                    <a:cubicBezTo>
                      <a:pt x="90976" y="821761"/>
                      <a:pt x="0" y="637804"/>
                      <a:pt x="0" y="410881"/>
                    </a:cubicBezTo>
                    <a:cubicBezTo>
                      <a:pt x="0" y="183958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EFF2CF"/>
              </a:solidFill>
              <a:ln w="76200" cap="sq">
                <a:solidFill>
                  <a:srgbClr val="F6B33B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133608" cy="8598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71820" y="3061240"/>
              <a:ext cx="9498230" cy="35792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3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IF</a:t>
              </a:r>
              <a:r>
                <a:rPr lang="en-US" sz="2499" b="true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 </a:t>
              </a:r>
              <a:r>
                <a:rPr lang="en-US" sz="24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kondisi </a:t>
              </a:r>
              <a:r>
                <a:rPr lang="en-US" sz="2499" b="true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THEN</a:t>
              </a:r>
            </a:p>
            <a:p>
              <a:pPr algn="just">
                <a:lnSpc>
                  <a:spcPts val="4399"/>
                </a:lnSpc>
              </a:pPr>
              <a:r>
                <a:rPr lang="en-US" sz="24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  aksi</a:t>
              </a:r>
            </a:p>
            <a:p>
              <a:pPr algn="just">
                <a:lnSpc>
                  <a:spcPts val="43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ELSE</a:t>
              </a:r>
            </a:p>
            <a:p>
              <a:pPr algn="just">
                <a:lnSpc>
                  <a:spcPts val="4399"/>
                </a:lnSpc>
              </a:pPr>
              <a:r>
                <a:rPr lang="en-US" sz="24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  aksi lain</a:t>
              </a:r>
            </a:p>
            <a:p>
              <a:pPr algn="just">
                <a:lnSpc>
                  <a:spcPts val="43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ENDIF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10210574" y="3980992"/>
              <a:ext cx="1181633" cy="1873131"/>
            </a:xfrm>
            <a:custGeom>
              <a:avLst/>
              <a:gdLst/>
              <a:ahLst/>
              <a:cxnLst/>
              <a:rect r="r" b="b" t="t" l="l"/>
              <a:pathLst>
                <a:path h="1873131" w="1181633">
                  <a:moveTo>
                    <a:pt x="0" y="0"/>
                  </a:moveTo>
                  <a:lnTo>
                    <a:pt x="1181634" y="0"/>
                  </a:lnTo>
                  <a:lnTo>
                    <a:pt x="1181634" y="1873131"/>
                  </a:lnTo>
                  <a:lnTo>
                    <a:pt x="0" y="1873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492111" y="-3960200"/>
            <a:ext cx="13493078" cy="19275826"/>
          </a:xfrm>
          <a:custGeom>
            <a:avLst/>
            <a:gdLst/>
            <a:ahLst/>
            <a:cxnLst/>
            <a:rect r="r" b="b" t="t" l="l"/>
            <a:pathLst>
              <a:path h="19275826" w="13493078">
                <a:moveTo>
                  <a:pt x="13493078" y="0"/>
                </a:moveTo>
                <a:lnTo>
                  <a:pt x="0" y="0"/>
                </a:lnTo>
                <a:lnTo>
                  <a:pt x="0" y="19275826"/>
                </a:lnTo>
                <a:lnTo>
                  <a:pt x="13493078" y="19275826"/>
                </a:lnTo>
                <a:lnTo>
                  <a:pt x="134930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97550"/>
            </a:solidFill>
            <a:ln w="66675" cap="rnd">
              <a:solidFill>
                <a:srgbClr val="FFC51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4421" y="364295"/>
            <a:ext cx="1960959" cy="1960959"/>
          </a:xfrm>
          <a:custGeom>
            <a:avLst/>
            <a:gdLst/>
            <a:ahLst/>
            <a:cxnLst/>
            <a:rect r="r" b="b" t="t" l="l"/>
            <a:pathLst>
              <a:path h="1960959" w="1960959">
                <a:moveTo>
                  <a:pt x="0" y="0"/>
                </a:moveTo>
                <a:lnTo>
                  <a:pt x="1960958" y="0"/>
                </a:lnTo>
                <a:lnTo>
                  <a:pt x="1960958" y="1960959"/>
                </a:lnTo>
                <a:lnTo>
                  <a:pt x="0" y="1960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27041" y="364295"/>
            <a:ext cx="1960959" cy="1960959"/>
          </a:xfrm>
          <a:custGeom>
            <a:avLst/>
            <a:gdLst/>
            <a:ahLst/>
            <a:cxnLst/>
            <a:rect r="r" b="b" t="t" l="l"/>
            <a:pathLst>
              <a:path h="1960959" w="1960959">
                <a:moveTo>
                  <a:pt x="0" y="0"/>
                </a:moveTo>
                <a:lnTo>
                  <a:pt x="1960959" y="0"/>
                </a:lnTo>
                <a:lnTo>
                  <a:pt x="1960959" y="1960959"/>
                </a:lnTo>
                <a:lnTo>
                  <a:pt x="0" y="1960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40324" y="1917872"/>
            <a:ext cx="12796653" cy="7150295"/>
          </a:xfrm>
          <a:custGeom>
            <a:avLst/>
            <a:gdLst/>
            <a:ahLst/>
            <a:cxnLst/>
            <a:rect r="r" b="b" t="t" l="l"/>
            <a:pathLst>
              <a:path h="7150295" w="12796653">
                <a:moveTo>
                  <a:pt x="0" y="0"/>
                </a:moveTo>
                <a:lnTo>
                  <a:pt x="12796652" y="0"/>
                </a:lnTo>
                <a:lnTo>
                  <a:pt x="12796652" y="7150295"/>
                </a:lnTo>
                <a:lnTo>
                  <a:pt x="0" y="715029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850" t="-3015" r="-1733" b="-2267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5535743" y="2295949"/>
            <a:ext cx="1630916" cy="5052246"/>
          </a:xfrm>
          <a:custGeom>
            <a:avLst/>
            <a:gdLst/>
            <a:ahLst/>
            <a:cxnLst/>
            <a:rect r="r" b="b" t="t" l="l"/>
            <a:pathLst>
              <a:path h="5052246" w="1630916">
                <a:moveTo>
                  <a:pt x="1630917" y="0"/>
                </a:moveTo>
                <a:lnTo>
                  <a:pt x="0" y="0"/>
                </a:lnTo>
                <a:lnTo>
                  <a:pt x="0" y="5052247"/>
                </a:lnTo>
                <a:lnTo>
                  <a:pt x="1630917" y="5052247"/>
                </a:lnTo>
                <a:lnTo>
                  <a:pt x="1630917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252857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841511" y="-45280"/>
            <a:ext cx="6604979" cy="2427330"/>
            <a:chOff x="0" y="0"/>
            <a:chExt cx="8806639" cy="3236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806639" cy="3236440"/>
            </a:xfrm>
            <a:custGeom>
              <a:avLst/>
              <a:gdLst/>
              <a:ahLst/>
              <a:cxnLst/>
              <a:rect r="r" b="b" t="t" l="l"/>
              <a:pathLst>
                <a:path h="3236440" w="8806639">
                  <a:moveTo>
                    <a:pt x="0" y="0"/>
                  </a:moveTo>
                  <a:lnTo>
                    <a:pt x="8806639" y="0"/>
                  </a:lnTo>
                  <a:lnTo>
                    <a:pt x="8806639" y="3236440"/>
                  </a:lnTo>
                  <a:lnTo>
                    <a:pt x="0" y="3236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672224" y="357745"/>
              <a:ext cx="5462191" cy="200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99"/>
                </a:lnSpc>
              </a:pPr>
              <a:r>
                <a:rPr lang="en-US" sz="9000">
                  <a:solidFill>
                    <a:srgbClr val="E06641"/>
                  </a:solidFill>
                  <a:latin typeface="Lucidity Condensed"/>
                  <a:ea typeface="Lucidity Condensed"/>
                  <a:cs typeface="Lucidity Condensed"/>
                  <a:sym typeface="Lucidity Condensed"/>
                </a:rPr>
                <a:t>CONTOH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104900" y="2368012"/>
            <a:ext cx="1731265" cy="4980184"/>
          </a:xfrm>
          <a:custGeom>
            <a:avLst/>
            <a:gdLst/>
            <a:ahLst/>
            <a:cxnLst/>
            <a:rect r="r" b="b" t="t" l="l"/>
            <a:pathLst>
              <a:path h="4980184" w="1731265">
                <a:moveTo>
                  <a:pt x="0" y="0"/>
                </a:moveTo>
                <a:lnTo>
                  <a:pt x="1731265" y="0"/>
                </a:lnTo>
                <a:lnTo>
                  <a:pt x="1731265" y="4980184"/>
                </a:lnTo>
                <a:lnTo>
                  <a:pt x="0" y="498018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858" r="-232405" b="-588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034742" y="5616888"/>
            <a:ext cx="145077" cy="358804"/>
            <a:chOff x="0" y="0"/>
            <a:chExt cx="169457" cy="4191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9457" cy="419100"/>
            </a:xfrm>
            <a:custGeom>
              <a:avLst/>
              <a:gdLst/>
              <a:ahLst/>
              <a:cxnLst/>
              <a:rect r="r" b="b" t="t" l="l"/>
              <a:pathLst>
                <a:path h="419100" w="169457">
                  <a:moveTo>
                    <a:pt x="0" y="0"/>
                  </a:moveTo>
                  <a:lnTo>
                    <a:pt x="169457" y="0"/>
                  </a:lnTo>
                  <a:lnTo>
                    <a:pt x="169457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9F3D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6945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692522" y="3643491"/>
            <a:ext cx="69910" cy="35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1"/>
              </a:lnSpc>
              <a:spcBef>
                <a:spcPct val="0"/>
              </a:spcBef>
            </a:pPr>
            <a:r>
              <a:rPr lang="en-US" sz="2029">
                <a:solidFill>
                  <a:srgbClr val="D67552"/>
                </a:solidFill>
                <a:latin typeface="Clear Sans"/>
                <a:ea typeface="Clear Sans"/>
                <a:cs typeface="Clear Sans"/>
                <a:sym typeface="Clear Sans"/>
              </a:rPr>
              <a:t>: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146542" y="6922264"/>
            <a:ext cx="145077" cy="358804"/>
            <a:chOff x="0" y="0"/>
            <a:chExt cx="169457" cy="419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69457" cy="419100"/>
            </a:xfrm>
            <a:custGeom>
              <a:avLst/>
              <a:gdLst/>
              <a:ahLst/>
              <a:cxnLst/>
              <a:rect r="r" b="b" t="t" l="l"/>
              <a:pathLst>
                <a:path h="419100" w="169457">
                  <a:moveTo>
                    <a:pt x="0" y="0"/>
                  </a:moveTo>
                  <a:lnTo>
                    <a:pt x="169457" y="0"/>
                  </a:lnTo>
                  <a:lnTo>
                    <a:pt x="169457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9F3D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6945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734324" y="7968125"/>
            <a:ext cx="145077" cy="358804"/>
            <a:chOff x="0" y="0"/>
            <a:chExt cx="169457" cy="4191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9457" cy="419100"/>
            </a:xfrm>
            <a:custGeom>
              <a:avLst/>
              <a:gdLst/>
              <a:ahLst/>
              <a:cxnLst/>
              <a:rect r="r" b="b" t="t" l="l"/>
              <a:pathLst>
                <a:path h="419100" w="169457">
                  <a:moveTo>
                    <a:pt x="0" y="0"/>
                  </a:moveTo>
                  <a:lnTo>
                    <a:pt x="169457" y="0"/>
                  </a:lnTo>
                  <a:lnTo>
                    <a:pt x="169457" y="419100"/>
                  </a:lnTo>
                  <a:lnTo>
                    <a:pt x="0" y="419100"/>
                  </a:lnTo>
                  <a:close/>
                </a:path>
              </a:pathLst>
            </a:custGeom>
            <a:solidFill>
              <a:srgbClr val="F9F3D9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69457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9"/>
                </a:lnSpc>
              </a:pPr>
            </a:p>
          </p:txBody>
        </p:sp>
      </p:grpSp>
    </p:spTree>
  </p:cSld>
  <p:clrMapOvr>
    <a:masterClrMapping/>
  </p:clrMapOvr>
  <p:transition spd="slow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492111" y="-3960200"/>
            <a:ext cx="13493078" cy="19275826"/>
          </a:xfrm>
          <a:custGeom>
            <a:avLst/>
            <a:gdLst/>
            <a:ahLst/>
            <a:cxnLst/>
            <a:rect r="r" b="b" t="t" l="l"/>
            <a:pathLst>
              <a:path h="19275826" w="13493078">
                <a:moveTo>
                  <a:pt x="13493078" y="0"/>
                </a:moveTo>
                <a:lnTo>
                  <a:pt x="0" y="0"/>
                </a:lnTo>
                <a:lnTo>
                  <a:pt x="0" y="19275826"/>
                </a:lnTo>
                <a:lnTo>
                  <a:pt x="13493078" y="19275826"/>
                </a:lnTo>
                <a:lnTo>
                  <a:pt x="134930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97550"/>
            </a:solidFill>
            <a:ln w="66675" cap="rnd">
              <a:solidFill>
                <a:srgbClr val="FFC51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4421" y="364295"/>
            <a:ext cx="1960959" cy="1960959"/>
          </a:xfrm>
          <a:custGeom>
            <a:avLst/>
            <a:gdLst/>
            <a:ahLst/>
            <a:cxnLst/>
            <a:rect r="r" b="b" t="t" l="l"/>
            <a:pathLst>
              <a:path h="1960959" w="1960959">
                <a:moveTo>
                  <a:pt x="0" y="0"/>
                </a:moveTo>
                <a:lnTo>
                  <a:pt x="1960958" y="0"/>
                </a:lnTo>
                <a:lnTo>
                  <a:pt x="1960958" y="1960959"/>
                </a:lnTo>
                <a:lnTo>
                  <a:pt x="0" y="1960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27041" y="364295"/>
            <a:ext cx="1960959" cy="1960959"/>
          </a:xfrm>
          <a:custGeom>
            <a:avLst/>
            <a:gdLst/>
            <a:ahLst/>
            <a:cxnLst/>
            <a:rect r="r" b="b" t="t" l="l"/>
            <a:pathLst>
              <a:path h="1960959" w="1960959">
                <a:moveTo>
                  <a:pt x="0" y="0"/>
                </a:moveTo>
                <a:lnTo>
                  <a:pt x="1960959" y="0"/>
                </a:lnTo>
                <a:lnTo>
                  <a:pt x="1960959" y="1960959"/>
                </a:lnTo>
                <a:lnTo>
                  <a:pt x="0" y="1960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5535743" y="2295949"/>
            <a:ext cx="1630916" cy="5052246"/>
          </a:xfrm>
          <a:custGeom>
            <a:avLst/>
            <a:gdLst/>
            <a:ahLst/>
            <a:cxnLst/>
            <a:rect r="r" b="b" t="t" l="l"/>
            <a:pathLst>
              <a:path h="5052246" w="1630916">
                <a:moveTo>
                  <a:pt x="1630917" y="0"/>
                </a:moveTo>
                <a:lnTo>
                  <a:pt x="0" y="0"/>
                </a:lnTo>
                <a:lnTo>
                  <a:pt x="0" y="5052247"/>
                </a:lnTo>
                <a:lnTo>
                  <a:pt x="1630917" y="5052247"/>
                </a:lnTo>
                <a:lnTo>
                  <a:pt x="163091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252857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5841511" y="-45280"/>
            <a:ext cx="6604979" cy="2427330"/>
            <a:chOff x="0" y="0"/>
            <a:chExt cx="8806639" cy="32364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806639" cy="3236440"/>
            </a:xfrm>
            <a:custGeom>
              <a:avLst/>
              <a:gdLst/>
              <a:ahLst/>
              <a:cxnLst/>
              <a:rect r="r" b="b" t="t" l="l"/>
              <a:pathLst>
                <a:path h="3236440" w="8806639">
                  <a:moveTo>
                    <a:pt x="0" y="0"/>
                  </a:moveTo>
                  <a:lnTo>
                    <a:pt x="8806639" y="0"/>
                  </a:lnTo>
                  <a:lnTo>
                    <a:pt x="8806639" y="3236440"/>
                  </a:lnTo>
                  <a:lnTo>
                    <a:pt x="0" y="3236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672224" y="357745"/>
              <a:ext cx="5462191" cy="200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99"/>
                </a:lnSpc>
              </a:pPr>
              <a:r>
                <a:rPr lang="en-US" sz="9000">
                  <a:solidFill>
                    <a:srgbClr val="E06641"/>
                  </a:solidFill>
                  <a:latin typeface="Lucidity Condensed"/>
                  <a:ea typeface="Lucidity Condensed"/>
                  <a:cs typeface="Lucidity Condensed"/>
                  <a:sym typeface="Lucidity Condensed"/>
                </a:rPr>
                <a:t>CONTOH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04900" y="2368012"/>
            <a:ext cx="1731265" cy="4980184"/>
          </a:xfrm>
          <a:custGeom>
            <a:avLst/>
            <a:gdLst/>
            <a:ahLst/>
            <a:cxnLst/>
            <a:rect r="r" b="b" t="t" l="l"/>
            <a:pathLst>
              <a:path h="4980184" w="1731265">
                <a:moveTo>
                  <a:pt x="0" y="0"/>
                </a:moveTo>
                <a:lnTo>
                  <a:pt x="1731265" y="0"/>
                </a:lnTo>
                <a:lnTo>
                  <a:pt x="1731265" y="4980184"/>
                </a:lnTo>
                <a:lnTo>
                  <a:pt x="0" y="49801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58" r="-232405" b="-588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794211" y="2560542"/>
            <a:ext cx="12699579" cy="5886174"/>
            <a:chOff x="0" y="0"/>
            <a:chExt cx="2613082" cy="12111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13082" cy="1211147"/>
            </a:xfrm>
            <a:custGeom>
              <a:avLst/>
              <a:gdLst/>
              <a:ahLst/>
              <a:cxnLst/>
              <a:rect r="r" b="b" t="t" l="l"/>
              <a:pathLst>
                <a:path h="1211147" w="2613082">
                  <a:moveTo>
                    <a:pt x="11907" y="0"/>
                  </a:moveTo>
                  <a:lnTo>
                    <a:pt x="2601175" y="0"/>
                  </a:lnTo>
                  <a:cubicBezTo>
                    <a:pt x="2607751" y="0"/>
                    <a:pt x="2613082" y="5331"/>
                    <a:pt x="2613082" y="11907"/>
                  </a:cubicBezTo>
                  <a:lnTo>
                    <a:pt x="2613082" y="1199240"/>
                  </a:lnTo>
                  <a:cubicBezTo>
                    <a:pt x="2613082" y="1202398"/>
                    <a:pt x="2611828" y="1205427"/>
                    <a:pt x="2609595" y="1207660"/>
                  </a:cubicBezTo>
                  <a:cubicBezTo>
                    <a:pt x="2607362" y="1209893"/>
                    <a:pt x="2604333" y="1211147"/>
                    <a:pt x="2601175" y="1211147"/>
                  </a:cubicBezTo>
                  <a:lnTo>
                    <a:pt x="11907" y="1211147"/>
                  </a:lnTo>
                  <a:cubicBezTo>
                    <a:pt x="8749" y="1211147"/>
                    <a:pt x="5720" y="1209893"/>
                    <a:pt x="3487" y="1207660"/>
                  </a:cubicBezTo>
                  <a:cubicBezTo>
                    <a:pt x="1254" y="1205427"/>
                    <a:pt x="0" y="1202398"/>
                    <a:pt x="0" y="1199240"/>
                  </a:cubicBezTo>
                  <a:lnTo>
                    <a:pt x="0" y="11907"/>
                  </a:lnTo>
                  <a:cubicBezTo>
                    <a:pt x="0" y="8749"/>
                    <a:pt x="1254" y="5720"/>
                    <a:pt x="3487" y="3487"/>
                  </a:cubicBezTo>
                  <a:cubicBezTo>
                    <a:pt x="5720" y="1254"/>
                    <a:pt x="8749" y="0"/>
                    <a:pt x="11907" y="0"/>
                  </a:cubicBezTo>
                  <a:close/>
                </a:path>
              </a:pathLst>
            </a:custGeom>
            <a:solidFill>
              <a:srgbClr val="F4EBC1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613082" cy="12492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627967" y="2701146"/>
            <a:ext cx="7032065" cy="555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9"/>
              </a:lnSpc>
              <a:spcBef>
                <a:spcPct val="0"/>
              </a:spcBef>
            </a:pPr>
            <a:r>
              <a:rPr lang="en-US" sz="2457">
                <a:solidFill>
                  <a:srgbClr val="D97550"/>
                </a:solidFill>
                <a:latin typeface="Clear Sans"/>
                <a:ea typeface="Clear Sans"/>
                <a:cs typeface="Clear Sans"/>
                <a:sym typeface="Clear Sans"/>
              </a:rPr>
              <a:t>Program menentukan_bilangan_positif_negatif</a:t>
            </a:r>
          </a:p>
          <a:p>
            <a:pPr algn="l">
              <a:lnSpc>
                <a:spcPts val="3439"/>
              </a:lnSpc>
              <a:spcBef>
                <a:spcPct val="0"/>
              </a:spcBef>
            </a:pPr>
          </a:p>
          <a:p>
            <a:pPr algn="l">
              <a:lnSpc>
                <a:spcPts val="3439"/>
              </a:lnSpc>
              <a:spcBef>
                <a:spcPct val="0"/>
              </a:spcBef>
            </a:pPr>
            <a:r>
              <a:rPr lang="en-US" sz="2457">
                <a:solidFill>
                  <a:srgbClr val="D97550"/>
                </a:solidFill>
                <a:latin typeface="Clear Sans"/>
                <a:ea typeface="Clear Sans"/>
                <a:cs typeface="Clear Sans"/>
                <a:sym typeface="Clear Sans"/>
              </a:rPr>
              <a:t>var bilangan : integer</a:t>
            </a:r>
          </a:p>
          <a:p>
            <a:pPr algn="l">
              <a:lnSpc>
                <a:spcPts val="3439"/>
              </a:lnSpc>
              <a:spcBef>
                <a:spcPct val="0"/>
              </a:spcBef>
            </a:pPr>
          </a:p>
          <a:p>
            <a:pPr algn="l">
              <a:lnSpc>
                <a:spcPts val="3439"/>
              </a:lnSpc>
              <a:spcBef>
                <a:spcPct val="0"/>
              </a:spcBef>
            </a:pPr>
            <a:r>
              <a:rPr lang="en-US" sz="2457">
                <a:solidFill>
                  <a:srgbClr val="D97550"/>
                </a:solidFill>
                <a:latin typeface="Clear Sans"/>
                <a:ea typeface="Clear Sans"/>
                <a:cs typeface="Clear Sans"/>
                <a:sym typeface="Clear Sans"/>
              </a:rPr>
              <a:t>Mulai</a:t>
            </a:r>
          </a:p>
          <a:p>
            <a:pPr algn="l">
              <a:lnSpc>
                <a:spcPts val="3439"/>
              </a:lnSpc>
              <a:spcBef>
                <a:spcPct val="0"/>
              </a:spcBef>
            </a:pPr>
            <a:r>
              <a:rPr lang="en-US" sz="2457">
                <a:solidFill>
                  <a:srgbClr val="D97550"/>
                </a:solidFill>
                <a:latin typeface="Clear Sans"/>
                <a:ea typeface="Clear Sans"/>
                <a:cs typeface="Clear Sans"/>
                <a:sym typeface="Clear Sans"/>
              </a:rPr>
              <a:t>    bilangan ← 7</a:t>
            </a:r>
          </a:p>
          <a:p>
            <a:pPr algn="l">
              <a:lnSpc>
                <a:spcPts val="3439"/>
              </a:lnSpc>
              <a:spcBef>
                <a:spcPct val="0"/>
              </a:spcBef>
            </a:pPr>
          </a:p>
          <a:p>
            <a:pPr algn="l">
              <a:lnSpc>
                <a:spcPts val="3439"/>
              </a:lnSpc>
              <a:spcBef>
                <a:spcPct val="0"/>
              </a:spcBef>
            </a:pPr>
            <a:r>
              <a:rPr lang="en-US" sz="2457">
                <a:solidFill>
                  <a:srgbClr val="D97550"/>
                </a:solidFill>
                <a:latin typeface="Clear Sans"/>
                <a:ea typeface="Clear Sans"/>
                <a:cs typeface="Clear Sans"/>
                <a:sym typeface="Clear Sans"/>
              </a:rPr>
              <a:t>    if bilangan &gt; 0 then</a:t>
            </a:r>
          </a:p>
          <a:p>
            <a:pPr algn="l">
              <a:lnSpc>
                <a:spcPts val="3439"/>
              </a:lnSpc>
              <a:spcBef>
                <a:spcPct val="0"/>
              </a:spcBef>
            </a:pPr>
            <a:r>
              <a:rPr lang="en-US" sz="2457">
                <a:solidFill>
                  <a:srgbClr val="D97550"/>
                </a:solidFill>
                <a:latin typeface="Clear Sans"/>
                <a:ea typeface="Clear Sans"/>
                <a:cs typeface="Clear Sans"/>
                <a:sym typeface="Clear Sans"/>
              </a:rPr>
              <a:t>        output("Positif")</a:t>
            </a:r>
          </a:p>
          <a:p>
            <a:pPr algn="l">
              <a:lnSpc>
                <a:spcPts val="3439"/>
              </a:lnSpc>
              <a:spcBef>
                <a:spcPct val="0"/>
              </a:spcBef>
            </a:pPr>
            <a:r>
              <a:rPr lang="en-US" sz="2457">
                <a:solidFill>
                  <a:srgbClr val="D97550"/>
                </a:solidFill>
                <a:latin typeface="Clear Sans"/>
                <a:ea typeface="Clear Sans"/>
                <a:cs typeface="Clear Sans"/>
                <a:sym typeface="Clear Sans"/>
              </a:rPr>
              <a:t>    else</a:t>
            </a:r>
          </a:p>
          <a:p>
            <a:pPr algn="l">
              <a:lnSpc>
                <a:spcPts val="3439"/>
              </a:lnSpc>
              <a:spcBef>
                <a:spcPct val="0"/>
              </a:spcBef>
            </a:pPr>
            <a:r>
              <a:rPr lang="en-US" sz="2457">
                <a:solidFill>
                  <a:srgbClr val="D97550"/>
                </a:solidFill>
                <a:latin typeface="Clear Sans"/>
                <a:ea typeface="Clear Sans"/>
                <a:cs typeface="Clear Sans"/>
                <a:sym typeface="Clear Sans"/>
              </a:rPr>
              <a:t>        output("Negatif atau Nol")</a:t>
            </a:r>
          </a:p>
          <a:p>
            <a:pPr algn="l">
              <a:lnSpc>
                <a:spcPts val="3439"/>
              </a:lnSpc>
              <a:spcBef>
                <a:spcPct val="0"/>
              </a:spcBef>
            </a:pPr>
            <a:r>
              <a:rPr lang="en-US" sz="2457">
                <a:solidFill>
                  <a:srgbClr val="D97550"/>
                </a:solidFill>
                <a:latin typeface="Clear Sans"/>
                <a:ea typeface="Clear Sans"/>
                <a:cs typeface="Clear Sans"/>
                <a:sym typeface="Clear Sans"/>
              </a:rPr>
              <a:t>    endif</a:t>
            </a:r>
          </a:p>
          <a:p>
            <a:pPr algn="l">
              <a:lnSpc>
                <a:spcPts val="3439"/>
              </a:lnSpc>
              <a:spcBef>
                <a:spcPct val="0"/>
              </a:spcBef>
            </a:pPr>
            <a:r>
              <a:rPr lang="en-US" sz="2457">
                <a:solidFill>
                  <a:srgbClr val="D97550"/>
                </a:solidFill>
                <a:latin typeface="Clear Sans"/>
                <a:ea typeface="Clear Sans"/>
                <a:cs typeface="Clear Sans"/>
                <a:sym typeface="Clear Sans"/>
              </a:rPr>
              <a:t>Selesai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609751" y="-3440974"/>
            <a:ext cx="13493078" cy="19275826"/>
          </a:xfrm>
          <a:custGeom>
            <a:avLst/>
            <a:gdLst/>
            <a:ahLst/>
            <a:cxnLst/>
            <a:rect r="r" b="b" t="t" l="l"/>
            <a:pathLst>
              <a:path h="19275826" w="13493078">
                <a:moveTo>
                  <a:pt x="13493078" y="0"/>
                </a:moveTo>
                <a:lnTo>
                  <a:pt x="0" y="0"/>
                </a:lnTo>
                <a:lnTo>
                  <a:pt x="0" y="19275826"/>
                </a:lnTo>
                <a:lnTo>
                  <a:pt x="13493078" y="19275826"/>
                </a:lnTo>
                <a:lnTo>
                  <a:pt x="134930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97550"/>
            </a:solidFill>
            <a:ln w="123825" cap="rnd">
              <a:solidFill>
                <a:srgbClr val="EFF2CF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2957552" y="1028700"/>
            <a:ext cx="4187443" cy="3676226"/>
          </a:xfrm>
          <a:custGeom>
            <a:avLst/>
            <a:gdLst/>
            <a:ahLst/>
            <a:cxnLst/>
            <a:rect r="r" b="b" t="t" l="l"/>
            <a:pathLst>
              <a:path h="3676226" w="4187443">
                <a:moveTo>
                  <a:pt x="4187443" y="0"/>
                </a:moveTo>
                <a:lnTo>
                  <a:pt x="0" y="0"/>
                </a:lnTo>
                <a:lnTo>
                  <a:pt x="0" y="3676226"/>
                </a:lnTo>
                <a:lnTo>
                  <a:pt x="4187443" y="3676226"/>
                </a:lnTo>
                <a:lnTo>
                  <a:pt x="41874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12928977" y="5429766"/>
            <a:ext cx="4187443" cy="3676226"/>
          </a:xfrm>
          <a:custGeom>
            <a:avLst/>
            <a:gdLst/>
            <a:ahLst/>
            <a:cxnLst/>
            <a:rect r="r" b="b" t="t" l="l"/>
            <a:pathLst>
              <a:path h="3676226" w="4187443">
                <a:moveTo>
                  <a:pt x="4187443" y="3676226"/>
                </a:moveTo>
                <a:lnTo>
                  <a:pt x="0" y="3676226"/>
                </a:lnTo>
                <a:lnTo>
                  <a:pt x="0" y="0"/>
                </a:lnTo>
                <a:lnTo>
                  <a:pt x="4187443" y="0"/>
                </a:lnTo>
                <a:lnTo>
                  <a:pt x="4187443" y="36762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829795" y="3799332"/>
            <a:ext cx="7315200" cy="2688336"/>
          </a:xfrm>
          <a:custGeom>
            <a:avLst/>
            <a:gdLst/>
            <a:ahLst/>
            <a:cxnLst/>
            <a:rect r="r" b="b" t="t" l="l"/>
            <a:pathLst>
              <a:path h="2688336" w="7315200">
                <a:moveTo>
                  <a:pt x="0" y="0"/>
                </a:moveTo>
                <a:lnTo>
                  <a:pt x="7315200" y="0"/>
                </a:lnTo>
                <a:lnTo>
                  <a:pt x="7315200" y="2688336"/>
                </a:lnTo>
                <a:lnTo>
                  <a:pt x="0" y="26883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38531" y="4410912"/>
            <a:ext cx="1090221" cy="1786027"/>
          </a:xfrm>
          <a:custGeom>
            <a:avLst/>
            <a:gdLst/>
            <a:ahLst/>
            <a:cxnLst/>
            <a:rect r="r" b="b" t="t" l="l"/>
            <a:pathLst>
              <a:path h="1786027" w="1090221">
                <a:moveTo>
                  <a:pt x="0" y="0"/>
                </a:moveTo>
                <a:lnTo>
                  <a:pt x="1090221" y="0"/>
                </a:lnTo>
                <a:lnTo>
                  <a:pt x="1090221" y="1786027"/>
                </a:lnTo>
                <a:lnTo>
                  <a:pt x="0" y="17860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639569" y="4163262"/>
            <a:ext cx="5695652" cy="1552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sz="9000">
                <a:solidFill>
                  <a:srgbClr val="EFF2CF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PERULANGAN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728752" y="3017128"/>
            <a:ext cx="8544156" cy="4252745"/>
            <a:chOff x="0" y="0"/>
            <a:chExt cx="11392208" cy="567032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189498"/>
              <a:ext cx="10801391" cy="2057400"/>
              <a:chOff x="0" y="0"/>
              <a:chExt cx="2133608" cy="4064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33608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2133608">
                    <a:moveTo>
                      <a:pt x="1930408" y="0"/>
                    </a:moveTo>
                    <a:cubicBezTo>
                      <a:pt x="2042632" y="0"/>
                      <a:pt x="2133608" y="90976"/>
                      <a:pt x="2133608" y="203200"/>
                    </a:cubicBezTo>
                    <a:cubicBezTo>
                      <a:pt x="2133608" y="315424"/>
                      <a:pt x="2042632" y="406400"/>
                      <a:pt x="1930408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EFF2CF"/>
              </a:solidFill>
              <a:ln w="76200" cap="sq">
                <a:solidFill>
                  <a:srgbClr val="F6B33B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133608" cy="444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671820" y="466781"/>
              <a:ext cx="9498230" cy="13694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39748" indent="-269874" lvl="1">
                <a:lnSpc>
                  <a:spcPts val="43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M</a:t>
              </a:r>
              <a:r>
                <a:rPr lang="en-US" sz="24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enggunakan FOR / WHILE</a:t>
              </a:r>
            </a:p>
            <a:p>
              <a:pPr algn="l" marL="539748" indent="-269874" lvl="1">
                <a:lnSpc>
                  <a:spcPts val="4399"/>
                </a:lnSpc>
                <a:buFont typeface="Arial"/>
                <a:buChar char="•"/>
              </a:pPr>
              <a:r>
                <a:rPr lang="en-US" sz="24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Digunakan untuk pengulangan perintah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10308021" y="0"/>
              <a:ext cx="986741" cy="1218198"/>
            </a:xfrm>
            <a:custGeom>
              <a:avLst/>
              <a:gdLst/>
              <a:ahLst/>
              <a:cxnLst/>
              <a:rect r="r" b="b" t="t" l="l"/>
              <a:pathLst>
                <a:path h="1218198" w="986741">
                  <a:moveTo>
                    <a:pt x="0" y="0"/>
                  </a:moveTo>
                  <a:lnTo>
                    <a:pt x="986740" y="0"/>
                  </a:lnTo>
                  <a:lnTo>
                    <a:pt x="986740" y="1218198"/>
                  </a:lnTo>
                  <a:lnTo>
                    <a:pt x="0" y="12181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7" id="17"/>
            <p:cNvGrpSpPr/>
            <p:nvPr/>
          </p:nvGrpSpPr>
          <p:grpSpPr>
            <a:xfrm rot="0">
              <a:off x="0" y="2868870"/>
              <a:ext cx="10801391" cy="2801456"/>
              <a:chOff x="0" y="0"/>
              <a:chExt cx="2133608" cy="55337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133608" cy="553374"/>
              </a:xfrm>
              <a:custGeom>
                <a:avLst/>
                <a:gdLst/>
                <a:ahLst/>
                <a:cxnLst/>
                <a:rect r="r" b="b" t="t" l="l"/>
                <a:pathLst>
                  <a:path h="553374" w="2133608">
                    <a:moveTo>
                      <a:pt x="1930408" y="0"/>
                    </a:moveTo>
                    <a:cubicBezTo>
                      <a:pt x="2042632" y="0"/>
                      <a:pt x="2133608" y="123877"/>
                      <a:pt x="2133608" y="276687"/>
                    </a:cubicBezTo>
                    <a:cubicBezTo>
                      <a:pt x="2133608" y="429497"/>
                      <a:pt x="2042632" y="553374"/>
                      <a:pt x="1930408" y="553374"/>
                    </a:cubicBezTo>
                    <a:lnTo>
                      <a:pt x="203200" y="553374"/>
                    </a:lnTo>
                    <a:cubicBezTo>
                      <a:pt x="90976" y="553374"/>
                      <a:pt x="0" y="429497"/>
                      <a:pt x="0" y="276687"/>
                    </a:cubicBezTo>
                    <a:cubicBezTo>
                      <a:pt x="0" y="123877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EFF2CF"/>
              </a:solidFill>
              <a:ln w="76200" cap="sq">
                <a:solidFill>
                  <a:srgbClr val="F6B33B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2133608" cy="59147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71820" y="3149882"/>
              <a:ext cx="9498230" cy="210608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3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FOR</a:t>
              </a:r>
              <a:r>
                <a:rPr lang="en-US" sz="24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i ← 1 TO 5</a:t>
              </a:r>
            </a:p>
            <a:p>
              <a:pPr algn="just">
                <a:lnSpc>
                  <a:spcPts val="4399"/>
                </a:lnSpc>
              </a:pPr>
              <a:r>
                <a:rPr lang="en-US" sz="2499">
                  <a:solidFill>
                    <a:srgbClr val="000000"/>
                  </a:solidFill>
                  <a:latin typeface="Clear Sans"/>
                  <a:ea typeface="Clear Sans"/>
                  <a:cs typeface="Clear Sans"/>
                  <a:sym typeface="Clear Sans"/>
                </a:rPr>
                <a:t>   PRINT i</a:t>
              </a:r>
            </a:p>
            <a:p>
              <a:pPr algn="just">
                <a:lnSpc>
                  <a:spcPts val="4399"/>
                </a:lnSpc>
              </a:pPr>
              <a:r>
                <a:rPr lang="en-US" sz="2499" b="true">
                  <a:solidFill>
                    <a:srgbClr val="000000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ENDFOR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10210574" y="3333033"/>
              <a:ext cx="1181633" cy="1873131"/>
            </a:xfrm>
            <a:custGeom>
              <a:avLst/>
              <a:gdLst/>
              <a:ahLst/>
              <a:cxnLst/>
              <a:rect r="r" b="b" t="t" l="l"/>
              <a:pathLst>
                <a:path h="1873131" w="1181633">
                  <a:moveTo>
                    <a:pt x="0" y="0"/>
                  </a:moveTo>
                  <a:lnTo>
                    <a:pt x="1181634" y="0"/>
                  </a:lnTo>
                  <a:lnTo>
                    <a:pt x="1181634" y="1873131"/>
                  </a:lnTo>
                  <a:lnTo>
                    <a:pt x="0" y="1873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492111" y="-3960200"/>
            <a:ext cx="13493078" cy="19275826"/>
          </a:xfrm>
          <a:custGeom>
            <a:avLst/>
            <a:gdLst/>
            <a:ahLst/>
            <a:cxnLst/>
            <a:rect r="r" b="b" t="t" l="l"/>
            <a:pathLst>
              <a:path h="19275826" w="13493078">
                <a:moveTo>
                  <a:pt x="13493078" y="0"/>
                </a:moveTo>
                <a:lnTo>
                  <a:pt x="0" y="0"/>
                </a:lnTo>
                <a:lnTo>
                  <a:pt x="0" y="19275826"/>
                </a:lnTo>
                <a:lnTo>
                  <a:pt x="13493078" y="19275826"/>
                </a:lnTo>
                <a:lnTo>
                  <a:pt x="134930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143140"/>
                  </a:lnTo>
                  <a:cubicBezTo>
                    <a:pt x="4274726" y="2156575"/>
                    <a:pt x="4263834" y="2167467"/>
                    <a:pt x="4250399" y="2167467"/>
                  </a:cubicBezTo>
                  <a:lnTo>
                    <a:pt x="24327" y="2167467"/>
                  </a:lnTo>
                  <a:cubicBezTo>
                    <a:pt x="10891" y="2167467"/>
                    <a:pt x="0" y="2156575"/>
                    <a:pt x="0" y="2143140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D97550"/>
            </a:solidFill>
            <a:ln w="66675" cap="rnd">
              <a:solidFill>
                <a:srgbClr val="FFC513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4421" y="364295"/>
            <a:ext cx="1960959" cy="1960959"/>
          </a:xfrm>
          <a:custGeom>
            <a:avLst/>
            <a:gdLst/>
            <a:ahLst/>
            <a:cxnLst/>
            <a:rect r="r" b="b" t="t" l="l"/>
            <a:pathLst>
              <a:path h="1960959" w="1960959">
                <a:moveTo>
                  <a:pt x="0" y="0"/>
                </a:moveTo>
                <a:lnTo>
                  <a:pt x="1960958" y="0"/>
                </a:lnTo>
                <a:lnTo>
                  <a:pt x="1960958" y="1960959"/>
                </a:lnTo>
                <a:lnTo>
                  <a:pt x="0" y="1960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27041" y="364295"/>
            <a:ext cx="1960959" cy="1960959"/>
          </a:xfrm>
          <a:custGeom>
            <a:avLst/>
            <a:gdLst/>
            <a:ahLst/>
            <a:cxnLst/>
            <a:rect r="r" b="b" t="t" l="l"/>
            <a:pathLst>
              <a:path h="1960959" w="1960959">
                <a:moveTo>
                  <a:pt x="0" y="0"/>
                </a:moveTo>
                <a:lnTo>
                  <a:pt x="1960959" y="0"/>
                </a:lnTo>
                <a:lnTo>
                  <a:pt x="1960959" y="1960959"/>
                </a:lnTo>
                <a:lnTo>
                  <a:pt x="0" y="1960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841511" y="-45280"/>
            <a:ext cx="6604979" cy="2427330"/>
            <a:chOff x="0" y="0"/>
            <a:chExt cx="8806639" cy="32364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806639" cy="3236440"/>
            </a:xfrm>
            <a:custGeom>
              <a:avLst/>
              <a:gdLst/>
              <a:ahLst/>
              <a:cxnLst/>
              <a:rect r="r" b="b" t="t" l="l"/>
              <a:pathLst>
                <a:path h="3236440" w="8806639">
                  <a:moveTo>
                    <a:pt x="0" y="0"/>
                  </a:moveTo>
                  <a:lnTo>
                    <a:pt x="8806639" y="0"/>
                  </a:lnTo>
                  <a:lnTo>
                    <a:pt x="8806639" y="3236440"/>
                  </a:lnTo>
                  <a:lnTo>
                    <a:pt x="0" y="3236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672224" y="357745"/>
              <a:ext cx="5462191" cy="200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99"/>
                </a:lnSpc>
              </a:pPr>
              <a:r>
                <a:rPr lang="en-US" sz="9000">
                  <a:solidFill>
                    <a:srgbClr val="E06641"/>
                  </a:solidFill>
                  <a:latin typeface="Lucidity Condensed"/>
                  <a:ea typeface="Lucidity Condensed"/>
                  <a:cs typeface="Lucidity Condensed"/>
                  <a:sym typeface="Lucidity Condensed"/>
                </a:rPr>
                <a:t>CONTOH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104900" y="2325254"/>
            <a:ext cx="1880468" cy="5022942"/>
          </a:xfrm>
          <a:custGeom>
            <a:avLst/>
            <a:gdLst/>
            <a:ahLst/>
            <a:cxnLst/>
            <a:rect r="r" b="b" t="t" l="l"/>
            <a:pathLst>
              <a:path h="5022942" w="1880468">
                <a:moveTo>
                  <a:pt x="0" y="0"/>
                </a:moveTo>
                <a:lnTo>
                  <a:pt x="1880468" y="0"/>
                </a:lnTo>
                <a:lnTo>
                  <a:pt x="1880468" y="5022942"/>
                </a:lnTo>
                <a:lnTo>
                  <a:pt x="0" y="50229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206030" b="-583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5294564" y="1168385"/>
            <a:ext cx="1862670" cy="5052246"/>
          </a:xfrm>
          <a:custGeom>
            <a:avLst/>
            <a:gdLst/>
            <a:ahLst/>
            <a:cxnLst/>
            <a:rect r="r" b="b" t="t" l="l"/>
            <a:pathLst>
              <a:path h="5052246" w="1862670">
                <a:moveTo>
                  <a:pt x="1862671" y="0"/>
                </a:moveTo>
                <a:lnTo>
                  <a:pt x="0" y="0"/>
                </a:lnTo>
                <a:lnTo>
                  <a:pt x="0" y="5052246"/>
                </a:lnTo>
                <a:lnTo>
                  <a:pt x="1862671" y="5052246"/>
                </a:lnTo>
                <a:lnTo>
                  <a:pt x="186267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208955" b="0"/>
            </a:stretch>
          </a:blipFill>
        </p:spPr>
      </p:sp>
      <p:graphicFrame>
        <p:nvGraphicFramePr>
          <p:cNvPr name="Table 13" id="13"/>
          <p:cNvGraphicFramePr>
            <a:graphicFrameLocks noGrp="true"/>
          </p:cNvGraphicFramePr>
          <p:nvPr/>
        </p:nvGraphicFramePr>
        <p:xfrm>
          <a:off x="2989402" y="3419870"/>
          <a:ext cx="12309196" cy="4214076"/>
        </p:xfrm>
        <a:graphic>
          <a:graphicData uri="http://schemas.openxmlformats.org/drawingml/2006/table">
            <a:tbl>
              <a:tblPr/>
              <a:tblGrid>
                <a:gridCol w="2275116"/>
                <a:gridCol w="1853093"/>
                <a:gridCol w="8180987"/>
              </a:tblGrid>
              <a:tr h="1099819">
                <a:tc gridSpan="3"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Judul Program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Program menghitungMundur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Judul Program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8474">
                <a:tc gridSpan="3"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Deklarasi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var bilangan : integer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Deklarasi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85783">
                <a:tc gridSpan="3"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Deskripsi </a:t>
                      </a: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Algoritma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FOR (bilangan ← 5; bilangan &gt; 0; bilangan--)</a:t>
                      </a:r>
                      <a:endParaRPr lang="en-US" sz="1100"/>
                    </a:p>
                    <a:p>
                      <a:pPr algn="just"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     PRINT bilangan</a:t>
                      </a:r>
                    </a:p>
                    <a:p>
                      <a:pPr algn="just">
                        <a:lnSpc>
                          <a:spcPts val="4199"/>
                        </a:lnSpc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ENDFOR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true">
                  <a:txBody>
                    <a:bodyPr anchor="t" rtlCol="false"/>
                    <a:lstStyle/>
                    <a:p>
                      <a:pPr algn="just">
                        <a:lnSpc>
                          <a:spcPts val="4199"/>
                        </a:lnSpc>
                        <a:defRPr/>
                      </a:pP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Deskripsi </a:t>
                      </a:r>
                      <a:r>
                        <a:rPr lang="en-US" sz="2999">
                          <a:solidFill>
                            <a:srgbClr val="F9F4DA"/>
                          </a:solidFill>
                          <a:latin typeface="Clear Sans"/>
                          <a:ea typeface="Clear Sans"/>
                          <a:cs typeface="Clear Sans"/>
                          <a:sym typeface="Clear Sans"/>
                        </a:rPr>
                        <a:t>Algoritma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4EB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BC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400000">
            <a:off x="2891374" y="-4016075"/>
            <a:ext cx="13493078" cy="19275826"/>
          </a:xfrm>
          <a:custGeom>
            <a:avLst/>
            <a:gdLst/>
            <a:ahLst/>
            <a:cxnLst/>
            <a:rect r="r" b="b" t="t" l="l"/>
            <a:pathLst>
              <a:path h="19275826" w="13493078">
                <a:moveTo>
                  <a:pt x="13493078" y="0"/>
                </a:moveTo>
                <a:lnTo>
                  <a:pt x="0" y="0"/>
                </a:lnTo>
                <a:lnTo>
                  <a:pt x="0" y="19275826"/>
                </a:lnTo>
                <a:lnTo>
                  <a:pt x="13493078" y="19275826"/>
                </a:lnTo>
                <a:lnTo>
                  <a:pt x="1349307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58577" y="1816941"/>
            <a:ext cx="8570845" cy="6653118"/>
          </a:xfrm>
          <a:custGeom>
            <a:avLst/>
            <a:gdLst/>
            <a:ahLst/>
            <a:cxnLst/>
            <a:rect r="r" b="b" t="t" l="l"/>
            <a:pathLst>
              <a:path h="6653118" w="8570845">
                <a:moveTo>
                  <a:pt x="0" y="0"/>
                </a:moveTo>
                <a:lnTo>
                  <a:pt x="8570846" y="0"/>
                </a:lnTo>
                <a:lnTo>
                  <a:pt x="8570846" y="6653118"/>
                </a:lnTo>
                <a:lnTo>
                  <a:pt x="0" y="66531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408005" y="3606872"/>
            <a:ext cx="7471991" cy="3530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34"/>
              </a:lnSpc>
            </a:pPr>
            <a:r>
              <a:rPr lang="en-US" sz="15152">
                <a:solidFill>
                  <a:srgbClr val="F4EBC1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Thank</a:t>
            </a:r>
          </a:p>
          <a:p>
            <a:pPr algn="ctr">
              <a:lnSpc>
                <a:spcPts val="13334"/>
              </a:lnSpc>
            </a:pPr>
            <a:r>
              <a:rPr lang="en-US" sz="15152">
                <a:solidFill>
                  <a:srgbClr val="F4EBC1"/>
                </a:solidFill>
                <a:latin typeface="Lucidity Condensed"/>
                <a:ea typeface="Lucidity Condensed"/>
                <a:cs typeface="Lucidity Condensed"/>
                <a:sym typeface="Lucidity Condensed"/>
              </a:rPr>
              <a:t>You!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5400000">
            <a:off x="-4706415" y="4531932"/>
            <a:ext cx="10635967" cy="1223136"/>
          </a:xfrm>
          <a:custGeom>
            <a:avLst/>
            <a:gdLst/>
            <a:ahLst/>
            <a:cxnLst/>
            <a:rect r="r" b="b" t="t" l="l"/>
            <a:pathLst>
              <a:path h="1223136" w="10635967">
                <a:moveTo>
                  <a:pt x="0" y="0"/>
                </a:moveTo>
                <a:lnTo>
                  <a:pt x="10635967" y="0"/>
                </a:lnTo>
                <a:lnTo>
                  <a:pt x="10635967" y="1223136"/>
                </a:lnTo>
                <a:lnTo>
                  <a:pt x="0" y="12231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5400000">
            <a:off x="12361557" y="4357448"/>
            <a:ext cx="10635967" cy="1223136"/>
          </a:xfrm>
          <a:custGeom>
            <a:avLst/>
            <a:gdLst/>
            <a:ahLst/>
            <a:cxnLst/>
            <a:rect r="r" b="b" t="t" l="l"/>
            <a:pathLst>
              <a:path h="1223136" w="10635967">
                <a:moveTo>
                  <a:pt x="0" y="1223137"/>
                </a:moveTo>
                <a:lnTo>
                  <a:pt x="10635967" y="1223137"/>
                </a:lnTo>
                <a:lnTo>
                  <a:pt x="10635967" y="0"/>
                </a:lnTo>
                <a:lnTo>
                  <a:pt x="0" y="0"/>
                </a:lnTo>
                <a:lnTo>
                  <a:pt x="0" y="1223137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DAHGsC_8LI4</dc:identifier>
  <dcterms:modified xsi:type="dcterms:W3CDTF">2011-08-01T06:04:30Z</dcterms:modified>
  <cp:revision>1</cp:revision>
  <dc:title>Pertemuan 2. Pseudocode dan Representasi Algoritma</dc:title>
</cp:coreProperties>
</file>