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Poppins"/>
      <p:bold r:id="rId24"/>
      <p:boldItalic r:id="rId25"/>
    </p:embeddedFont>
    <p:embeddedFont>
      <p:font typeface="Lilita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xfQJRWG53+0cWiIbQ+pLAASz3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277751-1D82-4CED-96EE-161D609E1B25}">
  <a:tblStyle styleId="{92277751-1D82-4CED-96EE-161D609E1B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3F59435-E545-4759-AFB5-1A262592A58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ilitaOne-regular.fntdata"/><Relationship Id="rId25" Type="http://schemas.openxmlformats.org/officeDocument/2006/relationships/font" Target="fonts/Poppins-bold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e5b3703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de5b37031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11012761" y="5143500"/>
            <a:ext cx="9912992" cy="7805868"/>
            <a:chOff x="0" y="0"/>
            <a:chExt cx="1513179" cy="1191535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1513179" cy="1191535"/>
            </a:xfrm>
            <a:custGeom>
              <a:rect b="b" l="l" r="r" t="t"/>
              <a:pathLst>
                <a:path extrusionOk="0" h="1191535" w="1513179">
                  <a:moveTo>
                    <a:pt x="756589" y="0"/>
                  </a:moveTo>
                  <a:cubicBezTo>
                    <a:pt x="338737" y="0"/>
                    <a:pt x="0" y="266734"/>
                    <a:pt x="0" y="595767"/>
                  </a:cubicBezTo>
                  <a:cubicBezTo>
                    <a:pt x="0" y="924801"/>
                    <a:pt x="338737" y="1191535"/>
                    <a:pt x="756589" y="1191535"/>
                  </a:cubicBezTo>
                  <a:cubicBezTo>
                    <a:pt x="1174442" y="1191535"/>
                    <a:pt x="1513179" y="924801"/>
                    <a:pt x="1513179" y="595767"/>
                  </a:cubicBezTo>
                  <a:cubicBezTo>
                    <a:pt x="1513179" y="266734"/>
                    <a:pt x="1174442" y="0"/>
                    <a:pt x="756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141861" y="54556"/>
              <a:ext cx="1229458" cy="1025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1028700" y="6642164"/>
            <a:ext cx="8849518" cy="1105758"/>
            <a:chOff x="0" y="-57150"/>
            <a:chExt cx="1779580" cy="222361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779580" cy="165211"/>
            </a:xfrm>
            <a:custGeom>
              <a:rect b="b" l="l" r="r" t="t"/>
              <a:pathLst>
                <a:path extrusionOk="0" h="165211" w="1779580">
                  <a:moveTo>
                    <a:pt x="44617" y="0"/>
                  </a:moveTo>
                  <a:lnTo>
                    <a:pt x="1734963" y="0"/>
                  </a:lnTo>
                  <a:cubicBezTo>
                    <a:pt x="1746796" y="0"/>
                    <a:pt x="1758144" y="4701"/>
                    <a:pt x="1766512" y="13068"/>
                  </a:cubicBezTo>
                  <a:cubicBezTo>
                    <a:pt x="1774879" y="21435"/>
                    <a:pt x="1779580" y="32784"/>
                    <a:pt x="1779580" y="44617"/>
                  </a:cubicBezTo>
                  <a:lnTo>
                    <a:pt x="1779580" y="120594"/>
                  </a:lnTo>
                  <a:cubicBezTo>
                    <a:pt x="1779580" y="132427"/>
                    <a:pt x="1774879" y="143775"/>
                    <a:pt x="1766512" y="152143"/>
                  </a:cubicBezTo>
                  <a:cubicBezTo>
                    <a:pt x="1758144" y="160510"/>
                    <a:pt x="1746796" y="165211"/>
                    <a:pt x="1734963" y="165211"/>
                  </a:cubicBezTo>
                  <a:lnTo>
                    <a:pt x="44617" y="165211"/>
                  </a:lnTo>
                  <a:cubicBezTo>
                    <a:pt x="32784" y="165211"/>
                    <a:pt x="21435" y="160510"/>
                    <a:pt x="13068" y="152143"/>
                  </a:cubicBezTo>
                  <a:cubicBezTo>
                    <a:pt x="4701" y="143775"/>
                    <a:pt x="0" y="132427"/>
                    <a:pt x="0" y="120594"/>
                  </a:cubicBezTo>
                  <a:lnTo>
                    <a:pt x="0" y="44617"/>
                  </a:lnTo>
                  <a:cubicBezTo>
                    <a:pt x="0" y="32784"/>
                    <a:pt x="4701" y="21435"/>
                    <a:pt x="13068" y="13068"/>
                  </a:cubicBezTo>
                  <a:cubicBezTo>
                    <a:pt x="21435" y="4701"/>
                    <a:pt x="32784" y="0"/>
                    <a:pt x="44617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57150"/>
              <a:ext cx="1779580" cy="222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11820579" y="3387648"/>
            <a:ext cx="6146557" cy="6488688"/>
          </a:xfrm>
          <a:custGeom>
            <a:rect b="b" l="l" r="r" t="t"/>
            <a:pathLst>
              <a:path extrusionOk="0" h="6488688" w="6146557">
                <a:moveTo>
                  <a:pt x="0" y="0"/>
                </a:moveTo>
                <a:lnTo>
                  <a:pt x="6146557" y="0"/>
                </a:lnTo>
                <a:lnTo>
                  <a:pt x="6146557" y="6488687"/>
                </a:lnTo>
                <a:lnTo>
                  <a:pt x="0" y="6488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8977934" y="8081942"/>
            <a:ext cx="1338672" cy="1176358"/>
          </a:xfrm>
          <a:custGeom>
            <a:rect b="b" l="l" r="r" t="t"/>
            <a:pathLst>
              <a:path extrusionOk="0" h="1176358" w="1338672">
                <a:moveTo>
                  <a:pt x="0" y="0"/>
                </a:moveTo>
                <a:lnTo>
                  <a:pt x="1338672" y="0"/>
                </a:lnTo>
                <a:lnTo>
                  <a:pt x="1338672" y="1176358"/>
                </a:lnTo>
                <a:lnTo>
                  <a:pt x="0" y="117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 flipH="1">
            <a:off x="11234746" y="1957199"/>
            <a:ext cx="1251215" cy="1251215"/>
          </a:xfrm>
          <a:custGeom>
            <a:rect b="b" l="l" r="r" t="t"/>
            <a:pathLst>
              <a:path extrusionOk="0" h="1251215" w="1251215">
                <a:moveTo>
                  <a:pt x="1251215" y="0"/>
                </a:moveTo>
                <a:lnTo>
                  <a:pt x="0" y="0"/>
                </a:lnTo>
                <a:lnTo>
                  <a:pt x="0" y="1251216"/>
                </a:lnTo>
                <a:lnTo>
                  <a:pt x="1251215" y="1251216"/>
                </a:lnTo>
                <a:lnTo>
                  <a:pt x="1251215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6750096" y="2099487"/>
            <a:ext cx="1018408" cy="966639"/>
          </a:xfrm>
          <a:custGeom>
            <a:rect b="b" l="l" r="r" t="t"/>
            <a:pathLst>
              <a:path extrusionOk="0" h="966639" w="1018408">
                <a:moveTo>
                  <a:pt x="0" y="0"/>
                </a:moveTo>
                <a:lnTo>
                  <a:pt x="1018408" y="0"/>
                </a:lnTo>
                <a:lnTo>
                  <a:pt x="1018408" y="966640"/>
                </a:lnTo>
                <a:lnTo>
                  <a:pt x="0" y="966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 txBox="1"/>
          <p:nvPr/>
        </p:nvSpPr>
        <p:spPr>
          <a:xfrm>
            <a:off x="1478429" y="7039325"/>
            <a:ext cx="7950060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BF3EB"/>
                </a:solidFill>
                <a:latin typeface="Poppins"/>
                <a:ea typeface="Poppins"/>
                <a:cs typeface="Poppins"/>
                <a:sym typeface="Poppins"/>
              </a:rPr>
              <a:t>BAB I. ANALISIS DATA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2386109"/>
            <a:ext cx="9288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DASAR DAN PERHITUNGAN DATA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028700" y="4402277"/>
            <a:ext cx="10831654" cy="252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91" u="none" cap="none" strike="noStrike">
                <a:solidFill>
                  <a:srgbClr val="FFA319"/>
                </a:solidFill>
                <a:latin typeface="Lilita One"/>
                <a:ea typeface="Lilita One"/>
                <a:cs typeface="Lilita One"/>
                <a:sym typeface="Lilita One"/>
              </a:rPr>
              <a:t>PYTHON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102" name="Google Shape;102;p1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2" name="Google Shape;112;p2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2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121" name="Google Shape;121;p2"/>
          <p:cNvGrpSpPr/>
          <p:nvPr/>
        </p:nvGrpSpPr>
        <p:grpSpPr>
          <a:xfrm>
            <a:off x="1028700" y="2819391"/>
            <a:ext cx="3840655" cy="1302743"/>
            <a:chOff x="0" y="-57150"/>
            <a:chExt cx="690899" cy="234352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028700" y="3263229"/>
            <a:ext cx="9212493" cy="2042546"/>
            <a:chOff x="0" y="-57150"/>
            <a:chExt cx="1657243" cy="367435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657243" cy="310285"/>
            </a:xfrm>
            <a:custGeom>
              <a:rect b="b" l="l" r="r" t="t"/>
              <a:pathLst>
                <a:path extrusionOk="0" h="310285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84234"/>
                  </a:lnTo>
                  <a:cubicBezTo>
                    <a:pt x="1657243" y="298622"/>
                    <a:pt x="1645580" y="310285"/>
                    <a:pt x="1631192" y="310285"/>
                  </a:cubicBezTo>
                  <a:lnTo>
                    <a:pt x="26052" y="310285"/>
                  </a:lnTo>
                  <a:cubicBezTo>
                    <a:pt x="11664" y="310285"/>
                    <a:pt x="0" y="298622"/>
                    <a:pt x="0" y="284234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57150"/>
              <a:ext cx="1657243" cy="36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2"/>
          <p:cNvSpPr txBox="1"/>
          <p:nvPr/>
        </p:nvSpPr>
        <p:spPr>
          <a:xfrm>
            <a:off x="1358692" y="4023614"/>
            <a:ext cx="8468039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Bahasa pemrograman yang mudah dipelajari dan banyak digunakan dalam analisis data.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358692" y="3172891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/>
          </a:p>
        </p:txBody>
      </p:sp>
      <p:grpSp>
        <p:nvGrpSpPr>
          <p:cNvPr id="129" name="Google Shape;129;p2"/>
          <p:cNvGrpSpPr/>
          <p:nvPr/>
        </p:nvGrpSpPr>
        <p:grpSpPr>
          <a:xfrm>
            <a:off x="1028700" y="5502433"/>
            <a:ext cx="3840655" cy="1302743"/>
            <a:chOff x="0" y="-57150"/>
            <a:chExt cx="690899" cy="234352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028700" y="5946272"/>
            <a:ext cx="9212493" cy="1290327"/>
            <a:chOff x="0" y="-57150"/>
            <a:chExt cx="1657243" cy="232118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657243" cy="174968"/>
            </a:xfrm>
            <a:custGeom>
              <a:rect b="b" l="l" r="r" t="t"/>
              <a:pathLst>
                <a:path extrusionOk="0" h="174968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148916"/>
                  </a:lnTo>
                  <a:cubicBezTo>
                    <a:pt x="1657243" y="163304"/>
                    <a:pt x="1645580" y="174968"/>
                    <a:pt x="1631192" y="174968"/>
                  </a:cubicBezTo>
                  <a:lnTo>
                    <a:pt x="26052" y="174968"/>
                  </a:lnTo>
                  <a:cubicBezTo>
                    <a:pt x="11664" y="174968"/>
                    <a:pt x="0" y="163304"/>
                    <a:pt x="0" y="148916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57150"/>
              <a:ext cx="1657243" cy="232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2"/>
          <p:cNvSpPr txBox="1"/>
          <p:nvPr/>
        </p:nvSpPr>
        <p:spPr>
          <a:xfrm>
            <a:off x="1358692" y="6511394"/>
            <a:ext cx="8468039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Perintah dalam Python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358692" y="5855933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Statement</a:t>
            </a:r>
            <a:endParaRPr/>
          </a:p>
        </p:txBody>
      </p:sp>
      <p:grpSp>
        <p:nvGrpSpPr>
          <p:cNvPr id="137" name="Google Shape;137;p2"/>
          <p:cNvGrpSpPr/>
          <p:nvPr/>
        </p:nvGrpSpPr>
        <p:grpSpPr>
          <a:xfrm>
            <a:off x="1028700" y="7081458"/>
            <a:ext cx="9212493" cy="1530585"/>
            <a:chOff x="0" y="-57150"/>
            <a:chExt cx="1887313" cy="313562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887313" cy="256412"/>
            </a:xfrm>
            <a:custGeom>
              <a:rect b="b" l="l" r="r" t="t"/>
              <a:pathLst>
                <a:path extrusionOk="0" h="256412" w="1887313">
                  <a:moveTo>
                    <a:pt x="33615" y="0"/>
                  </a:moveTo>
                  <a:lnTo>
                    <a:pt x="1853698" y="0"/>
                  </a:lnTo>
                  <a:cubicBezTo>
                    <a:pt x="1872263" y="0"/>
                    <a:pt x="1887313" y="15050"/>
                    <a:pt x="1887313" y="33615"/>
                  </a:cubicBezTo>
                  <a:lnTo>
                    <a:pt x="1887313" y="222798"/>
                  </a:lnTo>
                  <a:cubicBezTo>
                    <a:pt x="1887313" y="231713"/>
                    <a:pt x="1883771" y="240263"/>
                    <a:pt x="1877468" y="246567"/>
                  </a:cubicBezTo>
                  <a:cubicBezTo>
                    <a:pt x="1871163" y="252871"/>
                    <a:pt x="1862613" y="256412"/>
                    <a:pt x="1853698" y="256412"/>
                  </a:cubicBezTo>
                  <a:lnTo>
                    <a:pt x="33615" y="256412"/>
                  </a:lnTo>
                  <a:cubicBezTo>
                    <a:pt x="15050" y="256412"/>
                    <a:pt x="0" y="241363"/>
                    <a:pt x="0" y="222798"/>
                  </a:cubicBezTo>
                  <a:lnTo>
                    <a:pt x="0" y="33615"/>
                  </a:lnTo>
                  <a:cubicBezTo>
                    <a:pt x="0" y="15050"/>
                    <a:pt x="15050" y="0"/>
                    <a:pt x="33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0" y="-57150"/>
              <a:ext cx="1887313" cy="313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2"/>
          <p:cNvSpPr txBox="1"/>
          <p:nvPr/>
        </p:nvSpPr>
        <p:spPr>
          <a:xfrm>
            <a:off x="1358692" y="7566498"/>
            <a:ext cx="3055025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print("Belajar Python")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146" name="Google Shape;146;p3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3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152" name="Google Shape;152;p3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3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3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157" name="Google Shape;157;p3"/>
          <p:cNvGrpSpPr/>
          <p:nvPr/>
        </p:nvGrpSpPr>
        <p:grpSpPr>
          <a:xfrm>
            <a:off x="1028700" y="1652088"/>
            <a:ext cx="3840655" cy="1302743"/>
            <a:chOff x="0" y="-57150"/>
            <a:chExt cx="690899" cy="234352"/>
          </a:xfrm>
        </p:grpSpPr>
        <p:sp>
          <p:nvSpPr>
            <p:cNvPr id="158" name="Google Shape;158;p3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3"/>
          <p:cNvGrpSpPr/>
          <p:nvPr/>
        </p:nvGrpSpPr>
        <p:grpSpPr>
          <a:xfrm>
            <a:off x="1028700" y="2095926"/>
            <a:ext cx="9212493" cy="1629517"/>
            <a:chOff x="0" y="-57150"/>
            <a:chExt cx="1657243" cy="293135"/>
          </a:xfrm>
        </p:grpSpPr>
        <p:sp>
          <p:nvSpPr>
            <p:cNvPr id="161" name="Google Shape;161;p3"/>
            <p:cNvSpPr/>
            <p:nvPr/>
          </p:nvSpPr>
          <p:spPr>
            <a:xfrm>
              <a:off x="0" y="0"/>
              <a:ext cx="1657243" cy="235985"/>
            </a:xfrm>
            <a:custGeom>
              <a:rect b="b" l="l" r="r" t="t"/>
              <a:pathLst>
                <a:path extrusionOk="0" h="235985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09934"/>
                  </a:lnTo>
                  <a:cubicBezTo>
                    <a:pt x="1657243" y="224321"/>
                    <a:pt x="1645580" y="235985"/>
                    <a:pt x="1631192" y="235985"/>
                  </a:cubicBezTo>
                  <a:lnTo>
                    <a:pt x="26052" y="235985"/>
                  </a:lnTo>
                  <a:cubicBezTo>
                    <a:pt x="11664" y="235985"/>
                    <a:pt x="0" y="224321"/>
                    <a:pt x="0" y="209934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 txBox="1"/>
            <p:nvPr/>
          </p:nvSpPr>
          <p:spPr>
            <a:xfrm>
              <a:off x="0" y="-57150"/>
              <a:ext cx="1657243" cy="29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3"/>
          <p:cNvSpPr txBox="1"/>
          <p:nvPr/>
        </p:nvSpPr>
        <p:spPr>
          <a:xfrm>
            <a:off x="1358692" y="2661048"/>
            <a:ext cx="8468039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proses memberikan nilai ke variabel agar data dapat disimpan dan digunakan kembali dalam program.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1358692" y="2005588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Assignment</a:t>
            </a:r>
            <a:endParaRPr/>
          </a:p>
        </p:txBody>
      </p:sp>
      <p:grpSp>
        <p:nvGrpSpPr>
          <p:cNvPr id="165" name="Google Shape;165;p3"/>
          <p:cNvGrpSpPr/>
          <p:nvPr/>
        </p:nvGrpSpPr>
        <p:grpSpPr>
          <a:xfrm>
            <a:off x="1028700" y="3570303"/>
            <a:ext cx="9212493" cy="1530585"/>
            <a:chOff x="0" y="-57150"/>
            <a:chExt cx="1887313" cy="313562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1887313" cy="256412"/>
            </a:xfrm>
            <a:custGeom>
              <a:rect b="b" l="l" r="r" t="t"/>
              <a:pathLst>
                <a:path extrusionOk="0" h="256412" w="1887313">
                  <a:moveTo>
                    <a:pt x="33615" y="0"/>
                  </a:moveTo>
                  <a:lnTo>
                    <a:pt x="1853698" y="0"/>
                  </a:lnTo>
                  <a:cubicBezTo>
                    <a:pt x="1872263" y="0"/>
                    <a:pt x="1887313" y="15050"/>
                    <a:pt x="1887313" y="33615"/>
                  </a:cubicBezTo>
                  <a:lnTo>
                    <a:pt x="1887313" y="222798"/>
                  </a:lnTo>
                  <a:cubicBezTo>
                    <a:pt x="1887313" y="231713"/>
                    <a:pt x="1883771" y="240263"/>
                    <a:pt x="1877468" y="246567"/>
                  </a:cubicBezTo>
                  <a:cubicBezTo>
                    <a:pt x="1871163" y="252871"/>
                    <a:pt x="1862613" y="256412"/>
                    <a:pt x="1853698" y="256412"/>
                  </a:cubicBezTo>
                  <a:lnTo>
                    <a:pt x="33615" y="256412"/>
                  </a:lnTo>
                  <a:cubicBezTo>
                    <a:pt x="15050" y="256412"/>
                    <a:pt x="0" y="241363"/>
                    <a:pt x="0" y="222798"/>
                  </a:cubicBezTo>
                  <a:lnTo>
                    <a:pt x="0" y="33615"/>
                  </a:lnTo>
                  <a:cubicBezTo>
                    <a:pt x="0" y="15050"/>
                    <a:pt x="15050" y="0"/>
                    <a:pt x="33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57150"/>
              <a:ext cx="1887313" cy="313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3"/>
          <p:cNvSpPr txBox="1"/>
          <p:nvPr/>
        </p:nvSpPr>
        <p:spPr>
          <a:xfrm>
            <a:off x="1358692" y="4055343"/>
            <a:ext cx="1342668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umur = 17</a:t>
            </a:r>
            <a:endParaRPr/>
          </a:p>
        </p:txBody>
      </p:sp>
      <p:grpSp>
        <p:nvGrpSpPr>
          <p:cNvPr id="169" name="Google Shape;169;p3"/>
          <p:cNvGrpSpPr/>
          <p:nvPr/>
        </p:nvGrpSpPr>
        <p:grpSpPr>
          <a:xfrm>
            <a:off x="1028700" y="5396471"/>
            <a:ext cx="9212493" cy="3861829"/>
            <a:chOff x="0" y="-423589"/>
            <a:chExt cx="12283325" cy="5149105"/>
          </a:xfrm>
        </p:grpSpPr>
        <p:grpSp>
          <p:nvGrpSpPr>
            <p:cNvPr id="170" name="Google Shape;170;p3"/>
            <p:cNvGrpSpPr/>
            <p:nvPr/>
          </p:nvGrpSpPr>
          <p:grpSpPr>
            <a:xfrm>
              <a:off x="0" y="-423589"/>
              <a:ext cx="5120873" cy="1736990"/>
              <a:chOff x="0" y="-57150"/>
              <a:chExt cx="690899" cy="234352"/>
            </a:xfrm>
          </p:grpSpPr>
          <p:sp>
            <p:nvSpPr>
              <p:cNvPr id="171" name="Google Shape;171;p3"/>
              <p:cNvSpPr/>
              <p:nvPr/>
            </p:nvSpPr>
            <p:spPr>
              <a:xfrm>
                <a:off x="0" y="0"/>
                <a:ext cx="690899" cy="177202"/>
              </a:xfrm>
              <a:custGeom>
                <a:rect b="b" l="l" r="r" t="t"/>
                <a:pathLst>
                  <a:path extrusionOk="0" h="177202" w="690899">
                    <a:moveTo>
                      <a:pt x="62489" y="0"/>
                    </a:moveTo>
                    <a:lnTo>
                      <a:pt x="628410" y="0"/>
                    </a:lnTo>
                    <a:cubicBezTo>
                      <a:pt x="662921" y="0"/>
                      <a:pt x="690899" y="27977"/>
                      <a:pt x="690899" y="62489"/>
                    </a:cubicBezTo>
                    <a:lnTo>
                      <a:pt x="690899" y="114712"/>
                    </a:lnTo>
                    <a:cubicBezTo>
                      <a:pt x="690899" y="149224"/>
                      <a:pt x="662921" y="177202"/>
                      <a:pt x="628410" y="177202"/>
                    </a:cubicBezTo>
                    <a:lnTo>
                      <a:pt x="62489" y="177202"/>
                    </a:lnTo>
                    <a:cubicBezTo>
                      <a:pt x="27977" y="177202"/>
                      <a:pt x="0" y="149224"/>
                      <a:pt x="0" y="114712"/>
                    </a:cubicBezTo>
                    <a:lnTo>
                      <a:pt x="0" y="62489"/>
                    </a:lnTo>
                    <a:cubicBezTo>
                      <a:pt x="0" y="27977"/>
                      <a:pt x="27977" y="0"/>
                      <a:pt x="62489" y="0"/>
                    </a:cubicBezTo>
                    <a:close/>
                  </a:path>
                </a:pathLst>
              </a:custGeom>
              <a:solidFill>
                <a:srgbClr val="DCE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3"/>
              <p:cNvSpPr txBox="1"/>
              <p:nvPr/>
            </p:nvSpPr>
            <p:spPr>
              <a:xfrm>
                <a:off x="0" y="-57150"/>
                <a:ext cx="690899" cy="2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" name="Google Shape;173;p3"/>
            <p:cNvGrpSpPr/>
            <p:nvPr/>
          </p:nvGrpSpPr>
          <p:grpSpPr>
            <a:xfrm>
              <a:off x="0" y="168195"/>
              <a:ext cx="12283325" cy="2723395"/>
              <a:chOff x="0" y="-57150"/>
              <a:chExt cx="1657243" cy="367435"/>
            </a:xfrm>
          </p:grpSpPr>
          <p:sp>
            <p:nvSpPr>
              <p:cNvPr id="174" name="Google Shape;174;p3"/>
              <p:cNvSpPr/>
              <p:nvPr/>
            </p:nvSpPr>
            <p:spPr>
              <a:xfrm>
                <a:off x="0" y="0"/>
                <a:ext cx="1657243" cy="310285"/>
              </a:xfrm>
              <a:custGeom>
                <a:rect b="b" l="l" r="r" t="t"/>
                <a:pathLst>
                  <a:path extrusionOk="0" h="310285" w="1657243">
                    <a:moveTo>
                      <a:pt x="26052" y="0"/>
                    </a:moveTo>
                    <a:lnTo>
                      <a:pt x="1631192" y="0"/>
                    </a:lnTo>
                    <a:cubicBezTo>
                      <a:pt x="1645580" y="0"/>
                      <a:pt x="1657243" y="11664"/>
                      <a:pt x="1657243" y="26052"/>
                    </a:cubicBezTo>
                    <a:lnTo>
                      <a:pt x="1657243" y="284234"/>
                    </a:lnTo>
                    <a:cubicBezTo>
                      <a:pt x="1657243" y="298622"/>
                      <a:pt x="1645580" y="310285"/>
                      <a:pt x="1631192" y="310285"/>
                    </a:cubicBezTo>
                    <a:lnTo>
                      <a:pt x="26052" y="310285"/>
                    </a:lnTo>
                    <a:cubicBezTo>
                      <a:pt x="11664" y="310285"/>
                      <a:pt x="0" y="298622"/>
                      <a:pt x="0" y="284234"/>
                    </a:cubicBezTo>
                    <a:lnTo>
                      <a:pt x="0" y="26052"/>
                    </a:lnTo>
                    <a:cubicBezTo>
                      <a:pt x="0" y="11664"/>
                      <a:pt x="11664" y="0"/>
                      <a:pt x="26052" y="0"/>
                    </a:cubicBezTo>
                    <a:close/>
                  </a:path>
                </a:pathLst>
              </a:custGeom>
              <a:solidFill>
                <a:srgbClr val="DCE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3"/>
              <p:cNvSpPr txBox="1"/>
              <p:nvPr/>
            </p:nvSpPr>
            <p:spPr>
              <a:xfrm>
                <a:off x="0" y="-57150"/>
                <a:ext cx="1657243" cy="367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r">
                  <a:lnSpc>
                    <a:spcPct val="13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" name="Google Shape;176;p3"/>
            <p:cNvSpPr txBox="1"/>
            <p:nvPr/>
          </p:nvSpPr>
          <p:spPr>
            <a:xfrm>
              <a:off x="439989" y="940741"/>
              <a:ext cx="11290719" cy="1544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Tipe data dalam Python yang digunakan untuk menyimpan teks, huruf, angka, atau simbol yang ditulis di antara tanda petik.</a:t>
              </a:r>
              <a:endParaRPr/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439989" y="79495"/>
              <a:ext cx="5240289" cy="758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1A336B"/>
                  </a:solidFill>
                  <a:latin typeface="Poppins"/>
                  <a:ea typeface="Poppins"/>
                  <a:cs typeface="Poppins"/>
                  <a:sym typeface="Poppins"/>
                </a:rPr>
                <a:t>String</a:t>
              </a:r>
              <a:endParaRPr/>
            </a:p>
          </p:txBody>
        </p:sp>
        <p:grpSp>
          <p:nvGrpSpPr>
            <p:cNvPr id="178" name="Google Shape;178;p3"/>
            <p:cNvGrpSpPr/>
            <p:nvPr/>
          </p:nvGrpSpPr>
          <p:grpSpPr>
            <a:xfrm>
              <a:off x="0" y="2684736"/>
              <a:ext cx="12283325" cy="2040780"/>
              <a:chOff x="0" y="-57150"/>
              <a:chExt cx="1887313" cy="313562"/>
            </a:xfrm>
          </p:grpSpPr>
          <p:sp>
            <p:nvSpPr>
              <p:cNvPr id="179" name="Google Shape;179;p3"/>
              <p:cNvSpPr/>
              <p:nvPr/>
            </p:nvSpPr>
            <p:spPr>
              <a:xfrm>
                <a:off x="0" y="0"/>
                <a:ext cx="1887313" cy="256412"/>
              </a:xfrm>
              <a:custGeom>
                <a:rect b="b" l="l" r="r" t="t"/>
                <a:pathLst>
                  <a:path extrusionOk="0" h="256412" w="1887313">
                    <a:moveTo>
                      <a:pt x="33615" y="0"/>
                    </a:moveTo>
                    <a:lnTo>
                      <a:pt x="1853698" y="0"/>
                    </a:lnTo>
                    <a:cubicBezTo>
                      <a:pt x="1872263" y="0"/>
                      <a:pt x="1887313" y="15050"/>
                      <a:pt x="1887313" y="33615"/>
                    </a:cubicBezTo>
                    <a:lnTo>
                      <a:pt x="1887313" y="222798"/>
                    </a:lnTo>
                    <a:cubicBezTo>
                      <a:pt x="1887313" y="231713"/>
                      <a:pt x="1883771" y="240263"/>
                      <a:pt x="1877468" y="246567"/>
                    </a:cubicBezTo>
                    <a:cubicBezTo>
                      <a:pt x="1871163" y="252871"/>
                      <a:pt x="1862613" y="256412"/>
                      <a:pt x="1853698" y="256412"/>
                    </a:cubicBezTo>
                    <a:lnTo>
                      <a:pt x="33615" y="256412"/>
                    </a:lnTo>
                    <a:cubicBezTo>
                      <a:pt x="15050" y="256412"/>
                      <a:pt x="0" y="241363"/>
                      <a:pt x="0" y="222798"/>
                    </a:cubicBezTo>
                    <a:lnTo>
                      <a:pt x="0" y="33615"/>
                    </a:lnTo>
                    <a:cubicBezTo>
                      <a:pt x="0" y="15050"/>
                      <a:pt x="15050" y="0"/>
                      <a:pt x="33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3"/>
              <p:cNvSpPr txBox="1"/>
              <p:nvPr/>
            </p:nvSpPr>
            <p:spPr>
              <a:xfrm>
                <a:off x="0" y="-57150"/>
                <a:ext cx="1887313" cy="3135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just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1" name="Google Shape;181;p3"/>
            <p:cNvSpPr txBox="1"/>
            <p:nvPr/>
          </p:nvSpPr>
          <p:spPr>
            <a:xfrm>
              <a:off x="439989" y="3350506"/>
              <a:ext cx="2644140" cy="1024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Contoh: </a:t>
              </a:r>
              <a:endParaRPr/>
            </a:p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nama = "Andi"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187" name="Google Shape;187;p4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4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9" name="Google Shape;189;p4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190" name="Google Shape;190;p4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4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193" name="Google Shape;193;p4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4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4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198" name="Google Shape;198;p4"/>
          <p:cNvGrpSpPr/>
          <p:nvPr/>
        </p:nvGrpSpPr>
        <p:grpSpPr>
          <a:xfrm>
            <a:off x="1028700" y="1652088"/>
            <a:ext cx="3840655" cy="1302743"/>
            <a:chOff x="0" y="-57150"/>
            <a:chExt cx="690899" cy="234352"/>
          </a:xfrm>
        </p:grpSpPr>
        <p:sp>
          <p:nvSpPr>
            <p:cNvPr id="199" name="Google Shape;199;p4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4"/>
          <p:cNvGrpSpPr/>
          <p:nvPr/>
        </p:nvGrpSpPr>
        <p:grpSpPr>
          <a:xfrm>
            <a:off x="1028700" y="2095926"/>
            <a:ext cx="9212493" cy="1629517"/>
            <a:chOff x="0" y="-57150"/>
            <a:chExt cx="1657243" cy="293135"/>
          </a:xfrm>
        </p:grpSpPr>
        <p:sp>
          <p:nvSpPr>
            <p:cNvPr id="202" name="Google Shape;202;p4"/>
            <p:cNvSpPr/>
            <p:nvPr/>
          </p:nvSpPr>
          <p:spPr>
            <a:xfrm>
              <a:off x="0" y="0"/>
              <a:ext cx="1657243" cy="235985"/>
            </a:xfrm>
            <a:custGeom>
              <a:rect b="b" l="l" r="r" t="t"/>
              <a:pathLst>
                <a:path extrusionOk="0" h="235985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09934"/>
                  </a:lnTo>
                  <a:cubicBezTo>
                    <a:pt x="1657243" y="224321"/>
                    <a:pt x="1645580" y="235985"/>
                    <a:pt x="1631192" y="235985"/>
                  </a:cubicBezTo>
                  <a:lnTo>
                    <a:pt x="26052" y="235985"/>
                  </a:lnTo>
                  <a:cubicBezTo>
                    <a:pt x="11664" y="235985"/>
                    <a:pt x="0" y="224321"/>
                    <a:pt x="0" y="209934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0" y="-57150"/>
              <a:ext cx="1657243" cy="29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4"/>
          <p:cNvSpPr txBox="1"/>
          <p:nvPr/>
        </p:nvSpPr>
        <p:spPr>
          <a:xfrm>
            <a:off x="1358692" y="2661048"/>
            <a:ext cx="8468039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Kumpulan beberapa data yang disimpan dalam satu variabel secara berurutan.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1358692" y="2005588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Array</a:t>
            </a:r>
            <a:endParaRPr/>
          </a:p>
        </p:txBody>
      </p:sp>
      <p:grpSp>
        <p:nvGrpSpPr>
          <p:cNvPr id="206" name="Google Shape;206;p4"/>
          <p:cNvGrpSpPr/>
          <p:nvPr/>
        </p:nvGrpSpPr>
        <p:grpSpPr>
          <a:xfrm>
            <a:off x="1028700" y="3570303"/>
            <a:ext cx="9212493" cy="1530585"/>
            <a:chOff x="0" y="-57150"/>
            <a:chExt cx="1887313" cy="313562"/>
          </a:xfrm>
        </p:grpSpPr>
        <p:sp>
          <p:nvSpPr>
            <p:cNvPr id="207" name="Google Shape;207;p4"/>
            <p:cNvSpPr/>
            <p:nvPr/>
          </p:nvSpPr>
          <p:spPr>
            <a:xfrm>
              <a:off x="0" y="0"/>
              <a:ext cx="1887313" cy="256412"/>
            </a:xfrm>
            <a:custGeom>
              <a:rect b="b" l="l" r="r" t="t"/>
              <a:pathLst>
                <a:path extrusionOk="0" h="256412" w="1887313">
                  <a:moveTo>
                    <a:pt x="33615" y="0"/>
                  </a:moveTo>
                  <a:lnTo>
                    <a:pt x="1853698" y="0"/>
                  </a:lnTo>
                  <a:cubicBezTo>
                    <a:pt x="1872263" y="0"/>
                    <a:pt x="1887313" y="15050"/>
                    <a:pt x="1887313" y="33615"/>
                  </a:cubicBezTo>
                  <a:lnTo>
                    <a:pt x="1887313" y="222798"/>
                  </a:lnTo>
                  <a:cubicBezTo>
                    <a:pt x="1887313" y="231713"/>
                    <a:pt x="1883771" y="240263"/>
                    <a:pt x="1877468" y="246567"/>
                  </a:cubicBezTo>
                  <a:cubicBezTo>
                    <a:pt x="1871163" y="252871"/>
                    <a:pt x="1862613" y="256412"/>
                    <a:pt x="1853698" y="256412"/>
                  </a:cubicBezTo>
                  <a:lnTo>
                    <a:pt x="33615" y="256412"/>
                  </a:lnTo>
                  <a:cubicBezTo>
                    <a:pt x="15050" y="256412"/>
                    <a:pt x="0" y="241363"/>
                    <a:pt x="0" y="222798"/>
                  </a:cubicBezTo>
                  <a:lnTo>
                    <a:pt x="0" y="33615"/>
                  </a:lnTo>
                  <a:cubicBezTo>
                    <a:pt x="0" y="15050"/>
                    <a:pt x="15050" y="0"/>
                    <a:pt x="33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0" y="-57150"/>
              <a:ext cx="1887313" cy="313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4"/>
          <p:cNvSpPr txBox="1"/>
          <p:nvPr/>
        </p:nvSpPr>
        <p:spPr>
          <a:xfrm>
            <a:off x="1358692" y="4055343"/>
            <a:ext cx="8393264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= [80, 75, 90]</a:t>
            </a:r>
            <a:endParaRPr/>
          </a:p>
        </p:txBody>
      </p:sp>
      <p:grpSp>
        <p:nvGrpSpPr>
          <p:cNvPr id="210" name="Google Shape;210;p4"/>
          <p:cNvGrpSpPr/>
          <p:nvPr/>
        </p:nvGrpSpPr>
        <p:grpSpPr>
          <a:xfrm>
            <a:off x="1028700" y="5396471"/>
            <a:ext cx="3840655" cy="1302743"/>
            <a:chOff x="0" y="-57150"/>
            <a:chExt cx="690899" cy="234352"/>
          </a:xfrm>
        </p:grpSpPr>
        <p:sp>
          <p:nvSpPr>
            <p:cNvPr id="211" name="Google Shape;211;p4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4"/>
          <p:cNvGrpSpPr/>
          <p:nvPr/>
        </p:nvGrpSpPr>
        <p:grpSpPr>
          <a:xfrm>
            <a:off x="1028700" y="5840310"/>
            <a:ext cx="9212493" cy="1661545"/>
            <a:chOff x="0" y="-57150"/>
            <a:chExt cx="1657243" cy="298897"/>
          </a:xfrm>
        </p:grpSpPr>
        <p:sp>
          <p:nvSpPr>
            <p:cNvPr id="214" name="Google Shape;214;p4"/>
            <p:cNvSpPr/>
            <p:nvPr/>
          </p:nvSpPr>
          <p:spPr>
            <a:xfrm>
              <a:off x="0" y="0"/>
              <a:ext cx="1657243" cy="241747"/>
            </a:xfrm>
            <a:custGeom>
              <a:rect b="b" l="l" r="r" t="t"/>
              <a:pathLst>
                <a:path extrusionOk="0" h="241747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15695"/>
                  </a:lnTo>
                  <a:cubicBezTo>
                    <a:pt x="1657243" y="230083"/>
                    <a:pt x="1645580" y="241747"/>
                    <a:pt x="1631192" y="241747"/>
                  </a:cubicBezTo>
                  <a:lnTo>
                    <a:pt x="26052" y="241747"/>
                  </a:lnTo>
                  <a:cubicBezTo>
                    <a:pt x="11664" y="241747"/>
                    <a:pt x="0" y="230083"/>
                    <a:pt x="0" y="215695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 txBox="1"/>
            <p:nvPr/>
          </p:nvSpPr>
          <p:spPr>
            <a:xfrm>
              <a:off x="0" y="-57150"/>
              <a:ext cx="1657243" cy="2988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4"/>
          <p:cNvSpPr txBox="1"/>
          <p:nvPr/>
        </p:nvSpPr>
        <p:spPr>
          <a:xfrm>
            <a:off x="1358692" y="6454278"/>
            <a:ext cx="8468039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Perintah perulangan untuk menjalankan instruksi yang sama beberapa kali secara otomatis.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1358692" y="5749971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Loop</a:t>
            </a:r>
            <a:endParaRPr/>
          </a:p>
        </p:txBody>
      </p:sp>
      <p:grpSp>
        <p:nvGrpSpPr>
          <p:cNvPr id="218" name="Google Shape;218;p4"/>
          <p:cNvGrpSpPr/>
          <p:nvPr/>
        </p:nvGrpSpPr>
        <p:grpSpPr>
          <a:xfrm>
            <a:off x="1028700" y="7346715"/>
            <a:ext cx="9212493" cy="1911585"/>
            <a:chOff x="0" y="-57150"/>
            <a:chExt cx="1887313" cy="391616"/>
          </a:xfrm>
        </p:grpSpPr>
        <p:sp>
          <p:nvSpPr>
            <p:cNvPr id="219" name="Google Shape;219;p4"/>
            <p:cNvSpPr/>
            <p:nvPr/>
          </p:nvSpPr>
          <p:spPr>
            <a:xfrm>
              <a:off x="0" y="0"/>
              <a:ext cx="1887313" cy="334466"/>
            </a:xfrm>
            <a:custGeom>
              <a:rect b="b" l="l" r="r" t="t"/>
              <a:pathLst>
                <a:path extrusionOk="0" h="334466" w="1887313">
                  <a:moveTo>
                    <a:pt x="33615" y="0"/>
                  </a:moveTo>
                  <a:lnTo>
                    <a:pt x="1853698" y="0"/>
                  </a:lnTo>
                  <a:cubicBezTo>
                    <a:pt x="1872263" y="0"/>
                    <a:pt x="1887313" y="15050"/>
                    <a:pt x="1887313" y="33615"/>
                  </a:cubicBezTo>
                  <a:lnTo>
                    <a:pt x="1887313" y="300851"/>
                  </a:lnTo>
                  <a:cubicBezTo>
                    <a:pt x="1887313" y="309766"/>
                    <a:pt x="1883771" y="318316"/>
                    <a:pt x="1877468" y="324620"/>
                  </a:cubicBezTo>
                  <a:cubicBezTo>
                    <a:pt x="1871163" y="330924"/>
                    <a:pt x="1862613" y="334466"/>
                    <a:pt x="1853698" y="334466"/>
                  </a:cubicBezTo>
                  <a:lnTo>
                    <a:pt x="33615" y="334466"/>
                  </a:lnTo>
                  <a:cubicBezTo>
                    <a:pt x="15050" y="334466"/>
                    <a:pt x="0" y="319416"/>
                    <a:pt x="0" y="300851"/>
                  </a:cubicBezTo>
                  <a:lnTo>
                    <a:pt x="0" y="33615"/>
                  </a:lnTo>
                  <a:cubicBezTo>
                    <a:pt x="0" y="15050"/>
                    <a:pt x="15050" y="0"/>
                    <a:pt x="33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0" y="-57150"/>
              <a:ext cx="1887313" cy="391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1358692" y="7826992"/>
            <a:ext cx="1983105" cy="117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i in nilai: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print(i)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227" name="Google Shape;227;p5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5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5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230" name="Google Shape;230;p5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5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233" name="Google Shape;233;p5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5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5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238" name="Google Shape;238;p5"/>
          <p:cNvGrpSpPr/>
          <p:nvPr/>
        </p:nvGrpSpPr>
        <p:grpSpPr>
          <a:xfrm>
            <a:off x="1028700" y="1652088"/>
            <a:ext cx="3840655" cy="1302743"/>
            <a:chOff x="0" y="-57150"/>
            <a:chExt cx="690899" cy="234352"/>
          </a:xfrm>
        </p:grpSpPr>
        <p:sp>
          <p:nvSpPr>
            <p:cNvPr id="239" name="Google Shape;239;p5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5"/>
          <p:cNvGrpSpPr/>
          <p:nvPr/>
        </p:nvGrpSpPr>
        <p:grpSpPr>
          <a:xfrm>
            <a:off x="1028700" y="2095926"/>
            <a:ext cx="9212493" cy="1629517"/>
            <a:chOff x="0" y="-57150"/>
            <a:chExt cx="1657243" cy="293135"/>
          </a:xfrm>
        </p:grpSpPr>
        <p:sp>
          <p:nvSpPr>
            <p:cNvPr id="242" name="Google Shape;242;p5"/>
            <p:cNvSpPr/>
            <p:nvPr/>
          </p:nvSpPr>
          <p:spPr>
            <a:xfrm>
              <a:off x="0" y="0"/>
              <a:ext cx="1657243" cy="235985"/>
            </a:xfrm>
            <a:custGeom>
              <a:rect b="b" l="l" r="r" t="t"/>
              <a:pathLst>
                <a:path extrusionOk="0" h="235985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09934"/>
                  </a:lnTo>
                  <a:cubicBezTo>
                    <a:pt x="1657243" y="224321"/>
                    <a:pt x="1645580" y="235985"/>
                    <a:pt x="1631192" y="235985"/>
                  </a:cubicBezTo>
                  <a:lnTo>
                    <a:pt x="26052" y="235985"/>
                  </a:lnTo>
                  <a:cubicBezTo>
                    <a:pt x="11664" y="235985"/>
                    <a:pt x="0" y="224321"/>
                    <a:pt x="0" y="209934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 txBox="1"/>
            <p:nvPr/>
          </p:nvSpPr>
          <p:spPr>
            <a:xfrm>
              <a:off x="0" y="-57150"/>
              <a:ext cx="1657243" cy="29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5"/>
          <p:cNvSpPr txBox="1"/>
          <p:nvPr/>
        </p:nvSpPr>
        <p:spPr>
          <a:xfrm>
            <a:off x="1358692" y="2661048"/>
            <a:ext cx="8468039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Struktur untuk menangani kesalahan agar program tetap berjalan saat terjadi error.</a:t>
            </a:r>
            <a:endParaRPr/>
          </a:p>
        </p:txBody>
      </p:sp>
      <p:sp>
        <p:nvSpPr>
          <p:cNvPr id="245" name="Google Shape;245;p5"/>
          <p:cNvSpPr txBox="1"/>
          <p:nvPr/>
        </p:nvSpPr>
        <p:spPr>
          <a:xfrm>
            <a:off x="1358692" y="2005588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Try-Except</a:t>
            </a:r>
            <a:endParaRPr/>
          </a:p>
        </p:txBody>
      </p:sp>
      <p:grpSp>
        <p:nvGrpSpPr>
          <p:cNvPr id="246" name="Google Shape;246;p5"/>
          <p:cNvGrpSpPr/>
          <p:nvPr/>
        </p:nvGrpSpPr>
        <p:grpSpPr>
          <a:xfrm>
            <a:off x="1028700" y="3570303"/>
            <a:ext cx="9212493" cy="2605741"/>
            <a:chOff x="0" y="-57150"/>
            <a:chExt cx="1887313" cy="533824"/>
          </a:xfrm>
        </p:grpSpPr>
        <p:sp>
          <p:nvSpPr>
            <p:cNvPr id="247" name="Google Shape;247;p5"/>
            <p:cNvSpPr/>
            <p:nvPr/>
          </p:nvSpPr>
          <p:spPr>
            <a:xfrm>
              <a:off x="0" y="0"/>
              <a:ext cx="1887313" cy="476674"/>
            </a:xfrm>
            <a:custGeom>
              <a:rect b="b" l="l" r="r" t="t"/>
              <a:pathLst>
                <a:path extrusionOk="0" h="476674" w="1887313">
                  <a:moveTo>
                    <a:pt x="33615" y="0"/>
                  </a:moveTo>
                  <a:lnTo>
                    <a:pt x="1853698" y="0"/>
                  </a:lnTo>
                  <a:cubicBezTo>
                    <a:pt x="1872263" y="0"/>
                    <a:pt x="1887313" y="15050"/>
                    <a:pt x="1887313" y="33615"/>
                  </a:cubicBezTo>
                  <a:lnTo>
                    <a:pt x="1887313" y="443059"/>
                  </a:lnTo>
                  <a:cubicBezTo>
                    <a:pt x="1887313" y="451974"/>
                    <a:pt x="1883771" y="460524"/>
                    <a:pt x="1877468" y="466828"/>
                  </a:cubicBezTo>
                  <a:cubicBezTo>
                    <a:pt x="1871163" y="473132"/>
                    <a:pt x="1862613" y="476674"/>
                    <a:pt x="1853698" y="476674"/>
                  </a:cubicBezTo>
                  <a:lnTo>
                    <a:pt x="33615" y="476674"/>
                  </a:lnTo>
                  <a:cubicBezTo>
                    <a:pt x="15050" y="476674"/>
                    <a:pt x="0" y="461624"/>
                    <a:pt x="0" y="443059"/>
                  </a:cubicBezTo>
                  <a:lnTo>
                    <a:pt x="0" y="33615"/>
                  </a:lnTo>
                  <a:cubicBezTo>
                    <a:pt x="0" y="15050"/>
                    <a:pt x="15050" y="0"/>
                    <a:pt x="33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 txBox="1"/>
            <p:nvPr/>
          </p:nvSpPr>
          <p:spPr>
            <a:xfrm>
              <a:off x="0" y="-57150"/>
              <a:ext cx="1887313" cy="533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5"/>
          <p:cNvSpPr txBox="1"/>
          <p:nvPr/>
        </p:nvSpPr>
        <p:spPr>
          <a:xfrm>
            <a:off x="1358692" y="4007134"/>
            <a:ext cx="8393264" cy="1953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try: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print(10/0)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except: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print("Error")</a:t>
            </a:r>
            <a:endParaRPr/>
          </a:p>
        </p:txBody>
      </p:sp>
      <p:grpSp>
        <p:nvGrpSpPr>
          <p:cNvPr id="250" name="Google Shape;250;p5"/>
          <p:cNvGrpSpPr/>
          <p:nvPr/>
        </p:nvGrpSpPr>
        <p:grpSpPr>
          <a:xfrm>
            <a:off x="1028700" y="6201252"/>
            <a:ext cx="3840655" cy="1302743"/>
            <a:chOff x="0" y="-57150"/>
            <a:chExt cx="690899" cy="234352"/>
          </a:xfrm>
        </p:grpSpPr>
        <p:sp>
          <p:nvSpPr>
            <p:cNvPr id="251" name="Google Shape;251;p5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5"/>
          <p:cNvGrpSpPr/>
          <p:nvPr/>
        </p:nvGrpSpPr>
        <p:grpSpPr>
          <a:xfrm>
            <a:off x="1028700" y="6645092"/>
            <a:ext cx="9212493" cy="2041985"/>
            <a:chOff x="0" y="-57150"/>
            <a:chExt cx="1657243" cy="367335"/>
          </a:xfrm>
        </p:grpSpPr>
        <p:sp>
          <p:nvSpPr>
            <p:cNvPr id="254" name="Google Shape;254;p5"/>
            <p:cNvSpPr/>
            <p:nvPr/>
          </p:nvSpPr>
          <p:spPr>
            <a:xfrm>
              <a:off x="0" y="0"/>
              <a:ext cx="1657243" cy="310185"/>
            </a:xfrm>
            <a:custGeom>
              <a:rect b="b" l="l" r="r" t="t"/>
              <a:pathLst>
                <a:path extrusionOk="0" h="310185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84133"/>
                  </a:lnTo>
                  <a:cubicBezTo>
                    <a:pt x="1657243" y="298521"/>
                    <a:pt x="1645580" y="310185"/>
                    <a:pt x="1631192" y="310185"/>
                  </a:cubicBezTo>
                  <a:lnTo>
                    <a:pt x="26052" y="310185"/>
                  </a:lnTo>
                  <a:cubicBezTo>
                    <a:pt x="11664" y="310185"/>
                    <a:pt x="0" y="298521"/>
                    <a:pt x="0" y="284133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 txBox="1"/>
            <p:nvPr/>
          </p:nvSpPr>
          <p:spPr>
            <a:xfrm>
              <a:off x="0" y="-57150"/>
              <a:ext cx="1657243" cy="3673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5"/>
          <p:cNvSpPr txBox="1"/>
          <p:nvPr/>
        </p:nvSpPr>
        <p:spPr>
          <a:xfrm>
            <a:off x="1358692" y="7213883"/>
            <a:ext cx="8468039" cy="117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Kumpulan fungsi siap pakai yang membantu mempermudah pembuatan program dalam Python. Contoh: Pandas, NumPy, Matplotlib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1358692" y="6554753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Library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e5b370310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263" name="Google Shape;263;g3de5b370310_0_0"/>
          <p:cNvGrpSpPr/>
          <p:nvPr/>
        </p:nvGrpSpPr>
        <p:grpSpPr>
          <a:xfrm>
            <a:off x="320864" y="-825257"/>
            <a:ext cx="17646132" cy="1339921"/>
            <a:chOff x="0" y="-57150"/>
            <a:chExt cx="3243655" cy="246300"/>
          </a:xfrm>
        </p:grpSpPr>
        <p:sp>
          <p:nvSpPr>
            <p:cNvPr id="264" name="Google Shape;264;g3de5b370310_0_0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g3de5b370310_0_0"/>
            <p:cNvSpPr txBox="1"/>
            <p:nvPr/>
          </p:nvSpPr>
          <p:spPr>
            <a:xfrm>
              <a:off x="0" y="-57150"/>
              <a:ext cx="3243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g3de5b370310_0_0"/>
          <p:cNvGrpSpPr/>
          <p:nvPr/>
        </p:nvGrpSpPr>
        <p:grpSpPr>
          <a:xfrm>
            <a:off x="-1534198" y="9451642"/>
            <a:ext cx="21264877" cy="1349738"/>
            <a:chOff x="0" y="-57150"/>
            <a:chExt cx="3908841" cy="248100"/>
          </a:xfrm>
        </p:grpSpPr>
        <p:sp>
          <p:nvSpPr>
            <p:cNvPr id="267" name="Google Shape;267;g3de5b370310_0_0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g3de5b370310_0_0"/>
            <p:cNvSpPr txBox="1"/>
            <p:nvPr/>
          </p:nvSpPr>
          <p:spPr>
            <a:xfrm>
              <a:off x="0" y="-57150"/>
              <a:ext cx="39087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de5b370310_0_0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g3de5b370310_0_0"/>
          <p:cNvSpPr txBox="1"/>
          <p:nvPr/>
        </p:nvSpPr>
        <p:spPr>
          <a:xfrm>
            <a:off x="1028700" y="971550"/>
            <a:ext cx="431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sp>
        <p:nvSpPr>
          <p:cNvPr id="271" name="Google Shape;271;g3de5b370310_0_0"/>
          <p:cNvSpPr/>
          <p:nvPr/>
        </p:nvSpPr>
        <p:spPr>
          <a:xfrm>
            <a:off x="1028700" y="4092250"/>
            <a:ext cx="8029342" cy="2221209"/>
          </a:xfrm>
          <a:custGeom>
            <a:rect b="b" l="l" r="r" t="t"/>
            <a:pathLst>
              <a:path extrusionOk="0" h="235985" w="1657243">
                <a:moveTo>
                  <a:pt x="26052" y="0"/>
                </a:moveTo>
                <a:lnTo>
                  <a:pt x="1631192" y="0"/>
                </a:lnTo>
                <a:cubicBezTo>
                  <a:pt x="1645580" y="0"/>
                  <a:pt x="1657243" y="11664"/>
                  <a:pt x="1657243" y="26052"/>
                </a:cubicBezTo>
                <a:lnTo>
                  <a:pt x="1657243" y="209934"/>
                </a:lnTo>
                <a:cubicBezTo>
                  <a:pt x="1657243" y="224321"/>
                  <a:pt x="1645580" y="235985"/>
                  <a:pt x="1631192" y="235985"/>
                </a:cubicBezTo>
                <a:lnTo>
                  <a:pt x="26052" y="235985"/>
                </a:lnTo>
                <a:cubicBezTo>
                  <a:pt x="11664" y="235985"/>
                  <a:pt x="0" y="224321"/>
                  <a:pt x="0" y="209934"/>
                </a:cubicBezTo>
                <a:lnTo>
                  <a:pt x="0" y="26052"/>
                </a:lnTo>
                <a:cubicBezTo>
                  <a:pt x="0" y="11664"/>
                  <a:pt x="11664" y="0"/>
                  <a:pt x="26052" y="0"/>
                </a:cubicBezTo>
                <a:close/>
              </a:path>
            </a:pathLst>
          </a:custGeom>
          <a:solidFill>
            <a:srgbClr val="DCE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de5b370310_0_0"/>
          <p:cNvSpPr txBox="1"/>
          <p:nvPr/>
        </p:nvSpPr>
        <p:spPr>
          <a:xfrm>
            <a:off x="3159281" y="4356429"/>
            <a:ext cx="393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Built-In Functions</a:t>
            </a:r>
            <a:endParaRPr/>
          </a:p>
        </p:txBody>
      </p:sp>
      <p:sp>
        <p:nvSpPr>
          <p:cNvPr id="273" name="Google Shape;273;g3de5b370310_0_0"/>
          <p:cNvSpPr txBox="1"/>
          <p:nvPr/>
        </p:nvSpPr>
        <p:spPr>
          <a:xfrm>
            <a:off x="1478024" y="5055950"/>
            <a:ext cx="713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fungsi yang selalu tersedia dan langsung dapat digunakan tanpa perlu mengimpor modul tambahan.</a:t>
            </a:r>
            <a:endParaRPr/>
          </a:p>
        </p:txBody>
      </p:sp>
      <p:sp>
        <p:nvSpPr>
          <p:cNvPr id="274" name="Google Shape;274;g3de5b370310_0_0"/>
          <p:cNvSpPr/>
          <p:nvPr/>
        </p:nvSpPr>
        <p:spPr>
          <a:xfrm>
            <a:off x="9371350" y="657549"/>
            <a:ext cx="8592805" cy="8793981"/>
          </a:xfrm>
          <a:custGeom>
            <a:rect b="b" l="l" r="r" t="t"/>
            <a:pathLst>
              <a:path extrusionOk="0" h="235985" w="1657243">
                <a:moveTo>
                  <a:pt x="26052" y="0"/>
                </a:moveTo>
                <a:lnTo>
                  <a:pt x="1631192" y="0"/>
                </a:lnTo>
                <a:cubicBezTo>
                  <a:pt x="1645580" y="0"/>
                  <a:pt x="1657243" y="11664"/>
                  <a:pt x="1657243" y="26052"/>
                </a:cubicBezTo>
                <a:lnTo>
                  <a:pt x="1657243" y="209934"/>
                </a:lnTo>
                <a:cubicBezTo>
                  <a:pt x="1657243" y="224321"/>
                  <a:pt x="1645580" y="235985"/>
                  <a:pt x="1631192" y="235985"/>
                </a:cubicBezTo>
                <a:lnTo>
                  <a:pt x="26052" y="235985"/>
                </a:lnTo>
                <a:cubicBezTo>
                  <a:pt x="11664" y="235985"/>
                  <a:pt x="0" y="224321"/>
                  <a:pt x="0" y="209934"/>
                </a:cubicBezTo>
                <a:lnTo>
                  <a:pt x="0" y="26052"/>
                </a:lnTo>
                <a:cubicBezTo>
                  <a:pt x="0" y="11664"/>
                  <a:pt x="11664" y="0"/>
                  <a:pt x="26052" y="0"/>
                </a:cubicBezTo>
                <a:close/>
              </a:path>
            </a:pathLst>
          </a:custGeom>
          <a:solidFill>
            <a:srgbClr val="DCE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g3de5b370310_0_0"/>
          <p:cNvGraphicFramePr/>
          <p:nvPr/>
        </p:nvGraphicFramePr>
        <p:xfrm>
          <a:off x="10032663" y="839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{92277751-1D82-4CED-96EE-161D609E1B25}</a:tableStyleId>
              </a:tblPr>
              <a:tblGrid>
                <a:gridCol w="468675"/>
                <a:gridCol w="1703225"/>
                <a:gridCol w="5098275"/>
              </a:tblGrid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Built-In Functions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Kegunaan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type(obj)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Mengecek tipe data (apakah </a:t>
                      </a:r>
                      <a:r>
                        <a:rPr i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</a:t>
                      </a: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i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dictionary</a:t>
                      </a: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atau </a:t>
                      </a:r>
                      <a:r>
                        <a:rPr i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len(obj)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Menghitung jumlah entri data atau panjang karakter.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745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id(obj)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Mendapatkan identitas unik objek (berguna untuk mengecek apakah dua variabel merujuk ke data yang sama).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745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dir(obj)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Menampilkan daftar semua metode yang bisa dilakukan pada objek tersebut.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int(x)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Mengubah data menjadi bilangan bulat.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float(x)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Mengubah data menjadi bilangan desimal.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745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str(x)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Mengubah data menjadi teks (sering digunakan untuk menggabungkan angka ke dalam laporan teks).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745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list(iterable)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Mengubah struktur data (seperti tuple atau range) menjadi list agar bisa dimodifikasi.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set(iterable)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Mengambil nilai unik dari sekumpulan data (menghapus duplikat).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sum(iterable)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Menjumlahkan seluruh angka dalam satu kolom/list.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max(iterable)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Menemukan nilai tertinggi dalam dataset.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min(iterable)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Menemukan nilai terendah dalam dataset.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abs(x)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Menghitung nilai absolut (menghilangkan tanda negatif).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round(x, n)	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Membulatkan angka desimal ke digit tertentu.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pow(x, y)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Menghitung pangkat ($x^y$).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281" name="Google Shape;281;p6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6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3" name="Google Shape;283;p6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284" name="Google Shape;284;p6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6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287" name="Google Shape;287;p6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6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6"/>
          <p:cNvSpPr txBox="1"/>
          <p:nvPr/>
        </p:nvSpPr>
        <p:spPr>
          <a:xfrm>
            <a:off x="1028700" y="2610078"/>
            <a:ext cx="987886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PERHITUNGAN DATA</a:t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6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1028700" y="971550"/>
            <a:ext cx="4316244" cy="391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293" name="Google Shape;293;p6"/>
          <p:cNvGrpSpPr/>
          <p:nvPr/>
        </p:nvGrpSpPr>
        <p:grpSpPr>
          <a:xfrm>
            <a:off x="1028700" y="4825808"/>
            <a:ext cx="9212493" cy="2486384"/>
            <a:chOff x="0" y="-423589"/>
            <a:chExt cx="12283325" cy="3315179"/>
          </a:xfrm>
        </p:grpSpPr>
        <p:grpSp>
          <p:nvGrpSpPr>
            <p:cNvPr id="294" name="Google Shape;294;p6"/>
            <p:cNvGrpSpPr/>
            <p:nvPr/>
          </p:nvGrpSpPr>
          <p:grpSpPr>
            <a:xfrm>
              <a:off x="0" y="-423589"/>
              <a:ext cx="5120873" cy="1736990"/>
              <a:chOff x="0" y="-57150"/>
              <a:chExt cx="690899" cy="234352"/>
            </a:xfrm>
          </p:grpSpPr>
          <p:sp>
            <p:nvSpPr>
              <p:cNvPr id="295" name="Google Shape;295;p6"/>
              <p:cNvSpPr/>
              <p:nvPr/>
            </p:nvSpPr>
            <p:spPr>
              <a:xfrm>
                <a:off x="0" y="0"/>
                <a:ext cx="690899" cy="177202"/>
              </a:xfrm>
              <a:custGeom>
                <a:rect b="b" l="l" r="r" t="t"/>
                <a:pathLst>
                  <a:path extrusionOk="0" h="177202" w="690899">
                    <a:moveTo>
                      <a:pt x="62489" y="0"/>
                    </a:moveTo>
                    <a:lnTo>
                      <a:pt x="628410" y="0"/>
                    </a:lnTo>
                    <a:cubicBezTo>
                      <a:pt x="662921" y="0"/>
                      <a:pt x="690899" y="27977"/>
                      <a:pt x="690899" y="62489"/>
                    </a:cubicBezTo>
                    <a:lnTo>
                      <a:pt x="690899" y="114712"/>
                    </a:lnTo>
                    <a:cubicBezTo>
                      <a:pt x="690899" y="149224"/>
                      <a:pt x="662921" y="177202"/>
                      <a:pt x="628410" y="177202"/>
                    </a:cubicBezTo>
                    <a:lnTo>
                      <a:pt x="62489" y="177202"/>
                    </a:lnTo>
                    <a:cubicBezTo>
                      <a:pt x="27977" y="177202"/>
                      <a:pt x="0" y="149224"/>
                      <a:pt x="0" y="114712"/>
                    </a:cubicBezTo>
                    <a:lnTo>
                      <a:pt x="0" y="62489"/>
                    </a:lnTo>
                    <a:cubicBezTo>
                      <a:pt x="0" y="27977"/>
                      <a:pt x="27977" y="0"/>
                      <a:pt x="62489" y="0"/>
                    </a:cubicBezTo>
                    <a:close/>
                  </a:path>
                </a:pathLst>
              </a:custGeom>
              <a:solidFill>
                <a:srgbClr val="DCE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 txBox="1"/>
              <p:nvPr/>
            </p:nvSpPr>
            <p:spPr>
              <a:xfrm>
                <a:off x="0" y="-57150"/>
                <a:ext cx="690899" cy="2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6"/>
            <p:cNvGrpSpPr/>
            <p:nvPr/>
          </p:nvGrpSpPr>
          <p:grpSpPr>
            <a:xfrm>
              <a:off x="0" y="168195"/>
              <a:ext cx="12283325" cy="2723395"/>
              <a:chOff x="0" y="-57150"/>
              <a:chExt cx="1657243" cy="367435"/>
            </a:xfrm>
          </p:grpSpPr>
          <p:sp>
            <p:nvSpPr>
              <p:cNvPr id="298" name="Google Shape;298;p6"/>
              <p:cNvSpPr/>
              <p:nvPr/>
            </p:nvSpPr>
            <p:spPr>
              <a:xfrm>
                <a:off x="0" y="0"/>
                <a:ext cx="1657243" cy="310285"/>
              </a:xfrm>
              <a:custGeom>
                <a:rect b="b" l="l" r="r" t="t"/>
                <a:pathLst>
                  <a:path extrusionOk="0" h="310285" w="1657243">
                    <a:moveTo>
                      <a:pt x="26052" y="0"/>
                    </a:moveTo>
                    <a:lnTo>
                      <a:pt x="1631192" y="0"/>
                    </a:lnTo>
                    <a:cubicBezTo>
                      <a:pt x="1645580" y="0"/>
                      <a:pt x="1657243" y="11664"/>
                      <a:pt x="1657243" y="26052"/>
                    </a:cubicBezTo>
                    <a:lnTo>
                      <a:pt x="1657243" y="284234"/>
                    </a:lnTo>
                    <a:cubicBezTo>
                      <a:pt x="1657243" y="298622"/>
                      <a:pt x="1645580" y="310285"/>
                      <a:pt x="1631192" y="310285"/>
                    </a:cubicBezTo>
                    <a:lnTo>
                      <a:pt x="26052" y="310285"/>
                    </a:lnTo>
                    <a:cubicBezTo>
                      <a:pt x="11664" y="310285"/>
                      <a:pt x="0" y="298622"/>
                      <a:pt x="0" y="284234"/>
                    </a:cubicBezTo>
                    <a:lnTo>
                      <a:pt x="0" y="26052"/>
                    </a:lnTo>
                    <a:cubicBezTo>
                      <a:pt x="0" y="11664"/>
                      <a:pt x="11664" y="0"/>
                      <a:pt x="26052" y="0"/>
                    </a:cubicBezTo>
                    <a:close/>
                  </a:path>
                </a:pathLst>
              </a:custGeom>
              <a:solidFill>
                <a:srgbClr val="DCE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6"/>
              <p:cNvSpPr txBox="1"/>
              <p:nvPr/>
            </p:nvSpPr>
            <p:spPr>
              <a:xfrm>
                <a:off x="0" y="-57150"/>
                <a:ext cx="1657243" cy="367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r">
                  <a:lnSpc>
                    <a:spcPct val="13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0" name="Google Shape;300;p6"/>
            <p:cNvSpPr txBox="1"/>
            <p:nvPr/>
          </p:nvSpPr>
          <p:spPr>
            <a:xfrm>
              <a:off x="351478" y="997891"/>
              <a:ext cx="11290719" cy="1024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Proses mengolah data yang sudah dikumpulkan agar menjadi informasi yang lebih jelas dan mudah dipahami.</a:t>
              </a:r>
              <a:endParaRPr/>
            </a:p>
          </p:txBody>
        </p:sp>
        <p:sp>
          <p:nvSpPr>
            <p:cNvPr id="301" name="Google Shape;301;p6"/>
            <p:cNvSpPr txBox="1"/>
            <p:nvPr/>
          </p:nvSpPr>
          <p:spPr>
            <a:xfrm>
              <a:off x="439989" y="79495"/>
              <a:ext cx="5240289" cy="758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1A336B"/>
                  </a:solidFill>
                  <a:latin typeface="Poppins"/>
                  <a:ea typeface="Poppins"/>
                  <a:cs typeface="Poppins"/>
                  <a:sym typeface="Poppins"/>
                </a:rPr>
                <a:t>Pengertian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307" name="Google Shape;307;p7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7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7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7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317" name="Google Shape;317;p7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318" name="Google Shape;318;p7"/>
          <p:cNvGrpSpPr/>
          <p:nvPr/>
        </p:nvGrpSpPr>
        <p:grpSpPr>
          <a:xfrm>
            <a:off x="1028700" y="2819391"/>
            <a:ext cx="3840655" cy="1302743"/>
            <a:chOff x="0" y="-57150"/>
            <a:chExt cx="690899" cy="234352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1028700" y="3263229"/>
            <a:ext cx="9212493" cy="2042546"/>
            <a:chOff x="0" y="-57150"/>
            <a:chExt cx="1657243" cy="367435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657243" cy="310285"/>
            </a:xfrm>
            <a:custGeom>
              <a:rect b="b" l="l" r="r" t="t"/>
              <a:pathLst>
                <a:path extrusionOk="0" h="310285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84234"/>
                  </a:lnTo>
                  <a:cubicBezTo>
                    <a:pt x="1657243" y="298622"/>
                    <a:pt x="1645580" y="310285"/>
                    <a:pt x="1631192" y="310285"/>
                  </a:cubicBezTo>
                  <a:lnTo>
                    <a:pt x="26052" y="310285"/>
                  </a:lnTo>
                  <a:cubicBezTo>
                    <a:pt x="11664" y="310285"/>
                    <a:pt x="0" y="298622"/>
                    <a:pt x="0" y="284234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57150"/>
              <a:ext cx="1657243" cy="36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7"/>
          <p:cNvSpPr txBox="1"/>
          <p:nvPr/>
        </p:nvSpPr>
        <p:spPr>
          <a:xfrm>
            <a:off x="1358692" y="4023614"/>
            <a:ext cx="8468039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kumpulan data yang dikumpulkan menjadi satu untuk dianalisis (misalnya tabel, daftar, atau file).</a:t>
            </a:r>
            <a:endParaRPr/>
          </a:p>
        </p:txBody>
      </p:sp>
      <p:sp>
        <p:nvSpPr>
          <p:cNvPr id="325" name="Google Shape;325;p7"/>
          <p:cNvSpPr txBox="1"/>
          <p:nvPr/>
        </p:nvSpPr>
        <p:spPr>
          <a:xfrm>
            <a:off x="1358692" y="3172891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Dataset</a:t>
            </a:r>
            <a:endParaRPr/>
          </a:p>
        </p:txBody>
      </p:sp>
      <p:grpSp>
        <p:nvGrpSpPr>
          <p:cNvPr id="326" name="Google Shape;326;p7"/>
          <p:cNvGrpSpPr/>
          <p:nvPr/>
        </p:nvGrpSpPr>
        <p:grpSpPr>
          <a:xfrm>
            <a:off x="1028700" y="5502433"/>
            <a:ext cx="3840655" cy="1302743"/>
            <a:chOff x="0" y="-57150"/>
            <a:chExt cx="690899" cy="234352"/>
          </a:xfrm>
        </p:grpSpPr>
        <p:sp>
          <p:nvSpPr>
            <p:cNvPr id="327" name="Google Shape;327;p7"/>
            <p:cNvSpPr/>
            <p:nvPr/>
          </p:nvSpPr>
          <p:spPr>
            <a:xfrm>
              <a:off x="0" y="0"/>
              <a:ext cx="690899" cy="177202"/>
            </a:xfrm>
            <a:custGeom>
              <a:rect b="b" l="l" r="r" t="t"/>
              <a:pathLst>
                <a:path extrusionOk="0" h="177202" w="690899">
                  <a:moveTo>
                    <a:pt x="62489" y="0"/>
                  </a:moveTo>
                  <a:lnTo>
                    <a:pt x="628410" y="0"/>
                  </a:lnTo>
                  <a:cubicBezTo>
                    <a:pt x="662921" y="0"/>
                    <a:pt x="690899" y="27977"/>
                    <a:pt x="690899" y="62489"/>
                  </a:cubicBezTo>
                  <a:lnTo>
                    <a:pt x="690899" y="114712"/>
                  </a:lnTo>
                  <a:cubicBezTo>
                    <a:pt x="690899" y="149224"/>
                    <a:pt x="662921" y="177202"/>
                    <a:pt x="628410" y="177202"/>
                  </a:cubicBezTo>
                  <a:lnTo>
                    <a:pt x="62489" y="177202"/>
                  </a:lnTo>
                  <a:cubicBezTo>
                    <a:pt x="27977" y="177202"/>
                    <a:pt x="0" y="149224"/>
                    <a:pt x="0" y="114712"/>
                  </a:cubicBezTo>
                  <a:lnTo>
                    <a:pt x="0" y="62489"/>
                  </a:lnTo>
                  <a:cubicBezTo>
                    <a:pt x="0" y="27977"/>
                    <a:pt x="27977" y="0"/>
                    <a:pt x="62489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7"/>
            <p:cNvSpPr txBox="1"/>
            <p:nvPr/>
          </p:nvSpPr>
          <p:spPr>
            <a:xfrm>
              <a:off x="0" y="-57150"/>
              <a:ext cx="690899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7"/>
          <p:cNvGrpSpPr/>
          <p:nvPr/>
        </p:nvGrpSpPr>
        <p:grpSpPr>
          <a:xfrm>
            <a:off x="1028700" y="5946272"/>
            <a:ext cx="9212493" cy="2042546"/>
            <a:chOff x="0" y="-57150"/>
            <a:chExt cx="1657243" cy="367435"/>
          </a:xfrm>
        </p:grpSpPr>
        <p:sp>
          <p:nvSpPr>
            <p:cNvPr id="330" name="Google Shape;330;p7"/>
            <p:cNvSpPr/>
            <p:nvPr/>
          </p:nvSpPr>
          <p:spPr>
            <a:xfrm>
              <a:off x="0" y="0"/>
              <a:ext cx="1657243" cy="310285"/>
            </a:xfrm>
            <a:custGeom>
              <a:rect b="b" l="l" r="r" t="t"/>
              <a:pathLst>
                <a:path extrusionOk="0" h="310285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284234"/>
                  </a:lnTo>
                  <a:cubicBezTo>
                    <a:pt x="1657243" y="298622"/>
                    <a:pt x="1645580" y="310285"/>
                    <a:pt x="1631192" y="310285"/>
                  </a:cubicBezTo>
                  <a:lnTo>
                    <a:pt x="26052" y="310285"/>
                  </a:lnTo>
                  <a:cubicBezTo>
                    <a:pt x="11664" y="310285"/>
                    <a:pt x="0" y="298622"/>
                    <a:pt x="0" y="284234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7"/>
            <p:cNvSpPr txBox="1"/>
            <p:nvPr/>
          </p:nvSpPr>
          <p:spPr>
            <a:xfrm>
              <a:off x="0" y="-57150"/>
              <a:ext cx="1657243" cy="36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7"/>
          <p:cNvSpPr txBox="1"/>
          <p:nvPr/>
        </p:nvSpPr>
        <p:spPr>
          <a:xfrm>
            <a:off x="1358692" y="6511394"/>
            <a:ext cx="8468039" cy="1172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yang datanya disusun berdasarkan waktu.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suhu harian, penjualan per hari, pengunjung per minggu.</a:t>
            </a:r>
            <a:endParaRPr/>
          </a:p>
        </p:txBody>
      </p:sp>
      <p:sp>
        <p:nvSpPr>
          <p:cNvPr id="333" name="Google Shape;333;p7"/>
          <p:cNvSpPr txBox="1"/>
          <p:nvPr/>
        </p:nvSpPr>
        <p:spPr>
          <a:xfrm>
            <a:off x="1358692" y="5855933"/>
            <a:ext cx="3930217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Time Series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339" name="Google Shape;339;p8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8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1" name="Google Shape;341;p8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342" name="Google Shape;342;p8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8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8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345" name="Google Shape;345;p8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8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8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8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350" name="Google Shape;350;p8"/>
          <p:cNvGrpSpPr/>
          <p:nvPr/>
        </p:nvGrpSpPr>
        <p:grpSpPr>
          <a:xfrm>
            <a:off x="1028700" y="1986608"/>
            <a:ext cx="4564012" cy="1302743"/>
            <a:chOff x="0" y="-57150"/>
            <a:chExt cx="821024" cy="234352"/>
          </a:xfrm>
        </p:grpSpPr>
        <p:sp>
          <p:nvSpPr>
            <p:cNvPr id="351" name="Google Shape;351;p8"/>
            <p:cNvSpPr/>
            <p:nvPr/>
          </p:nvSpPr>
          <p:spPr>
            <a:xfrm>
              <a:off x="0" y="0"/>
              <a:ext cx="821024" cy="177202"/>
            </a:xfrm>
            <a:custGeom>
              <a:rect b="b" l="l" r="r" t="t"/>
              <a:pathLst>
                <a:path extrusionOk="0" h="177202" w="821024">
                  <a:moveTo>
                    <a:pt x="52585" y="0"/>
                  </a:moveTo>
                  <a:lnTo>
                    <a:pt x="768439" y="0"/>
                  </a:lnTo>
                  <a:cubicBezTo>
                    <a:pt x="782385" y="0"/>
                    <a:pt x="795761" y="5540"/>
                    <a:pt x="805622" y="15402"/>
                  </a:cubicBezTo>
                  <a:cubicBezTo>
                    <a:pt x="815484" y="25263"/>
                    <a:pt x="821024" y="38639"/>
                    <a:pt x="821024" y="52585"/>
                  </a:cubicBezTo>
                  <a:lnTo>
                    <a:pt x="821024" y="124616"/>
                  </a:lnTo>
                  <a:cubicBezTo>
                    <a:pt x="821024" y="138563"/>
                    <a:pt x="815484" y="151938"/>
                    <a:pt x="805622" y="161800"/>
                  </a:cubicBezTo>
                  <a:cubicBezTo>
                    <a:pt x="795761" y="171661"/>
                    <a:pt x="782385" y="177202"/>
                    <a:pt x="768439" y="177202"/>
                  </a:cubicBezTo>
                  <a:lnTo>
                    <a:pt x="52585" y="177202"/>
                  </a:lnTo>
                  <a:cubicBezTo>
                    <a:pt x="38639" y="177202"/>
                    <a:pt x="25263" y="171661"/>
                    <a:pt x="15402" y="161800"/>
                  </a:cubicBezTo>
                  <a:cubicBezTo>
                    <a:pt x="5540" y="151938"/>
                    <a:pt x="0" y="138563"/>
                    <a:pt x="0" y="124616"/>
                  </a:cubicBezTo>
                  <a:lnTo>
                    <a:pt x="0" y="52585"/>
                  </a:lnTo>
                  <a:cubicBezTo>
                    <a:pt x="0" y="38639"/>
                    <a:pt x="5540" y="25263"/>
                    <a:pt x="15402" y="15402"/>
                  </a:cubicBezTo>
                  <a:cubicBezTo>
                    <a:pt x="25263" y="5540"/>
                    <a:pt x="38639" y="0"/>
                    <a:pt x="52585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8"/>
            <p:cNvSpPr txBox="1"/>
            <p:nvPr/>
          </p:nvSpPr>
          <p:spPr>
            <a:xfrm>
              <a:off x="0" y="-57150"/>
              <a:ext cx="821024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8"/>
          <p:cNvGrpSpPr/>
          <p:nvPr/>
        </p:nvGrpSpPr>
        <p:grpSpPr>
          <a:xfrm>
            <a:off x="1028700" y="2430446"/>
            <a:ext cx="9212493" cy="2543623"/>
            <a:chOff x="0" y="-57150"/>
            <a:chExt cx="1657243" cy="457574"/>
          </a:xfrm>
        </p:grpSpPr>
        <p:sp>
          <p:nvSpPr>
            <p:cNvPr id="354" name="Google Shape;354;p8"/>
            <p:cNvSpPr/>
            <p:nvPr/>
          </p:nvSpPr>
          <p:spPr>
            <a:xfrm>
              <a:off x="0" y="0"/>
              <a:ext cx="1657243" cy="400424"/>
            </a:xfrm>
            <a:custGeom>
              <a:rect b="b" l="l" r="r" t="t"/>
              <a:pathLst>
                <a:path extrusionOk="0" h="400424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374373"/>
                  </a:lnTo>
                  <a:cubicBezTo>
                    <a:pt x="1657243" y="388761"/>
                    <a:pt x="1645580" y="400424"/>
                    <a:pt x="1631192" y="400424"/>
                  </a:cubicBezTo>
                  <a:lnTo>
                    <a:pt x="26052" y="400424"/>
                  </a:lnTo>
                  <a:cubicBezTo>
                    <a:pt x="11664" y="400424"/>
                    <a:pt x="0" y="388761"/>
                    <a:pt x="0" y="374373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8"/>
            <p:cNvSpPr txBox="1"/>
            <p:nvPr/>
          </p:nvSpPr>
          <p:spPr>
            <a:xfrm>
              <a:off x="0" y="-57150"/>
              <a:ext cx="1657243" cy="457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8"/>
          <p:cNvSpPr txBox="1"/>
          <p:nvPr/>
        </p:nvSpPr>
        <p:spPr>
          <a:xfrm>
            <a:off x="1358692" y="2340108"/>
            <a:ext cx="3986252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Rata-Rata (Mean)</a:t>
            </a:r>
            <a:endParaRPr/>
          </a:p>
        </p:txBody>
      </p:sp>
      <p:grpSp>
        <p:nvGrpSpPr>
          <p:cNvPr id="357" name="Google Shape;357;p8"/>
          <p:cNvGrpSpPr/>
          <p:nvPr/>
        </p:nvGrpSpPr>
        <p:grpSpPr>
          <a:xfrm>
            <a:off x="1028700" y="5376008"/>
            <a:ext cx="7877246" cy="1302743"/>
            <a:chOff x="0" y="-57150"/>
            <a:chExt cx="1417045" cy="234352"/>
          </a:xfrm>
        </p:grpSpPr>
        <p:sp>
          <p:nvSpPr>
            <p:cNvPr id="358" name="Google Shape;358;p8"/>
            <p:cNvSpPr/>
            <p:nvPr/>
          </p:nvSpPr>
          <p:spPr>
            <a:xfrm>
              <a:off x="0" y="0"/>
              <a:ext cx="1417045" cy="177202"/>
            </a:xfrm>
            <a:custGeom>
              <a:rect b="b" l="l" r="r" t="t"/>
              <a:pathLst>
                <a:path extrusionOk="0" h="177202" w="1417045">
                  <a:moveTo>
                    <a:pt x="30467" y="0"/>
                  </a:moveTo>
                  <a:lnTo>
                    <a:pt x="1386577" y="0"/>
                  </a:lnTo>
                  <a:cubicBezTo>
                    <a:pt x="1403404" y="0"/>
                    <a:pt x="1417045" y="13641"/>
                    <a:pt x="1417045" y="30467"/>
                  </a:cubicBezTo>
                  <a:lnTo>
                    <a:pt x="1417045" y="146734"/>
                  </a:lnTo>
                  <a:cubicBezTo>
                    <a:pt x="1417045" y="163561"/>
                    <a:pt x="1403404" y="177202"/>
                    <a:pt x="1386577" y="177202"/>
                  </a:cubicBezTo>
                  <a:lnTo>
                    <a:pt x="30467" y="177202"/>
                  </a:lnTo>
                  <a:cubicBezTo>
                    <a:pt x="13641" y="177202"/>
                    <a:pt x="0" y="163561"/>
                    <a:pt x="0" y="146734"/>
                  </a:cubicBezTo>
                  <a:lnTo>
                    <a:pt x="0" y="30467"/>
                  </a:lnTo>
                  <a:cubicBezTo>
                    <a:pt x="0" y="13641"/>
                    <a:pt x="13641" y="0"/>
                    <a:pt x="30467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8"/>
            <p:cNvSpPr txBox="1"/>
            <p:nvPr/>
          </p:nvSpPr>
          <p:spPr>
            <a:xfrm>
              <a:off x="0" y="-57150"/>
              <a:ext cx="1417045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8"/>
          <p:cNvGrpSpPr/>
          <p:nvPr/>
        </p:nvGrpSpPr>
        <p:grpSpPr>
          <a:xfrm>
            <a:off x="1028700" y="5987321"/>
            <a:ext cx="9212493" cy="2444801"/>
            <a:chOff x="0" y="-57150"/>
            <a:chExt cx="1657243" cy="439797"/>
          </a:xfrm>
        </p:grpSpPr>
        <p:sp>
          <p:nvSpPr>
            <p:cNvPr id="361" name="Google Shape;361;p8"/>
            <p:cNvSpPr/>
            <p:nvPr/>
          </p:nvSpPr>
          <p:spPr>
            <a:xfrm>
              <a:off x="0" y="0"/>
              <a:ext cx="1657243" cy="382647"/>
            </a:xfrm>
            <a:custGeom>
              <a:rect b="b" l="l" r="r" t="t"/>
              <a:pathLst>
                <a:path extrusionOk="0" h="382647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356596"/>
                  </a:lnTo>
                  <a:cubicBezTo>
                    <a:pt x="1657243" y="370984"/>
                    <a:pt x="1645580" y="382647"/>
                    <a:pt x="1631192" y="382647"/>
                  </a:cubicBezTo>
                  <a:lnTo>
                    <a:pt x="26052" y="382647"/>
                  </a:lnTo>
                  <a:cubicBezTo>
                    <a:pt x="11664" y="382647"/>
                    <a:pt x="0" y="370984"/>
                    <a:pt x="0" y="356596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8"/>
            <p:cNvSpPr txBox="1"/>
            <p:nvPr/>
          </p:nvSpPr>
          <p:spPr>
            <a:xfrm>
              <a:off x="0" y="-57150"/>
              <a:ext cx="1657243" cy="43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p8"/>
          <p:cNvSpPr txBox="1"/>
          <p:nvPr/>
        </p:nvSpPr>
        <p:spPr>
          <a:xfrm>
            <a:off x="1209143" y="6478227"/>
            <a:ext cx="8957276" cy="195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91" lvl="1" marL="4749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tertinggi adalah nilai paling besar dalam suatu kumpulan data.</a:t>
            </a:r>
            <a:endParaRPr/>
          </a:p>
          <a:p>
            <a:pPr indent="-237491" lvl="1" marL="4749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terendah adalah nilai paling kecil dalam suatu kumpulan data.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1283917" y="5712559"/>
            <a:ext cx="8882501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Nilai Tertinggi dan Nilai Terendah</a:t>
            </a:r>
            <a:endParaRPr/>
          </a:p>
        </p:txBody>
      </p:sp>
      <p:sp>
        <p:nvSpPr>
          <p:cNvPr id="365" name="Google Shape;365;p8"/>
          <p:cNvSpPr txBox="1"/>
          <p:nvPr/>
        </p:nvSpPr>
        <p:spPr>
          <a:xfrm>
            <a:off x="1358692" y="2995568"/>
            <a:ext cx="8468039" cy="1173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tengah dari sekumpulan data yang diperoleh dengan cara menjumlahkan semua data lalu dibagi dengan jumlah data.</a:t>
            </a:r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3247713" y="3909498"/>
            <a:ext cx="4774467" cy="797953"/>
            <a:chOff x="0" y="-57150"/>
            <a:chExt cx="6365956" cy="1063936"/>
          </a:xfrm>
        </p:grpSpPr>
        <p:sp>
          <p:nvSpPr>
            <p:cNvPr id="367" name="Google Shape;367;p8"/>
            <p:cNvSpPr txBox="1"/>
            <p:nvPr/>
          </p:nvSpPr>
          <p:spPr>
            <a:xfrm>
              <a:off x="0" y="200356"/>
              <a:ext cx="2382686" cy="503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Rata-rata = </a:t>
              </a:r>
              <a:endParaRPr/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2382686" y="-57150"/>
              <a:ext cx="3983270" cy="503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Jumlah semua data</a:t>
              </a:r>
              <a:endParaRPr/>
            </a:p>
          </p:txBody>
        </p:sp>
        <p:cxnSp>
          <p:nvCxnSpPr>
            <p:cNvPr id="369" name="Google Shape;369;p8"/>
            <p:cNvCxnSpPr/>
            <p:nvPr/>
          </p:nvCxnSpPr>
          <p:spPr>
            <a:xfrm>
              <a:off x="2382686" y="480603"/>
              <a:ext cx="398327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0" name="Google Shape;370;p8"/>
            <p:cNvSpPr txBox="1"/>
            <p:nvPr/>
          </p:nvSpPr>
          <p:spPr>
            <a:xfrm>
              <a:off x="2382686" y="503443"/>
              <a:ext cx="3983270" cy="503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Banyak data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sp>
        <p:nvSpPr>
          <p:cNvPr id="376" name="Google Shape;376;p9"/>
          <p:cNvSpPr/>
          <p:nvPr/>
        </p:nvSpPr>
        <p:spPr>
          <a:xfrm rot="3975525">
            <a:off x="11648866" y="353762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0" y="0"/>
                </a:lnTo>
                <a:lnTo>
                  <a:pt x="12251630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7" name="Google Shape;377;p9"/>
          <p:cNvSpPr/>
          <p:nvPr/>
        </p:nvSpPr>
        <p:spPr>
          <a:xfrm>
            <a:off x="10574410" y="4707451"/>
            <a:ext cx="8776222" cy="5058295"/>
          </a:xfrm>
          <a:custGeom>
            <a:rect b="b" l="l" r="r" t="t"/>
            <a:pathLst>
              <a:path extrusionOk="0" h="5058295" w="8776222">
                <a:moveTo>
                  <a:pt x="0" y="0"/>
                </a:moveTo>
                <a:lnTo>
                  <a:pt x="8776221" y="0"/>
                </a:lnTo>
                <a:lnTo>
                  <a:pt x="8776221" y="5058295"/>
                </a:lnTo>
                <a:lnTo>
                  <a:pt x="0" y="5058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8" name="Google Shape;378;p9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379" name="Google Shape;379;p9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9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9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382" name="Google Shape;382;p9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9"/>
          <p:cNvSpPr/>
          <p:nvPr/>
        </p:nvSpPr>
        <p:spPr>
          <a:xfrm>
            <a:off x="12026471" y="2619603"/>
            <a:ext cx="2039162" cy="2039162"/>
          </a:xfrm>
          <a:custGeom>
            <a:rect b="b" l="l" r="r" t="t"/>
            <a:pathLst>
              <a:path extrusionOk="0" h="2039162" w="2039162">
                <a:moveTo>
                  <a:pt x="0" y="0"/>
                </a:moveTo>
                <a:lnTo>
                  <a:pt x="2039161" y="0"/>
                </a:lnTo>
                <a:lnTo>
                  <a:pt x="2039161" y="2039162"/>
                </a:lnTo>
                <a:lnTo>
                  <a:pt x="0" y="2039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9"/>
          <p:cNvSpPr txBox="1"/>
          <p:nvPr/>
        </p:nvSpPr>
        <p:spPr>
          <a:xfrm>
            <a:off x="15111176" y="971550"/>
            <a:ext cx="2148124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386" name="Google Shape;386;p9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387" name="Google Shape;387;p9"/>
          <p:cNvGrpSpPr/>
          <p:nvPr/>
        </p:nvGrpSpPr>
        <p:grpSpPr>
          <a:xfrm>
            <a:off x="1028700" y="1987119"/>
            <a:ext cx="4564012" cy="1302743"/>
            <a:chOff x="0" y="-57150"/>
            <a:chExt cx="821024" cy="234352"/>
          </a:xfrm>
        </p:grpSpPr>
        <p:sp>
          <p:nvSpPr>
            <p:cNvPr id="388" name="Google Shape;388;p9"/>
            <p:cNvSpPr/>
            <p:nvPr/>
          </p:nvSpPr>
          <p:spPr>
            <a:xfrm>
              <a:off x="0" y="0"/>
              <a:ext cx="821024" cy="177202"/>
            </a:xfrm>
            <a:custGeom>
              <a:rect b="b" l="l" r="r" t="t"/>
              <a:pathLst>
                <a:path extrusionOk="0" h="177202" w="821024">
                  <a:moveTo>
                    <a:pt x="52585" y="0"/>
                  </a:moveTo>
                  <a:lnTo>
                    <a:pt x="768439" y="0"/>
                  </a:lnTo>
                  <a:cubicBezTo>
                    <a:pt x="782385" y="0"/>
                    <a:pt x="795761" y="5540"/>
                    <a:pt x="805622" y="15402"/>
                  </a:cubicBezTo>
                  <a:cubicBezTo>
                    <a:pt x="815484" y="25263"/>
                    <a:pt x="821024" y="38639"/>
                    <a:pt x="821024" y="52585"/>
                  </a:cubicBezTo>
                  <a:lnTo>
                    <a:pt x="821024" y="124616"/>
                  </a:lnTo>
                  <a:cubicBezTo>
                    <a:pt x="821024" y="138563"/>
                    <a:pt x="815484" y="151938"/>
                    <a:pt x="805622" y="161800"/>
                  </a:cubicBezTo>
                  <a:cubicBezTo>
                    <a:pt x="795761" y="171661"/>
                    <a:pt x="782385" y="177202"/>
                    <a:pt x="768439" y="177202"/>
                  </a:cubicBezTo>
                  <a:lnTo>
                    <a:pt x="52585" y="177202"/>
                  </a:lnTo>
                  <a:cubicBezTo>
                    <a:pt x="38639" y="177202"/>
                    <a:pt x="25263" y="171661"/>
                    <a:pt x="15402" y="161800"/>
                  </a:cubicBezTo>
                  <a:cubicBezTo>
                    <a:pt x="5540" y="151938"/>
                    <a:pt x="0" y="138563"/>
                    <a:pt x="0" y="124616"/>
                  </a:cubicBezTo>
                  <a:lnTo>
                    <a:pt x="0" y="52585"/>
                  </a:lnTo>
                  <a:cubicBezTo>
                    <a:pt x="0" y="38639"/>
                    <a:pt x="5540" y="25263"/>
                    <a:pt x="15402" y="15402"/>
                  </a:cubicBezTo>
                  <a:cubicBezTo>
                    <a:pt x="25263" y="5540"/>
                    <a:pt x="38639" y="0"/>
                    <a:pt x="52585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9"/>
            <p:cNvSpPr txBox="1"/>
            <p:nvPr/>
          </p:nvSpPr>
          <p:spPr>
            <a:xfrm>
              <a:off x="0" y="-57150"/>
              <a:ext cx="821024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9"/>
          <p:cNvGrpSpPr/>
          <p:nvPr/>
        </p:nvGrpSpPr>
        <p:grpSpPr>
          <a:xfrm>
            <a:off x="1028700" y="2430958"/>
            <a:ext cx="9212493" cy="2543623"/>
            <a:chOff x="0" y="-57150"/>
            <a:chExt cx="1657243" cy="457574"/>
          </a:xfrm>
        </p:grpSpPr>
        <p:sp>
          <p:nvSpPr>
            <p:cNvPr id="391" name="Google Shape;391;p9"/>
            <p:cNvSpPr/>
            <p:nvPr/>
          </p:nvSpPr>
          <p:spPr>
            <a:xfrm>
              <a:off x="0" y="0"/>
              <a:ext cx="1657243" cy="400424"/>
            </a:xfrm>
            <a:custGeom>
              <a:rect b="b" l="l" r="r" t="t"/>
              <a:pathLst>
                <a:path extrusionOk="0" h="400424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374373"/>
                  </a:lnTo>
                  <a:cubicBezTo>
                    <a:pt x="1657243" y="388761"/>
                    <a:pt x="1645580" y="400424"/>
                    <a:pt x="1631192" y="400424"/>
                  </a:cubicBezTo>
                  <a:lnTo>
                    <a:pt x="26052" y="400424"/>
                  </a:lnTo>
                  <a:cubicBezTo>
                    <a:pt x="11664" y="400424"/>
                    <a:pt x="0" y="388761"/>
                    <a:pt x="0" y="374373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9"/>
            <p:cNvSpPr txBox="1"/>
            <p:nvPr/>
          </p:nvSpPr>
          <p:spPr>
            <a:xfrm>
              <a:off x="0" y="-57150"/>
              <a:ext cx="1657243" cy="457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9"/>
          <p:cNvSpPr txBox="1"/>
          <p:nvPr/>
        </p:nvSpPr>
        <p:spPr>
          <a:xfrm>
            <a:off x="1358692" y="2340620"/>
            <a:ext cx="3986252" cy="592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Jumlah (Total)</a:t>
            </a:r>
            <a:endParaRPr/>
          </a:p>
        </p:txBody>
      </p:sp>
      <p:grpSp>
        <p:nvGrpSpPr>
          <p:cNvPr id="394" name="Google Shape;394;p9"/>
          <p:cNvGrpSpPr/>
          <p:nvPr/>
        </p:nvGrpSpPr>
        <p:grpSpPr>
          <a:xfrm>
            <a:off x="1028700" y="5502433"/>
            <a:ext cx="7877246" cy="1302743"/>
            <a:chOff x="0" y="-57150"/>
            <a:chExt cx="1417045" cy="23435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1417045" cy="177202"/>
            </a:xfrm>
            <a:custGeom>
              <a:rect b="b" l="l" r="r" t="t"/>
              <a:pathLst>
                <a:path extrusionOk="0" h="177202" w="1417045">
                  <a:moveTo>
                    <a:pt x="30467" y="0"/>
                  </a:moveTo>
                  <a:lnTo>
                    <a:pt x="1386577" y="0"/>
                  </a:lnTo>
                  <a:cubicBezTo>
                    <a:pt x="1403404" y="0"/>
                    <a:pt x="1417045" y="13641"/>
                    <a:pt x="1417045" y="30467"/>
                  </a:cubicBezTo>
                  <a:lnTo>
                    <a:pt x="1417045" y="146734"/>
                  </a:lnTo>
                  <a:cubicBezTo>
                    <a:pt x="1417045" y="163561"/>
                    <a:pt x="1403404" y="177202"/>
                    <a:pt x="1386577" y="177202"/>
                  </a:cubicBezTo>
                  <a:lnTo>
                    <a:pt x="30467" y="177202"/>
                  </a:lnTo>
                  <a:cubicBezTo>
                    <a:pt x="13641" y="177202"/>
                    <a:pt x="0" y="163561"/>
                    <a:pt x="0" y="146734"/>
                  </a:cubicBezTo>
                  <a:lnTo>
                    <a:pt x="0" y="30467"/>
                  </a:lnTo>
                  <a:cubicBezTo>
                    <a:pt x="0" y="13641"/>
                    <a:pt x="13641" y="0"/>
                    <a:pt x="30467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 txBox="1"/>
            <p:nvPr/>
          </p:nvSpPr>
          <p:spPr>
            <a:xfrm>
              <a:off x="0" y="-57150"/>
              <a:ext cx="1417045" cy="234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1028700" y="6130695"/>
            <a:ext cx="9212493" cy="2444801"/>
            <a:chOff x="0" y="-57150"/>
            <a:chExt cx="1657243" cy="439797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1657243" cy="382647"/>
            </a:xfrm>
            <a:custGeom>
              <a:rect b="b" l="l" r="r" t="t"/>
              <a:pathLst>
                <a:path extrusionOk="0" h="382647" w="1657243">
                  <a:moveTo>
                    <a:pt x="26052" y="0"/>
                  </a:moveTo>
                  <a:lnTo>
                    <a:pt x="1631192" y="0"/>
                  </a:lnTo>
                  <a:cubicBezTo>
                    <a:pt x="1645580" y="0"/>
                    <a:pt x="1657243" y="11664"/>
                    <a:pt x="1657243" y="26052"/>
                  </a:cubicBezTo>
                  <a:lnTo>
                    <a:pt x="1657243" y="356596"/>
                  </a:lnTo>
                  <a:cubicBezTo>
                    <a:pt x="1657243" y="370984"/>
                    <a:pt x="1645580" y="382647"/>
                    <a:pt x="1631192" y="382647"/>
                  </a:cubicBezTo>
                  <a:lnTo>
                    <a:pt x="26052" y="382647"/>
                  </a:lnTo>
                  <a:cubicBezTo>
                    <a:pt x="11664" y="382647"/>
                    <a:pt x="0" y="370984"/>
                    <a:pt x="0" y="356596"/>
                  </a:cubicBezTo>
                  <a:lnTo>
                    <a:pt x="0" y="26052"/>
                  </a:lnTo>
                  <a:cubicBezTo>
                    <a:pt x="0" y="11664"/>
                    <a:pt x="11664" y="0"/>
                    <a:pt x="2605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0" y="-57150"/>
              <a:ext cx="1657243" cy="43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 txBox="1"/>
          <p:nvPr/>
        </p:nvSpPr>
        <p:spPr>
          <a:xfrm>
            <a:off x="1283917" y="6621601"/>
            <a:ext cx="8957276" cy="782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Cara menyatakan suatu jumlah semua data dibandingkan dengan banyaknya data dalam bentuk persen (%).</a:t>
            </a:r>
            <a:endParaRPr/>
          </a:p>
        </p:txBody>
      </p:sp>
      <p:sp>
        <p:nvSpPr>
          <p:cNvPr id="401" name="Google Shape;401;p9"/>
          <p:cNvSpPr txBox="1"/>
          <p:nvPr/>
        </p:nvSpPr>
        <p:spPr>
          <a:xfrm>
            <a:off x="1358692" y="5855933"/>
            <a:ext cx="8882501" cy="592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Persentase</a:t>
            </a:r>
            <a:endParaRPr/>
          </a:p>
        </p:txBody>
      </p:sp>
      <p:sp>
        <p:nvSpPr>
          <p:cNvPr id="402" name="Google Shape;402;p9"/>
          <p:cNvSpPr txBox="1"/>
          <p:nvPr/>
        </p:nvSpPr>
        <p:spPr>
          <a:xfrm>
            <a:off x="1358692" y="2996080"/>
            <a:ext cx="8468039" cy="782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hasil penjumlahan seluruh data dalam suatu kelompok data.</a:t>
            </a:r>
            <a:endParaRPr/>
          </a:p>
        </p:txBody>
      </p:sp>
      <p:sp>
        <p:nvSpPr>
          <p:cNvPr id="403" name="Google Shape;403;p9"/>
          <p:cNvSpPr txBox="1"/>
          <p:nvPr/>
        </p:nvSpPr>
        <p:spPr>
          <a:xfrm>
            <a:off x="5799943" y="1263025"/>
            <a:ext cx="642197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Rata-rata = </a:t>
            </a:r>
            <a:endParaRPr/>
          </a:p>
        </p:txBody>
      </p:sp>
      <p:sp>
        <p:nvSpPr>
          <p:cNvPr id="404" name="Google Shape;404;p9"/>
          <p:cNvSpPr txBox="1"/>
          <p:nvPr/>
        </p:nvSpPr>
        <p:spPr>
          <a:xfrm>
            <a:off x="2748269" y="4018486"/>
            <a:ext cx="5936518" cy="391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= Data1 + Data2 + Data3 + .... + Datan</a:t>
            </a:r>
            <a:endParaRPr/>
          </a:p>
        </p:txBody>
      </p:sp>
      <p:grpSp>
        <p:nvGrpSpPr>
          <p:cNvPr id="405" name="Google Shape;405;p9"/>
          <p:cNvGrpSpPr/>
          <p:nvPr/>
        </p:nvGrpSpPr>
        <p:grpSpPr>
          <a:xfrm>
            <a:off x="2523813" y="7532640"/>
            <a:ext cx="6088918" cy="797953"/>
            <a:chOff x="0" y="-57150"/>
            <a:chExt cx="8118558" cy="1063936"/>
          </a:xfrm>
        </p:grpSpPr>
        <p:sp>
          <p:nvSpPr>
            <p:cNvPr id="406" name="Google Shape;406;p9"/>
            <p:cNvSpPr txBox="1"/>
            <p:nvPr/>
          </p:nvSpPr>
          <p:spPr>
            <a:xfrm>
              <a:off x="0" y="200356"/>
              <a:ext cx="2628167" cy="503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Persentase = </a:t>
              </a:r>
              <a:endParaRPr/>
            </a:p>
          </p:txBody>
        </p:sp>
        <p:sp>
          <p:nvSpPr>
            <p:cNvPr id="407" name="Google Shape;407;p9"/>
            <p:cNvSpPr txBox="1"/>
            <p:nvPr/>
          </p:nvSpPr>
          <p:spPr>
            <a:xfrm>
              <a:off x="2585886" y="-57150"/>
              <a:ext cx="3983270" cy="503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Jumlah semua data</a:t>
              </a:r>
              <a:endParaRPr/>
            </a:p>
          </p:txBody>
        </p:sp>
        <p:cxnSp>
          <p:nvCxnSpPr>
            <p:cNvPr id="408" name="Google Shape;408;p9"/>
            <p:cNvCxnSpPr/>
            <p:nvPr/>
          </p:nvCxnSpPr>
          <p:spPr>
            <a:xfrm>
              <a:off x="2585886" y="480603"/>
              <a:ext cx="398327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9" name="Google Shape;409;p9"/>
            <p:cNvSpPr txBox="1"/>
            <p:nvPr/>
          </p:nvSpPr>
          <p:spPr>
            <a:xfrm>
              <a:off x="2585886" y="503443"/>
              <a:ext cx="3983270" cy="503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Banyak data</a:t>
              </a:r>
              <a:endParaRPr/>
            </a:p>
          </p:txBody>
        </p:sp>
        <p:sp>
          <p:nvSpPr>
            <p:cNvPr id="410" name="Google Shape;410;p9"/>
            <p:cNvSpPr txBox="1"/>
            <p:nvPr/>
          </p:nvSpPr>
          <p:spPr>
            <a:xfrm>
              <a:off x="6741220" y="200356"/>
              <a:ext cx="1377338" cy="503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x 100%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416" name="Google Shape;416;p10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417" name="Google Shape;417;p10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0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10"/>
          <p:cNvGrpSpPr/>
          <p:nvPr/>
        </p:nvGrpSpPr>
        <p:grpSpPr>
          <a:xfrm>
            <a:off x="7113399" y="1554509"/>
            <a:ext cx="4519617" cy="746704"/>
            <a:chOff x="8455" y="-57150"/>
            <a:chExt cx="2805754" cy="463550"/>
          </a:xfrm>
        </p:grpSpPr>
        <p:sp>
          <p:nvSpPr>
            <p:cNvPr id="420" name="Google Shape;420;p10"/>
            <p:cNvSpPr/>
            <p:nvPr/>
          </p:nvSpPr>
          <p:spPr>
            <a:xfrm>
              <a:off x="8455" y="0"/>
              <a:ext cx="2805754" cy="406400"/>
            </a:xfrm>
            <a:custGeom>
              <a:rect b="b" l="l" r="r" t="t"/>
              <a:pathLst>
                <a:path extrusionOk="0" h="406400" w="2805754">
                  <a:moveTo>
                    <a:pt x="2792074" y="0"/>
                  </a:moveTo>
                  <a:lnTo>
                    <a:pt x="13680" y="0"/>
                  </a:lnTo>
                  <a:cubicBezTo>
                    <a:pt x="8939" y="0"/>
                    <a:pt x="4536" y="2455"/>
                    <a:pt x="2043" y="6488"/>
                  </a:cubicBezTo>
                  <a:cubicBezTo>
                    <a:pt x="-450" y="10521"/>
                    <a:pt x="-676" y="15557"/>
                    <a:pt x="1444" y="19798"/>
                  </a:cubicBezTo>
                  <a:lnTo>
                    <a:pt x="83246" y="183402"/>
                  </a:lnTo>
                  <a:cubicBezTo>
                    <a:pt x="89478" y="195865"/>
                    <a:pt x="89478" y="210535"/>
                    <a:pt x="83246" y="222998"/>
                  </a:cubicBezTo>
                  <a:lnTo>
                    <a:pt x="1444" y="386602"/>
                  </a:lnTo>
                  <a:cubicBezTo>
                    <a:pt x="-676" y="390842"/>
                    <a:pt x="-450" y="395879"/>
                    <a:pt x="2043" y="399912"/>
                  </a:cubicBezTo>
                  <a:cubicBezTo>
                    <a:pt x="4536" y="403945"/>
                    <a:pt x="8939" y="406400"/>
                    <a:pt x="13680" y="406400"/>
                  </a:cubicBezTo>
                  <a:lnTo>
                    <a:pt x="2792074" y="406400"/>
                  </a:lnTo>
                  <a:cubicBezTo>
                    <a:pt x="2796815" y="406400"/>
                    <a:pt x="2801218" y="403945"/>
                    <a:pt x="2803711" y="399912"/>
                  </a:cubicBezTo>
                  <a:cubicBezTo>
                    <a:pt x="2806203" y="395879"/>
                    <a:pt x="2806430" y="390842"/>
                    <a:pt x="2804310" y="386602"/>
                  </a:cubicBezTo>
                  <a:lnTo>
                    <a:pt x="2722508" y="222998"/>
                  </a:lnTo>
                  <a:cubicBezTo>
                    <a:pt x="2716276" y="210535"/>
                    <a:pt x="2716276" y="195865"/>
                    <a:pt x="2722508" y="183402"/>
                  </a:cubicBezTo>
                  <a:lnTo>
                    <a:pt x="2804310" y="19798"/>
                  </a:lnTo>
                  <a:cubicBezTo>
                    <a:pt x="2806430" y="15557"/>
                    <a:pt x="2806203" y="10521"/>
                    <a:pt x="2803711" y="6488"/>
                  </a:cubicBezTo>
                  <a:cubicBezTo>
                    <a:pt x="2801218" y="2455"/>
                    <a:pt x="2796815" y="0"/>
                    <a:pt x="2792074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0"/>
            <p:cNvSpPr txBox="1"/>
            <p:nvPr/>
          </p:nvSpPr>
          <p:spPr>
            <a:xfrm>
              <a:off x="88900" y="-57150"/>
              <a:ext cx="2644864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0"/>
          <p:cNvGrpSpPr/>
          <p:nvPr/>
        </p:nvGrpSpPr>
        <p:grpSpPr>
          <a:xfrm>
            <a:off x="12166869" y="811344"/>
            <a:ext cx="5092431" cy="2046128"/>
            <a:chOff x="0" y="-57150"/>
            <a:chExt cx="1043259" cy="419179"/>
          </a:xfrm>
        </p:grpSpPr>
        <p:sp>
          <p:nvSpPr>
            <p:cNvPr id="423" name="Google Shape;423;p10"/>
            <p:cNvSpPr/>
            <p:nvPr/>
          </p:nvSpPr>
          <p:spPr>
            <a:xfrm>
              <a:off x="0" y="0"/>
              <a:ext cx="1043259" cy="362029"/>
            </a:xfrm>
            <a:custGeom>
              <a:rect b="b" l="l" r="r" t="t"/>
              <a:pathLst>
                <a:path extrusionOk="0" h="362029" w="1043259">
                  <a:moveTo>
                    <a:pt x="98945" y="0"/>
                  </a:moveTo>
                  <a:lnTo>
                    <a:pt x="944313" y="0"/>
                  </a:lnTo>
                  <a:cubicBezTo>
                    <a:pt x="970555" y="0"/>
                    <a:pt x="995722" y="10425"/>
                    <a:pt x="1014278" y="28980"/>
                  </a:cubicBezTo>
                  <a:cubicBezTo>
                    <a:pt x="1032834" y="47536"/>
                    <a:pt x="1043259" y="72703"/>
                    <a:pt x="1043259" y="98945"/>
                  </a:cubicBezTo>
                  <a:lnTo>
                    <a:pt x="1043259" y="263084"/>
                  </a:lnTo>
                  <a:cubicBezTo>
                    <a:pt x="1043259" y="317730"/>
                    <a:pt x="998959" y="362029"/>
                    <a:pt x="944313" y="362029"/>
                  </a:cubicBezTo>
                  <a:lnTo>
                    <a:pt x="98945" y="362029"/>
                  </a:lnTo>
                  <a:cubicBezTo>
                    <a:pt x="72703" y="362029"/>
                    <a:pt x="47536" y="351604"/>
                    <a:pt x="28980" y="333048"/>
                  </a:cubicBezTo>
                  <a:cubicBezTo>
                    <a:pt x="10425" y="314493"/>
                    <a:pt x="0" y="289325"/>
                    <a:pt x="0" y="263084"/>
                  </a:cubicBezTo>
                  <a:lnTo>
                    <a:pt x="0" y="98945"/>
                  </a:lnTo>
                  <a:cubicBezTo>
                    <a:pt x="0" y="72703"/>
                    <a:pt x="10425" y="47536"/>
                    <a:pt x="28980" y="28980"/>
                  </a:cubicBezTo>
                  <a:cubicBezTo>
                    <a:pt x="47536" y="10425"/>
                    <a:pt x="72703" y="0"/>
                    <a:pt x="98945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0"/>
            <p:cNvSpPr txBox="1"/>
            <p:nvPr/>
          </p:nvSpPr>
          <p:spPr>
            <a:xfrm>
              <a:off x="0" y="-57150"/>
              <a:ext cx="1043259" cy="419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10"/>
          <p:cNvSpPr/>
          <p:nvPr/>
        </p:nvSpPr>
        <p:spPr>
          <a:xfrm rot="-5399999">
            <a:off x="-5620037" y="338881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1" y="0"/>
                </a:lnTo>
                <a:lnTo>
                  <a:pt x="12251631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6" name="Google Shape;426;p10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427" name="Google Shape;427;p10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0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10"/>
          <p:cNvSpPr/>
          <p:nvPr/>
        </p:nvSpPr>
        <p:spPr>
          <a:xfrm>
            <a:off x="320864" y="4297580"/>
            <a:ext cx="5849814" cy="5679638"/>
          </a:xfrm>
          <a:custGeom>
            <a:rect b="b" l="l" r="r" t="t"/>
            <a:pathLst>
              <a:path extrusionOk="0" h="5679638" w="5849814">
                <a:moveTo>
                  <a:pt x="0" y="0"/>
                </a:moveTo>
                <a:lnTo>
                  <a:pt x="5849814" y="0"/>
                </a:lnTo>
                <a:lnTo>
                  <a:pt x="5849814" y="5679637"/>
                </a:lnTo>
                <a:lnTo>
                  <a:pt x="0" y="567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0" name="Google Shape;430;p10"/>
          <p:cNvSpPr txBox="1"/>
          <p:nvPr/>
        </p:nvSpPr>
        <p:spPr>
          <a:xfrm>
            <a:off x="1028700" y="2073810"/>
            <a:ext cx="4958128" cy="89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CONTOH</a:t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5494407" y="2156771"/>
            <a:ext cx="1338672" cy="1176358"/>
          </a:xfrm>
          <a:custGeom>
            <a:rect b="b" l="l" r="r" t="t"/>
            <a:pathLst>
              <a:path extrusionOk="0" h="1176358" w="1338672">
                <a:moveTo>
                  <a:pt x="0" y="0"/>
                </a:moveTo>
                <a:lnTo>
                  <a:pt x="1338672" y="0"/>
                </a:lnTo>
                <a:lnTo>
                  <a:pt x="1338672" y="1176358"/>
                </a:lnTo>
                <a:lnTo>
                  <a:pt x="0" y="117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10"/>
          <p:cNvSpPr/>
          <p:nvPr/>
        </p:nvSpPr>
        <p:spPr>
          <a:xfrm>
            <a:off x="4954880" y="3621840"/>
            <a:ext cx="1521660" cy="1521660"/>
          </a:xfrm>
          <a:custGeom>
            <a:rect b="b" l="l" r="r" t="t"/>
            <a:pathLst>
              <a:path extrusionOk="0" h="1521660" w="1521660">
                <a:moveTo>
                  <a:pt x="0" y="0"/>
                </a:moveTo>
                <a:lnTo>
                  <a:pt x="1521661" y="0"/>
                </a:lnTo>
                <a:lnTo>
                  <a:pt x="1521661" y="1521660"/>
                </a:lnTo>
                <a:lnTo>
                  <a:pt x="0" y="1521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p10"/>
          <p:cNvSpPr txBox="1"/>
          <p:nvPr/>
        </p:nvSpPr>
        <p:spPr>
          <a:xfrm>
            <a:off x="7311967" y="1807982"/>
            <a:ext cx="4122481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Menghitung Rata-rata</a:t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12575376" y="1403978"/>
            <a:ext cx="4275416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= [80, 75, 90, 85, 70]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rata_rata = sum(nilai) / len(nilai)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print("Rata-rata:", rata_rata)</a:t>
            </a:r>
            <a:endParaRPr/>
          </a:p>
        </p:txBody>
      </p:sp>
      <p:sp>
        <p:nvSpPr>
          <p:cNvPr id="435" name="Google Shape;435;p10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436" name="Google Shape;436;p10"/>
          <p:cNvGrpSpPr/>
          <p:nvPr/>
        </p:nvGrpSpPr>
        <p:grpSpPr>
          <a:xfrm>
            <a:off x="7454227" y="3342875"/>
            <a:ext cx="9425284" cy="5465220"/>
            <a:chOff x="0" y="-57150"/>
            <a:chExt cx="1930906" cy="1119630"/>
          </a:xfrm>
        </p:grpSpPr>
        <p:sp>
          <p:nvSpPr>
            <p:cNvPr id="437" name="Google Shape;437;p10"/>
            <p:cNvSpPr/>
            <p:nvPr/>
          </p:nvSpPr>
          <p:spPr>
            <a:xfrm>
              <a:off x="0" y="0"/>
              <a:ext cx="1930906" cy="1062480"/>
            </a:xfrm>
            <a:custGeom>
              <a:rect b="b" l="l" r="r" t="t"/>
              <a:pathLst>
                <a:path extrusionOk="0" h="1062480" w="1930906">
                  <a:moveTo>
                    <a:pt x="32856" y="0"/>
                  </a:moveTo>
                  <a:lnTo>
                    <a:pt x="1898050" y="0"/>
                  </a:lnTo>
                  <a:cubicBezTo>
                    <a:pt x="1906764" y="0"/>
                    <a:pt x="1915121" y="3462"/>
                    <a:pt x="1921283" y="9623"/>
                  </a:cubicBezTo>
                  <a:cubicBezTo>
                    <a:pt x="1927445" y="15785"/>
                    <a:pt x="1930906" y="24142"/>
                    <a:pt x="1930906" y="32856"/>
                  </a:cubicBezTo>
                  <a:lnTo>
                    <a:pt x="1930906" y="1029624"/>
                  </a:lnTo>
                  <a:cubicBezTo>
                    <a:pt x="1930906" y="1047770"/>
                    <a:pt x="1916196" y="1062480"/>
                    <a:pt x="1898050" y="1062480"/>
                  </a:cubicBezTo>
                  <a:lnTo>
                    <a:pt x="32856" y="1062480"/>
                  </a:lnTo>
                  <a:cubicBezTo>
                    <a:pt x="14710" y="1062480"/>
                    <a:pt x="0" y="1047770"/>
                    <a:pt x="0" y="1029624"/>
                  </a:cubicBezTo>
                  <a:lnTo>
                    <a:pt x="0" y="32856"/>
                  </a:lnTo>
                  <a:cubicBezTo>
                    <a:pt x="0" y="14710"/>
                    <a:pt x="14710" y="0"/>
                    <a:pt x="328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0"/>
            <p:cNvSpPr txBox="1"/>
            <p:nvPr/>
          </p:nvSpPr>
          <p:spPr>
            <a:xfrm>
              <a:off x="0" y="-57150"/>
              <a:ext cx="1930906" cy="111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p10"/>
          <p:cNvSpPr txBox="1"/>
          <p:nvPr/>
        </p:nvSpPr>
        <p:spPr>
          <a:xfrm>
            <a:off x="7831565" y="4015010"/>
            <a:ext cx="8495348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nilai = [80, 75, 90, 85, 70]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Membuat list (daftar data)</a:t>
            </a: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yang berisi nilai siswa.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sum(nilai)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Fungsi sum() digunakan untuk menjumlahkan seluruh data dalam list.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 80 + 75 + 90 + 85 + 70 = 400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len(nilai)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Fungsi len() digunakan untuk menghitung jumlah data dalam list.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Jumlah data = 5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sum(nilai) / len(nilai)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 untuk menghitung rata-rata.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445" name="Google Shape;445;p11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446" name="Google Shape;446;p11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1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8" name="Google Shape;448;p11"/>
          <p:cNvGrpSpPr/>
          <p:nvPr/>
        </p:nvGrpSpPr>
        <p:grpSpPr>
          <a:xfrm>
            <a:off x="7113399" y="1554509"/>
            <a:ext cx="4519617" cy="746704"/>
            <a:chOff x="8455" y="-57150"/>
            <a:chExt cx="2805754" cy="463550"/>
          </a:xfrm>
        </p:grpSpPr>
        <p:sp>
          <p:nvSpPr>
            <p:cNvPr id="449" name="Google Shape;449;p11"/>
            <p:cNvSpPr/>
            <p:nvPr/>
          </p:nvSpPr>
          <p:spPr>
            <a:xfrm>
              <a:off x="8455" y="0"/>
              <a:ext cx="2805754" cy="406400"/>
            </a:xfrm>
            <a:custGeom>
              <a:rect b="b" l="l" r="r" t="t"/>
              <a:pathLst>
                <a:path extrusionOk="0" h="406400" w="2805754">
                  <a:moveTo>
                    <a:pt x="2792074" y="0"/>
                  </a:moveTo>
                  <a:lnTo>
                    <a:pt x="13680" y="0"/>
                  </a:lnTo>
                  <a:cubicBezTo>
                    <a:pt x="8939" y="0"/>
                    <a:pt x="4536" y="2455"/>
                    <a:pt x="2043" y="6488"/>
                  </a:cubicBezTo>
                  <a:cubicBezTo>
                    <a:pt x="-450" y="10521"/>
                    <a:pt x="-676" y="15557"/>
                    <a:pt x="1444" y="19798"/>
                  </a:cubicBezTo>
                  <a:lnTo>
                    <a:pt x="83246" y="183402"/>
                  </a:lnTo>
                  <a:cubicBezTo>
                    <a:pt x="89478" y="195865"/>
                    <a:pt x="89478" y="210535"/>
                    <a:pt x="83246" y="222998"/>
                  </a:cubicBezTo>
                  <a:lnTo>
                    <a:pt x="1444" y="386602"/>
                  </a:lnTo>
                  <a:cubicBezTo>
                    <a:pt x="-676" y="390842"/>
                    <a:pt x="-450" y="395879"/>
                    <a:pt x="2043" y="399912"/>
                  </a:cubicBezTo>
                  <a:cubicBezTo>
                    <a:pt x="4536" y="403945"/>
                    <a:pt x="8939" y="406400"/>
                    <a:pt x="13680" y="406400"/>
                  </a:cubicBezTo>
                  <a:lnTo>
                    <a:pt x="2792074" y="406400"/>
                  </a:lnTo>
                  <a:cubicBezTo>
                    <a:pt x="2796815" y="406400"/>
                    <a:pt x="2801218" y="403945"/>
                    <a:pt x="2803711" y="399912"/>
                  </a:cubicBezTo>
                  <a:cubicBezTo>
                    <a:pt x="2806203" y="395879"/>
                    <a:pt x="2806430" y="390842"/>
                    <a:pt x="2804310" y="386602"/>
                  </a:cubicBezTo>
                  <a:lnTo>
                    <a:pt x="2722508" y="222998"/>
                  </a:lnTo>
                  <a:cubicBezTo>
                    <a:pt x="2716276" y="210535"/>
                    <a:pt x="2716276" y="195865"/>
                    <a:pt x="2722508" y="183402"/>
                  </a:cubicBezTo>
                  <a:lnTo>
                    <a:pt x="2804310" y="19798"/>
                  </a:lnTo>
                  <a:cubicBezTo>
                    <a:pt x="2806430" y="15557"/>
                    <a:pt x="2806203" y="10521"/>
                    <a:pt x="2803711" y="6488"/>
                  </a:cubicBezTo>
                  <a:cubicBezTo>
                    <a:pt x="2801218" y="2455"/>
                    <a:pt x="2796815" y="0"/>
                    <a:pt x="2792074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1"/>
            <p:cNvSpPr txBox="1"/>
            <p:nvPr/>
          </p:nvSpPr>
          <p:spPr>
            <a:xfrm>
              <a:off x="88900" y="-57150"/>
              <a:ext cx="2644864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11"/>
          <p:cNvGrpSpPr/>
          <p:nvPr/>
        </p:nvGrpSpPr>
        <p:grpSpPr>
          <a:xfrm>
            <a:off x="12166869" y="811344"/>
            <a:ext cx="5092431" cy="2046128"/>
            <a:chOff x="0" y="-57150"/>
            <a:chExt cx="1043259" cy="419179"/>
          </a:xfrm>
        </p:grpSpPr>
        <p:sp>
          <p:nvSpPr>
            <p:cNvPr id="452" name="Google Shape;452;p11"/>
            <p:cNvSpPr/>
            <p:nvPr/>
          </p:nvSpPr>
          <p:spPr>
            <a:xfrm>
              <a:off x="0" y="0"/>
              <a:ext cx="1043259" cy="362029"/>
            </a:xfrm>
            <a:custGeom>
              <a:rect b="b" l="l" r="r" t="t"/>
              <a:pathLst>
                <a:path extrusionOk="0" h="362029" w="1043259">
                  <a:moveTo>
                    <a:pt x="98945" y="0"/>
                  </a:moveTo>
                  <a:lnTo>
                    <a:pt x="944313" y="0"/>
                  </a:lnTo>
                  <a:cubicBezTo>
                    <a:pt x="970555" y="0"/>
                    <a:pt x="995722" y="10425"/>
                    <a:pt x="1014278" y="28980"/>
                  </a:cubicBezTo>
                  <a:cubicBezTo>
                    <a:pt x="1032834" y="47536"/>
                    <a:pt x="1043259" y="72703"/>
                    <a:pt x="1043259" y="98945"/>
                  </a:cubicBezTo>
                  <a:lnTo>
                    <a:pt x="1043259" y="263084"/>
                  </a:lnTo>
                  <a:cubicBezTo>
                    <a:pt x="1043259" y="317730"/>
                    <a:pt x="998959" y="362029"/>
                    <a:pt x="944313" y="362029"/>
                  </a:cubicBezTo>
                  <a:lnTo>
                    <a:pt x="98945" y="362029"/>
                  </a:lnTo>
                  <a:cubicBezTo>
                    <a:pt x="72703" y="362029"/>
                    <a:pt x="47536" y="351604"/>
                    <a:pt x="28980" y="333048"/>
                  </a:cubicBezTo>
                  <a:cubicBezTo>
                    <a:pt x="10425" y="314493"/>
                    <a:pt x="0" y="289325"/>
                    <a:pt x="0" y="263084"/>
                  </a:cubicBezTo>
                  <a:lnTo>
                    <a:pt x="0" y="98945"/>
                  </a:lnTo>
                  <a:cubicBezTo>
                    <a:pt x="0" y="72703"/>
                    <a:pt x="10425" y="47536"/>
                    <a:pt x="28980" y="28980"/>
                  </a:cubicBezTo>
                  <a:cubicBezTo>
                    <a:pt x="47536" y="10425"/>
                    <a:pt x="72703" y="0"/>
                    <a:pt x="98945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1"/>
            <p:cNvSpPr txBox="1"/>
            <p:nvPr/>
          </p:nvSpPr>
          <p:spPr>
            <a:xfrm>
              <a:off x="0" y="-57150"/>
              <a:ext cx="1043259" cy="419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11"/>
          <p:cNvSpPr/>
          <p:nvPr/>
        </p:nvSpPr>
        <p:spPr>
          <a:xfrm rot="-5399999">
            <a:off x="-5620037" y="338881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1" y="0"/>
                </a:lnTo>
                <a:lnTo>
                  <a:pt x="12251631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5" name="Google Shape;455;p11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456" name="Google Shape;456;p11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1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8" name="Google Shape;458;p11"/>
          <p:cNvSpPr/>
          <p:nvPr/>
        </p:nvSpPr>
        <p:spPr>
          <a:xfrm>
            <a:off x="320864" y="4297580"/>
            <a:ext cx="5849814" cy="5679638"/>
          </a:xfrm>
          <a:custGeom>
            <a:rect b="b" l="l" r="r" t="t"/>
            <a:pathLst>
              <a:path extrusionOk="0" h="5679638" w="5849814">
                <a:moveTo>
                  <a:pt x="0" y="0"/>
                </a:moveTo>
                <a:lnTo>
                  <a:pt x="5849814" y="0"/>
                </a:lnTo>
                <a:lnTo>
                  <a:pt x="5849814" y="5679637"/>
                </a:lnTo>
                <a:lnTo>
                  <a:pt x="0" y="567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9" name="Google Shape;459;p11"/>
          <p:cNvSpPr txBox="1"/>
          <p:nvPr/>
        </p:nvSpPr>
        <p:spPr>
          <a:xfrm>
            <a:off x="1028700" y="2073810"/>
            <a:ext cx="4958128" cy="89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CONTOH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5494407" y="2156771"/>
            <a:ext cx="1338672" cy="1176358"/>
          </a:xfrm>
          <a:custGeom>
            <a:rect b="b" l="l" r="r" t="t"/>
            <a:pathLst>
              <a:path extrusionOk="0" h="1176358" w="1338672">
                <a:moveTo>
                  <a:pt x="0" y="0"/>
                </a:moveTo>
                <a:lnTo>
                  <a:pt x="1338672" y="0"/>
                </a:lnTo>
                <a:lnTo>
                  <a:pt x="1338672" y="1176358"/>
                </a:lnTo>
                <a:lnTo>
                  <a:pt x="0" y="117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11"/>
          <p:cNvSpPr/>
          <p:nvPr/>
        </p:nvSpPr>
        <p:spPr>
          <a:xfrm>
            <a:off x="4954880" y="3621840"/>
            <a:ext cx="1521660" cy="1521660"/>
          </a:xfrm>
          <a:custGeom>
            <a:rect b="b" l="l" r="r" t="t"/>
            <a:pathLst>
              <a:path extrusionOk="0" h="1521660" w="1521660">
                <a:moveTo>
                  <a:pt x="0" y="0"/>
                </a:moveTo>
                <a:lnTo>
                  <a:pt x="1521661" y="0"/>
                </a:lnTo>
                <a:lnTo>
                  <a:pt x="1521661" y="1521660"/>
                </a:lnTo>
                <a:lnTo>
                  <a:pt x="0" y="1521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11"/>
          <p:cNvSpPr txBox="1"/>
          <p:nvPr/>
        </p:nvSpPr>
        <p:spPr>
          <a:xfrm>
            <a:off x="7311967" y="1807982"/>
            <a:ext cx="4122481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Mencari Nilai Tertinggi</a:t>
            </a:r>
            <a:endParaRPr/>
          </a:p>
        </p:txBody>
      </p:sp>
      <p:sp>
        <p:nvSpPr>
          <p:cNvPr id="463" name="Google Shape;463;p11"/>
          <p:cNvSpPr txBox="1"/>
          <p:nvPr/>
        </p:nvSpPr>
        <p:spPr>
          <a:xfrm>
            <a:off x="12575376" y="1403978"/>
            <a:ext cx="4275416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= [80, 75, 90, 85, 70]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tertinggi = max(nilai)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print("Nilai tertinggi:", tertinggi)</a:t>
            </a:r>
            <a:endParaRPr/>
          </a:p>
        </p:txBody>
      </p:sp>
      <p:sp>
        <p:nvSpPr>
          <p:cNvPr id="464" name="Google Shape;464;p11"/>
          <p:cNvSpPr txBox="1"/>
          <p:nvPr/>
        </p:nvSpPr>
        <p:spPr>
          <a:xfrm>
            <a:off x="1028700" y="971550"/>
            <a:ext cx="4316244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SALFORD &amp; CO.</a:t>
            </a:r>
            <a:endParaRPr/>
          </a:p>
        </p:txBody>
      </p:sp>
      <p:grpSp>
        <p:nvGrpSpPr>
          <p:cNvPr id="465" name="Google Shape;465;p11"/>
          <p:cNvGrpSpPr/>
          <p:nvPr/>
        </p:nvGrpSpPr>
        <p:grpSpPr>
          <a:xfrm>
            <a:off x="8092700" y="3342875"/>
            <a:ext cx="9425284" cy="5465220"/>
            <a:chOff x="0" y="-57150"/>
            <a:chExt cx="1930906" cy="1119630"/>
          </a:xfrm>
        </p:grpSpPr>
        <p:sp>
          <p:nvSpPr>
            <p:cNvPr id="466" name="Google Shape;466;p11"/>
            <p:cNvSpPr/>
            <p:nvPr/>
          </p:nvSpPr>
          <p:spPr>
            <a:xfrm>
              <a:off x="0" y="0"/>
              <a:ext cx="1930906" cy="1062480"/>
            </a:xfrm>
            <a:custGeom>
              <a:rect b="b" l="l" r="r" t="t"/>
              <a:pathLst>
                <a:path extrusionOk="0" h="1062480" w="1930906">
                  <a:moveTo>
                    <a:pt x="32856" y="0"/>
                  </a:moveTo>
                  <a:lnTo>
                    <a:pt x="1898050" y="0"/>
                  </a:lnTo>
                  <a:cubicBezTo>
                    <a:pt x="1906764" y="0"/>
                    <a:pt x="1915121" y="3462"/>
                    <a:pt x="1921283" y="9623"/>
                  </a:cubicBezTo>
                  <a:cubicBezTo>
                    <a:pt x="1927445" y="15785"/>
                    <a:pt x="1930906" y="24142"/>
                    <a:pt x="1930906" y="32856"/>
                  </a:cubicBezTo>
                  <a:lnTo>
                    <a:pt x="1930906" y="1029624"/>
                  </a:lnTo>
                  <a:cubicBezTo>
                    <a:pt x="1930906" y="1047770"/>
                    <a:pt x="1916196" y="1062480"/>
                    <a:pt x="1898050" y="1062480"/>
                  </a:cubicBezTo>
                  <a:lnTo>
                    <a:pt x="32856" y="1062480"/>
                  </a:lnTo>
                  <a:cubicBezTo>
                    <a:pt x="14710" y="1062480"/>
                    <a:pt x="0" y="1047770"/>
                    <a:pt x="0" y="1029624"/>
                  </a:cubicBezTo>
                  <a:lnTo>
                    <a:pt x="0" y="32856"/>
                  </a:lnTo>
                  <a:cubicBezTo>
                    <a:pt x="0" y="14710"/>
                    <a:pt x="14710" y="0"/>
                    <a:pt x="328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1"/>
            <p:cNvSpPr txBox="1"/>
            <p:nvPr/>
          </p:nvSpPr>
          <p:spPr>
            <a:xfrm>
              <a:off x="0" y="-57150"/>
              <a:ext cx="1930906" cy="111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" name="Google Shape;468;p11"/>
          <p:cNvSpPr txBox="1"/>
          <p:nvPr/>
        </p:nvSpPr>
        <p:spPr>
          <a:xfrm>
            <a:off x="8690958" y="4348385"/>
            <a:ext cx="8279487" cy="3676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nilai = [80, 75, 90, 85, 70]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Membuat list</a:t>
            </a: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(daftar data) yang berisi nilai siswa.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max(nilai)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Fungsi max() digunakan untuk mencari nilai tertinggi dalam data.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80; 75; 90; 85; 70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tertinggi adalah 90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tertinggi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Hasil dari max(nilai) kemudian disimpan ke dalam variabel tertinggi.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474" name="Google Shape;474;p12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475" name="Google Shape;475;p12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2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p12"/>
          <p:cNvGrpSpPr/>
          <p:nvPr/>
        </p:nvGrpSpPr>
        <p:grpSpPr>
          <a:xfrm>
            <a:off x="7113399" y="1554509"/>
            <a:ext cx="4519617" cy="746704"/>
            <a:chOff x="8455" y="-57150"/>
            <a:chExt cx="2805754" cy="463550"/>
          </a:xfrm>
        </p:grpSpPr>
        <p:sp>
          <p:nvSpPr>
            <p:cNvPr id="478" name="Google Shape;478;p12"/>
            <p:cNvSpPr/>
            <p:nvPr/>
          </p:nvSpPr>
          <p:spPr>
            <a:xfrm>
              <a:off x="8455" y="0"/>
              <a:ext cx="2805754" cy="406400"/>
            </a:xfrm>
            <a:custGeom>
              <a:rect b="b" l="l" r="r" t="t"/>
              <a:pathLst>
                <a:path extrusionOk="0" h="406400" w="2805754">
                  <a:moveTo>
                    <a:pt x="2792074" y="0"/>
                  </a:moveTo>
                  <a:lnTo>
                    <a:pt x="13680" y="0"/>
                  </a:lnTo>
                  <a:cubicBezTo>
                    <a:pt x="8939" y="0"/>
                    <a:pt x="4536" y="2455"/>
                    <a:pt x="2043" y="6488"/>
                  </a:cubicBezTo>
                  <a:cubicBezTo>
                    <a:pt x="-450" y="10521"/>
                    <a:pt x="-676" y="15557"/>
                    <a:pt x="1444" y="19798"/>
                  </a:cubicBezTo>
                  <a:lnTo>
                    <a:pt x="83246" y="183402"/>
                  </a:lnTo>
                  <a:cubicBezTo>
                    <a:pt x="89478" y="195865"/>
                    <a:pt x="89478" y="210535"/>
                    <a:pt x="83246" y="222998"/>
                  </a:cubicBezTo>
                  <a:lnTo>
                    <a:pt x="1444" y="386602"/>
                  </a:lnTo>
                  <a:cubicBezTo>
                    <a:pt x="-676" y="390842"/>
                    <a:pt x="-450" y="395879"/>
                    <a:pt x="2043" y="399912"/>
                  </a:cubicBezTo>
                  <a:cubicBezTo>
                    <a:pt x="4536" y="403945"/>
                    <a:pt x="8939" y="406400"/>
                    <a:pt x="13680" y="406400"/>
                  </a:cubicBezTo>
                  <a:lnTo>
                    <a:pt x="2792074" y="406400"/>
                  </a:lnTo>
                  <a:cubicBezTo>
                    <a:pt x="2796815" y="406400"/>
                    <a:pt x="2801218" y="403945"/>
                    <a:pt x="2803711" y="399912"/>
                  </a:cubicBezTo>
                  <a:cubicBezTo>
                    <a:pt x="2806203" y="395879"/>
                    <a:pt x="2806430" y="390842"/>
                    <a:pt x="2804310" y="386602"/>
                  </a:cubicBezTo>
                  <a:lnTo>
                    <a:pt x="2722508" y="222998"/>
                  </a:lnTo>
                  <a:cubicBezTo>
                    <a:pt x="2716276" y="210535"/>
                    <a:pt x="2716276" y="195865"/>
                    <a:pt x="2722508" y="183402"/>
                  </a:cubicBezTo>
                  <a:lnTo>
                    <a:pt x="2804310" y="19798"/>
                  </a:lnTo>
                  <a:cubicBezTo>
                    <a:pt x="2806430" y="15557"/>
                    <a:pt x="2806203" y="10521"/>
                    <a:pt x="2803711" y="6488"/>
                  </a:cubicBezTo>
                  <a:cubicBezTo>
                    <a:pt x="2801218" y="2455"/>
                    <a:pt x="2796815" y="0"/>
                    <a:pt x="2792074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2"/>
            <p:cNvSpPr txBox="1"/>
            <p:nvPr/>
          </p:nvSpPr>
          <p:spPr>
            <a:xfrm>
              <a:off x="88900" y="-57150"/>
              <a:ext cx="2644864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12"/>
          <p:cNvGrpSpPr/>
          <p:nvPr/>
        </p:nvGrpSpPr>
        <p:grpSpPr>
          <a:xfrm>
            <a:off x="12166869" y="811344"/>
            <a:ext cx="5092431" cy="2046128"/>
            <a:chOff x="0" y="-57150"/>
            <a:chExt cx="1043259" cy="419179"/>
          </a:xfrm>
        </p:grpSpPr>
        <p:sp>
          <p:nvSpPr>
            <p:cNvPr id="481" name="Google Shape;481;p12"/>
            <p:cNvSpPr/>
            <p:nvPr/>
          </p:nvSpPr>
          <p:spPr>
            <a:xfrm>
              <a:off x="0" y="0"/>
              <a:ext cx="1043259" cy="362029"/>
            </a:xfrm>
            <a:custGeom>
              <a:rect b="b" l="l" r="r" t="t"/>
              <a:pathLst>
                <a:path extrusionOk="0" h="362029" w="1043259">
                  <a:moveTo>
                    <a:pt x="98945" y="0"/>
                  </a:moveTo>
                  <a:lnTo>
                    <a:pt x="944313" y="0"/>
                  </a:lnTo>
                  <a:cubicBezTo>
                    <a:pt x="970555" y="0"/>
                    <a:pt x="995722" y="10425"/>
                    <a:pt x="1014278" y="28980"/>
                  </a:cubicBezTo>
                  <a:cubicBezTo>
                    <a:pt x="1032834" y="47536"/>
                    <a:pt x="1043259" y="72703"/>
                    <a:pt x="1043259" y="98945"/>
                  </a:cubicBezTo>
                  <a:lnTo>
                    <a:pt x="1043259" y="263084"/>
                  </a:lnTo>
                  <a:cubicBezTo>
                    <a:pt x="1043259" y="317730"/>
                    <a:pt x="998959" y="362029"/>
                    <a:pt x="944313" y="362029"/>
                  </a:cubicBezTo>
                  <a:lnTo>
                    <a:pt x="98945" y="362029"/>
                  </a:lnTo>
                  <a:cubicBezTo>
                    <a:pt x="72703" y="362029"/>
                    <a:pt x="47536" y="351604"/>
                    <a:pt x="28980" y="333048"/>
                  </a:cubicBezTo>
                  <a:cubicBezTo>
                    <a:pt x="10425" y="314493"/>
                    <a:pt x="0" y="289325"/>
                    <a:pt x="0" y="263084"/>
                  </a:cubicBezTo>
                  <a:lnTo>
                    <a:pt x="0" y="98945"/>
                  </a:lnTo>
                  <a:cubicBezTo>
                    <a:pt x="0" y="72703"/>
                    <a:pt x="10425" y="47536"/>
                    <a:pt x="28980" y="28980"/>
                  </a:cubicBezTo>
                  <a:cubicBezTo>
                    <a:pt x="47536" y="10425"/>
                    <a:pt x="72703" y="0"/>
                    <a:pt x="98945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2"/>
            <p:cNvSpPr txBox="1"/>
            <p:nvPr/>
          </p:nvSpPr>
          <p:spPr>
            <a:xfrm>
              <a:off x="0" y="-57150"/>
              <a:ext cx="1043259" cy="419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2"/>
          <p:cNvSpPr/>
          <p:nvPr/>
        </p:nvSpPr>
        <p:spPr>
          <a:xfrm rot="-5399999">
            <a:off x="-5620037" y="338881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1" y="0"/>
                </a:lnTo>
                <a:lnTo>
                  <a:pt x="12251631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4" name="Google Shape;484;p12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485" name="Google Shape;485;p12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2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p12"/>
          <p:cNvSpPr/>
          <p:nvPr/>
        </p:nvSpPr>
        <p:spPr>
          <a:xfrm>
            <a:off x="320864" y="4297580"/>
            <a:ext cx="5849814" cy="5679638"/>
          </a:xfrm>
          <a:custGeom>
            <a:rect b="b" l="l" r="r" t="t"/>
            <a:pathLst>
              <a:path extrusionOk="0" h="5679638" w="5849814">
                <a:moveTo>
                  <a:pt x="0" y="0"/>
                </a:moveTo>
                <a:lnTo>
                  <a:pt x="5849814" y="0"/>
                </a:lnTo>
                <a:lnTo>
                  <a:pt x="5849814" y="5679637"/>
                </a:lnTo>
                <a:lnTo>
                  <a:pt x="0" y="567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p12"/>
          <p:cNvSpPr txBox="1"/>
          <p:nvPr/>
        </p:nvSpPr>
        <p:spPr>
          <a:xfrm>
            <a:off x="1028700" y="2073810"/>
            <a:ext cx="4958128" cy="89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CONTOH</a:t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5494407" y="2156771"/>
            <a:ext cx="1338672" cy="1176358"/>
          </a:xfrm>
          <a:custGeom>
            <a:rect b="b" l="l" r="r" t="t"/>
            <a:pathLst>
              <a:path extrusionOk="0" h="1176358" w="1338672">
                <a:moveTo>
                  <a:pt x="0" y="0"/>
                </a:moveTo>
                <a:lnTo>
                  <a:pt x="1338672" y="0"/>
                </a:lnTo>
                <a:lnTo>
                  <a:pt x="1338672" y="1176358"/>
                </a:lnTo>
                <a:lnTo>
                  <a:pt x="0" y="117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p12"/>
          <p:cNvSpPr/>
          <p:nvPr/>
        </p:nvSpPr>
        <p:spPr>
          <a:xfrm>
            <a:off x="4954880" y="3621840"/>
            <a:ext cx="1521660" cy="1521660"/>
          </a:xfrm>
          <a:custGeom>
            <a:rect b="b" l="l" r="r" t="t"/>
            <a:pathLst>
              <a:path extrusionOk="0" h="1521660" w="1521660">
                <a:moveTo>
                  <a:pt x="0" y="0"/>
                </a:moveTo>
                <a:lnTo>
                  <a:pt x="1521661" y="0"/>
                </a:lnTo>
                <a:lnTo>
                  <a:pt x="1521661" y="1521660"/>
                </a:lnTo>
                <a:lnTo>
                  <a:pt x="0" y="1521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1" name="Google Shape;491;p12"/>
          <p:cNvSpPr txBox="1"/>
          <p:nvPr/>
        </p:nvSpPr>
        <p:spPr>
          <a:xfrm>
            <a:off x="7311967" y="1807982"/>
            <a:ext cx="4122481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Mencari Nilai Terendah</a:t>
            </a:r>
            <a:endParaRPr/>
          </a:p>
        </p:txBody>
      </p:sp>
      <p:sp>
        <p:nvSpPr>
          <p:cNvPr id="492" name="Google Shape;492;p12"/>
          <p:cNvSpPr txBox="1"/>
          <p:nvPr/>
        </p:nvSpPr>
        <p:spPr>
          <a:xfrm>
            <a:off x="12575376" y="1403978"/>
            <a:ext cx="4275416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= [80, 75, 90, 85, 70]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terendah = min(nilai)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print("Nilai terendah:", terendah)</a:t>
            </a:r>
            <a:endParaRPr/>
          </a:p>
        </p:txBody>
      </p:sp>
      <p:sp>
        <p:nvSpPr>
          <p:cNvPr id="493" name="Google Shape;493;p12"/>
          <p:cNvSpPr txBox="1"/>
          <p:nvPr/>
        </p:nvSpPr>
        <p:spPr>
          <a:xfrm>
            <a:off x="1028700" y="971550"/>
            <a:ext cx="4316244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SALFORD &amp; CO.</a:t>
            </a:r>
            <a:endParaRPr/>
          </a:p>
        </p:txBody>
      </p:sp>
      <p:grpSp>
        <p:nvGrpSpPr>
          <p:cNvPr id="494" name="Google Shape;494;p12"/>
          <p:cNvGrpSpPr/>
          <p:nvPr/>
        </p:nvGrpSpPr>
        <p:grpSpPr>
          <a:xfrm>
            <a:off x="8092700" y="3342875"/>
            <a:ext cx="9425284" cy="5465220"/>
            <a:chOff x="0" y="-57150"/>
            <a:chExt cx="1930906" cy="1119630"/>
          </a:xfrm>
        </p:grpSpPr>
        <p:sp>
          <p:nvSpPr>
            <p:cNvPr id="495" name="Google Shape;495;p12"/>
            <p:cNvSpPr/>
            <p:nvPr/>
          </p:nvSpPr>
          <p:spPr>
            <a:xfrm>
              <a:off x="0" y="0"/>
              <a:ext cx="1930906" cy="1062480"/>
            </a:xfrm>
            <a:custGeom>
              <a:rect b="b" l="l" r="r" t="t"/>
              <a:pathLst>
                <a:path extrusionOk="0" h="1062480" w="1930906">
                  <a:moveTo>
                    <a:pt x="32856" y="0"/>
                  </a:moveTo>
                  <a:lnTo>
                    <a:pt x="1898050" y="0"/>
                  </a:lnTo>
                  <a:cubicBezTo>
                    <a:pt x="1906764" y="0"/>
                    <a:pt x="1915121" y="3462"/>
                    <a:pt x="1921283" y="9623"/>
                  </a:cubicBezTo>
                  <a:cubicBezTo>
                    <a:pt x="1927445" y="15785"/>
                    <a:pt x="1930906" y="24142"/>
                    <a:pt x="1930906" y="32856"/>
                  </a:cubicBezTo>
                  <a:lnTo>
                    <a:pt x="1930906" y="1029624"/>
                  </a:lnTo>
                  <a:cubicBezTo>
                    <a:pt x="1930906" y="1047770"/>
                    <a:pt x="1916196" y="1062480"/>
                    <a:pt x="1898050" y="1062480"/>
                  </a:cubicBezTo>
                  <a:lnTo>
                    <a:pt x="32856" y="1062480"/>
                  </a:lnTo>
                  <a:cubicBezTo>
                    <a:pt x="14710" y="1062480"/>
                    <a:pt x="0" y="1047770"/>
                    <a:pt x="0" y="1029624"/>
                  </a:cubicBezTo>
                  <a:lnTo>
                    <a:pt x="0" y="32856"/>
                  </a:lnTo>
                  <a:cubicBezTo>
                    <a:pt x="0" y="14710"/>
                    <a:pt x="14710" y="0"/>
                    <a:pt x="328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2"/>
            <p:cNvSpPr txBox="1"/>
            <p:nvPr/>
          </p:nvSpPr>
          <p:spPr>
            <a:xfrm>
              <a:off x="0" y="-57150"/>
              <a:ext cx="1930906" cy="111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7" name="Google Shape;497;p12"/>
          <p:cNvSpPr txBox="1"/>
          <p:nvPr/>
        </p:nvSpPr>
        <p:spPr>
          <a:xfrm>
            <a:off x="8665598" y="4348385"/>
            <a:ext cx="8312111" cy="3676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nilai = [80, 75, 90, 85, 70]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Membuat list</a:t>
            </a: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(daftar data) yang berisi nilai siswa.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min(nilai)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Fungsi min() digunakan untuk mencari nilai terendah dalam data.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80; 75; 90; 85; 70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terkecil adalah 70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terendah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Hasil dari min(nilai) kemudian disimpan ke dalam variabel terendah.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503" name="Google Shape;503;p13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504" name="Google Shape;504;p13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3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13"/>
          <p:cNvGrpSpPr/>
          <p:nvPr/>
        </p:nvGrpSpPr>
        <p:grpSpPr>
          <a:xfrm>
            <a:off x="7113399" y="1554509"/>
            <a:ext cx="4519617" cy="746704"/>
            <a:chOff x="8455" y="-57150"/>
            <a:chExt cx="2805754" cy="463550"/>
          </a:xfrm>
        </p:grpSpPr>
        <p:sp>
          <p:nvSpPr>
            <p:cNvPr id="507" name="Google Shape;507;p13"/>
            <p:cNvSpPr/>
            <p:nvPr/>
          </p:nvSpPr>
          <p:spPr>
            <a:xfrm>
              <a:off x="8455" y="0"/>
              <a:ext cx="2805754" cy="406400"/>
            </a:xfrm>
            <a:custGeom>
              <a:rect b="b" l="l" r="r" t="t"/>
              <a:pathLst>
                <a:path extrusionOk="0" h="406400" w="2805754">
                  <a:moveTo>
                    <a:pt x="2792074" y="0"/>
                  </a:moveTo>
                  <a:lnTo>
                    <a:pt x="13680" y="0"/>
                  </a:lnTo>
                  <a:cubicBezTo>
                    <a:pt x="8939" y="0"/>
                    <a:pt x="4536" y="2455"/>
                    <a:pt x="2043" y="6488"/>
                  </a:cubicBezTo>
                  <a:cubicBezTo>
                    <a:pt x="-450" y="10521"/>
                    <a:pt x="-676" y="15557"/>
                    <a:pt x="1444" y="19798"/>
                  </a:cubicBezTo>
                  <a:lnTo>
                    <a:pt x="83246" y="183402"/>
                  </a:lnTo>
                  <a:cubicBezTo>
                    <a:pt x="89478" y="195865"/>
                    <a:pt x="89478" y="210535"/>
                    <a:pt x="83246" y="222998"/>
                  </a:cubicBezTo>
                  <a:lnTo>
                    <a:pt x="1444" y="386602"/>
                  </a:lnTo>
                  <a:cubicBezTo>
                    <a:pt x="-676" y="390842"/>
                    <a:pt x="-450" y="395879"/>
                    <a:pt x="2043" y="399912"/>
                  </a:cubicBezTo>
                  <a:cubicBezTo>
                    <a:pt x="4536" y="403945"/>
                    <a:pt x="8939" y="406400"/>
                    <a:pt x="13680" y="406400"/>
                  </a:cubicBezTo>
                  <a:lnTo>
                    <a:pt x="2792074" y="406400"/>
                  </a:lnTo>
                  <a:cubicBezTo>
                    <a:pt x="2796815" y="406400"/>
                    <a:pt x="2801218" y="403945"/>
                    <a:pt x="2803711" y="399912"/>
                  </a:cubicBezTo>
                  <a:cubicBezTo>
                    <a:pt x="2806203" y="395879"/>
                    <a:pt x="2806430" y="390842"/>
                    <a:pt x="2804310" y="386602"/>
                  </a:cubicBezTo>
                  <a:lnTo>
                    <a:pt x="2722508" y="222998"/>
                  </a:lnTo>
                  <a:cubicBezTo>
                    <a:pt x="2716276" y="210535"/>
                    <a:pt x="2716276" y="195865"/>
                    <a:pt x="2722508" y="183402"/>
                  </a:cubicBezTo>
                  <a:lnTo>
                    <a:pt x="2804310" y="19798"/>
                  </a:lnTo>
                  <a:cubicBezTo>
                    <a:pt x="2806430" y="15557"/>
                    <a:pt x="2806203" y="10521"/>
                    <a:pt x="2803711" y="6488"/>
                  </a:cubicBezTo>
                  <a:cubicBezTo>
                    <a:pt x="2801218" y="2455"/>
                    <a:pt x="2796815" y="0"/>
                    <a:pt x="2792074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3"/>
            <p:cNvSpPr txBox="1"/>
            <p:nvPr/>
          </p:nvSpPr>
          <p:spPr>
            <a:xfrm>
              <a:off x="88900" y="-57150"/>
              <a:ext cx="2644864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9" name="Google Shape;509;p13"/>
          <p:cNvGrpSpPr/>
          <p:nvPr/>
        </p:nvGrpSpPr>
        <p:grpSpPr>
          <a:xfrm>
            <a:off x="12166869" y="811344"/>
            <a:ext cx="5092431" cy="2046128"/>
            <a:chOff x="0" y="-57150"/>
            <a:chExt cx="1043259" cy="419179"/>
          </a:xfrm>
        </p:grpSpPr>
        <p:sp>
          <p:nvSpPr>
            <p:cNvPr id="510" name="Google Shape;510;p13"/>
            <p:cNvSpPr/>
            <p:nvPr/>
          </p:nvSpPr>
          <p:spPr>
            <a:xfrm>
              <a:off x="0" y="0"/>
              <a:ext cx="1043259" cy="362029"/>
            </a:xfrm>
            <a:custGeom>
              <a:rect b="b" l="l" r="r" t="t"/>
              <a:pathLst>
                <a:path extrusionOk="0" h="362029" w="1043259">
                  <a:moveTo>
                    <a:pt x="98945" y="0"/>
                  </a:moveTo>
                  <a:lnTo>
                    <a:pt x="944313" y="0"/>
                  </a:lnTo>
                  <a:cubicBezTo>
                    <a:pt x="970555" y="0"/>
                    <a:pt x="995722" y="10425"/>
                    <a:pt x="1014278" y="28980"/>
                  </a:cubicBezTo>
                  <a:cubicBezTo>
                    <a:pt x="1032834" y="47536"/>
                    <a:pt x="1043259" y="72703"/>
                    <a:pt x="1043259" y="98945"/>
                  </a:cubicBezTo>
                  <a:lnTo>
                    <a:pt x="1043259" y="263084"/>
                  </a:lnTo>
                  <a:cubicBezTo>
                    <a:pt x="1043259" y="317730"/>
                    <a:pt x="998959" y="362029"/>
                    <a:pt x="944313" y="362029"/>
                  </a:cubicBezTo>
                  <a:lnTo>
                    <a:pt x="98945" y="362029"/>
                  </a:lnTo>
                  <a:cubicBezTo>
                    <a:pt x="72703" y="362029"/>
                    <a:pt x="47536" y="351604"/>
                    <a:pt x="28980" y="333048"/>
                  </a:cubicBezTo>
                  <a:cubicBezTo>
                    <a:pt x="10425" y="314493"/>
                    <a:pt x="0" y="289325"/>
                    <a:pt x="0" y="263084"/>
                  </a:cubicBezTo>
                  <a:lnTo>
                    <a:pt x="0" y="98945"/>
                  </a:lnTo>
                  <a:cubicBezTo>
                    <a:pt x="0" y="72703"/>
                    <a:pt x="10425" y="47536"/>
                    <a:pt x="28980" y="28980"/>
                  </a:cubicBezTo>
                  <a:cubicBezTo>
                    <a:pt x="47536" y="10425"/>
                    <a:pt x="72703" y="0"/>
                    <a:pt x="98945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3"/>
            <p:cNvSpPr txBox="1"/>
            <p:nvPr/>
          </p:nvSpPr>
          <p:spPr>
            <a:xfrm>
              <a:off x="0" y="-57150"/>
              <a:ext cx="1043259" cy="419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2" name="Google Shape;512;p13"/>
          <p:cNvSpPr/>
          <p:nvPr/>
        </p:nvSpPr>
        <p:spPr>
          <a:xfrm rot="-5399999">
            <a:off x="-5620037" y="338881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1" y="0"/>
                </a:lnTo>
                <a:lnTo>
                  <a:pt x="12251631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3" name="Google Shape;513;p13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514" name="Google Shape;514;p13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3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" name="Google Shape;516;p13"/>
          <p:cNvSpPr/>
          <p:nvPr/>
        </p:nvSpPr>
        <p:spPr>
          <a:xfrm>
            <a:off x="320864" y="4297580"/>
            <a:ext cx="5849814" cy="5679638"/>
          </a:xfrm>
          <a:custGeom>
            <a:rect b="b" l="l" r="r" t="t"/>
            <a:pathLst>
              <a:path extrusionOk="0" h="5679638" w="5849814">
                <a:moveTo>
                  <a:pt x="0" y="0"/>
                </a:moveTo>
                <a:lnTo>
                  <a:pt x="5849814" y="0"/>
                </a:lnTo>
                <a:lnTo>
                  <a:pt x="5849814" y="5679637"/>
                </a:lnTo>
                <a:lnTo>
                  <a:pt x="0" y="567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7" name="Google Shape;517;p13"/>
          <p:cNvSpPr txBox="1"/>
          <p:nvPr/>
        </p:nvSpPr>
        <p:spPr>
          <a:xfrm>
            <a:off x="1028700" y="2073810"/>
            <a:ext cx="4958128" cy="89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CONTOH</a:t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5494407" y="2156771"/>
            <a:ext cx="1338672" cy="1176358"/>
          </a:xfrm>
          <a:custGeom>
            <a:rect b="b" l="l" r="r" t="t"/>
            <a:pathLst>
              <a:path extrusionOk="0" h="1176358" w="1338672">
                <a:moveTo>
                  <a:pt x="0" y="0"/>
                </a:moveTo>
                <a:lnTo>
                  <a:pt x="1338672" y="0"/>
                </a:lnTo>
                <a:lnTo>
                  <a:pt x="1338672" y="1176358"/>
                </a:lnTo>
                <a:lnTo>
                  <a:pt x="0" y="117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13"/>
          <p:cNvSpPr/>
          <p:nvPr/>
        </p:nvSpPr>
        <p:spPr>
          <a:xfrm>
            <a:off x="4954880" y="3621840"/>
            <a:ext cx="1521660" cy="1521660"/>
          </a:xfrm>
          <a:custGeom>
            <a:rect b="b" l="l" r="r" t="t"/>
            <a:pathLst>
              <a:path extrusionOk="0" h="1521660" w="1521660">
                <a:moveTo>
                  <a:pt x="0" y="0"/>
                </a:moveTo>
                <a:lnTo>
                  <a:pt x="1521661" y="0"/>
                </a:lnTo>
                <a:lnTo>
                  <a:pt x="1521661" y="1521660"/>
                </a:lnTo>
                <a:lnTo>
                  <a:pt x="0" y="1521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p13"/>
          <p:cNvSpPr txBox="1"/>
          <p:nvPr/>
        </p:nvSpPr>
        <p:spPr>
          <a:xfrm>
            <a:off x="7311967" y="1807982"/>
            <a:ext cx="4122481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Menghitung Jumlah Total</a:t>
            </a:r>
            <a:endParaRPr/>
          </a:p>
        </p:txBody>
      </p:sp>
      <p:sp>
        <p:nvSpPr>
          <p:cNvPr id="521" name="Google Shape;521;p13"/>
          <p:cNvSpPr txBox="1"/>
          <p:nvPr/>
        </p:nvSpPr>
        <p:spPr>
          <a:xfrm>
            <a:off x="12761060" y="1403978"/>
            <a:ext cx="4275416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= [80, 75, 90, 85, 70]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= sum(nilai)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print("Jumlah total:", total)</a:t>
            </a:r>
            <a:endParaRPr/>
          </a:p>
        </p:txBody>
      </p:sp>
      <p:sp>
        <p:nvSpPr>
          <p:cNvPr id="522" name="Google Shape;522;p13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523" name="Google Shape;523;p13"/>
          <p:cNvGrpSpPr/>
          <p:nvPr/>
        </p:nvGrpSpPr>
        <p:grpSpPr>
          <a:xfrm>
            <a:off x="7454227" y="3342875"/>
            <a:ext cx="7444541" cy="5136521"/>
            <a:chOff x="0" y="-57150"/>
            <a:chExt cx="1525122" cy="1052291"/>
          </a:xfrm>
        </p:grpSpPr>
        <p:sp>
          <p:nvSpPr>
            <p:cNvPr id="524" name="Google Shape;524;p13"/>
            <p:cNvSpPr/>
            <p:nvPr/>
          </p:nvSpPr>
          <p:spPr>
            <a:xfrm>
              <a:off x="0" y="0"/>
              <a:ext cx="1525122" cy="995141"/>
            </a:xfrm>
            <a:custGeom>
              <a:rect b="b" l="l" r="r" t="t"/>
              <a:pathLst>
                <a:path extrusionOk="0" h="995141" w="1525122">
                  <a:moveTo>
                    <a:pt x="41598" y="0"/>
                  </a:moveTo>
                  <a:lnTo>
                    <a:pt x="1483525" y="0"/>
                  </a:lnTo>
                  <a:cubicBezTo>
                    <a:pt x="1494557" y="0"/>
                    <a:pt x="1505138" y="4383"/>
                    <a:pt x="1512939" y="12184"/>
                  </a:cubicBezTo>
                  <a:cubicBezTo>
                    <a:pt x="1520740" y="19985"/>
                    <a:pt x="1525122" y="30565"/>
                    <a:pt x="1525122" y="41598"/>
                  </a:cubicBezTo>
                  <a:lnTo>
                    <a:pt x="1525122" y="953543"/>
                  </a:lnTo>
                  <a:cubicBezTo>
                    <a:pt x="1525122" y="976517"/>
                    <a:pt x="1506498" y="995141"/>
                    <a:pt x="1483525" y="995141"/>
                  </a:cubicBezTo>
                  <a:lnTo>
                    <a:pt x="41598" y="995141"/>
                  </a:lnTo>
                  <a:cubicBezTo>
                    <a:pt x="18624" y="995141"/>
                    <a:pt x="0" y="976517"/>
                    <a:pt x="0" y="953543"/>
                  </a:cubicBezTo>
                  <a:lnTo>
                    <a:pt x="0" y="41598"/>
                  </a:lnTo>
                  <a:cubicBezTo>
                    <a:pt x="0" y="18624"/>
                    <a:pt x="18624" y="0"/>
                    <a:pt x="415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3"/>
            <p:cNvSpPr txBox="1"/>
            <p:nvPr/>
          </p:nvSpPr>
          <p:spPr>
            <a:xfrm>
              <a:off x="0" y="-57150"/>
              <a:ext cx="1525122" cy="1052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13"/>
          <p:cNvSpPr txBox="1"/>
          <p:nvPr/>
        </p:nvSpPr>
        <p:spPr>
          <a:xfrm>
            <a:off x="7908291" y="4517410"/>
            <a:ext cx="6535044" cy="300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nilai = [80, 75, 90, 85, 70]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Menyimpan data nilai dalam list.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sum(nilai)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Fungsi sum() menjumlahkan semua angka dalam list.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Perhitungan: 80 + 75 + 90 + 85 + 70 = 400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total = sum(nilai)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Hasil penjumlahan disimpan dalam variabel total.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532" name="Google Shape;532;p14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533" name="Google Shape;533;p14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4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14"/>
          <p:cNvSpPr/>
          <p:nvPr/>
        </p:nvSpPr>
        <p:spPr>
          <a:xfrm rot="-5399999">
            <a:off x="-5620037" y="3388818"/>
            <a:ext cx="12251630" cy="12140252"/>
          </a:xfrm>
          <a:custGeom>
            <a:rect b="b" l="l" r="r" t="t"/>
            <a:pathLst>
              <a:path extrusionOk="0" h="12140252" w="12251630">
                <a:moveTo>
                  <a:pt x="0" y="0"/>
                </a:moveTo>
                <a:lnTo>
                  <a:pt x="12251631" y="0"/>
                </a:lnTo>
                <a:lnTo>
                  <a:pt x="12251631" y="12140252"/>
                </a:lnTo>
                <a:lnTo>
                  <a:pt x="0" y="12140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6" name="Google Shape;536;p14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537" name="Google Shape;537;p14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4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p14"/>
          <p:cNvSpPr/>
          <p:nvPr/>
        </p:nvSpPr>
        <p:spPr>
          <a:xfrm>
            <a:off x="320864" y="4297580"/>
            <a:ext cx="5849814" cy="5679638"/>
          </a:xfrm>
          <a:custGeom>
            <a:rect b="b" l="l" r="r" t="t"/>
            <a:pathLst>
              <a:path extrusionOk="0" h="5679638" w="5849814">
                <a:moveTo>
                  <a:pt x="0" y="0"/>
                </a:moveTo>
                <a:lnTo>
                  <a:pt x="5849814" y="0"/>
                </a:lnTo>
                <a:lnTo>
                  <a:pt x="5849814" y="5679637"/>
                </a:lnTo>
                <a:lnTo>
                  <a:pt x="0" y="567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p14"/>
          <p:cNvSpPr txBox="1"/>
          <p:nvPr/>
        </p:nvSpPr>
        <p:spPr>
          <a:xfrm>
            <a:off x="1028700" y="2073810"/>
            <a:ext cx="4958128" cy="89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CONTOH</a:t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5494407" y="2156771"/>
            <a:ext cx="1338672" cy="1176358"/>
          </a:xfrm>
          <a:custGeom>
            <a:rect b="b" l="l" r="r" t="t"/>
            <a:pathLst>
              <a:path extrusionOk="0" h="1176358" w="1338672">
                <a:moveTo>
                  <a:pt x="0" y="0"/>
                </a:moveTo>
                <a:lnTo>
                  <a:pt x="1338672" y="0"/>
                </a:lnTo>
                <a:lnTo>
                  <a:pt x="1338672" y="1176358"/>
                </a:lnTo>
                <a:lnTo>
                  <a:pt x="0" y="117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2" name="Google Shape;542;p14"/>
          <p:cNvSpPr/>
          <p:nvPr/>
        </p:nvSpPr>
        <p:spPr>
          <a:xfrm>
            <a:off x="4954880" y="3621840"/>
            <a:ext cx="1521660" cy="1521660"/>
          </a:xfrm>
          <a:custGeom>
            <a:rect b="b" l="l" r="r" t="t"/>
            <a:pathLst>
              <a:path extrusionOk="0" h="1521660" w="1521660">
                <a:moveTo>
                  <a:pt x="0" y="0"/>
                </a:moveTo>
                <a:lnTo>
                  <a:pt x="1521661" y="0"/>
                </a:lnTo>
                <a:lnTo>
                  <a:pt x="1521661" y="1521660"/>
                </a:lnTo>
                <a:lnTo>
                  <a:pt x="0" y="1521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3" name="Google Shape;543;p14"/>
          <p:cNvGrpSpPr/>
          <p:nvPr/>
        </p:nvGrpSpPr>
        <p:grpSpPr>
          <a:xfrm>
            <a:off x="7113399" y="1534895"/>
            <a:ext cx="4519618" cy="746737"/>
            <a:chOff x="18160" y="-122746"/>
            <a:chExt cx="6026158" cy="995650"/>
          </a:xfrm>
        </p:grpSpPr>
        <p:grpSp>
          <p:nvGrpSpPr>
            <p:cNvPr id="544" name="Google Shape;544;p14"/>
            <p:cNvGrpSpPr/>
            <p:nvPr/>
          </p:nvGrpSpPr>
          <p:grpSpPr>
            <a:xfrm>
              <a:off x="18160" y="-122746"/>
              <a:ext cx="6026158" cy="995650"/>
              <a:chOff x="8455" y="-57150"/>
              <a:chExt cx="2805755" cy="463571"/>
            </a:xfrm>
          </p:grpSpPr>
          <p:sp>
            <p:nvSpPr>
              <p:cNvPr id="545" name="Google Shape;545;p14"/>
              <p:cNvSpPr/>
              <p:nvPr/>
            </p:nvSpPr>
            <p:spPr>
              <a:xfrm>
                <a:off x="8455" y="0"/>
                <a:ext cx="2805755" cy="406421"/>
              </a:xfrm>
              <a:custGeom>
                <a:rect b="b" l="l" r="r" t="t"/>
                <a:pathLst>
                  <a:path extrusionOk="0" h="406421" w="2805755">
                    <a:moveTo>
                      <a:pt x="2792074" y="0"/>
                    </a:moveTo>
                    <a:lnTo>
                      <a:pt x="13680" y="0"/>
                    </a:lnTo>
                    <a:cubicBezTo>
                      <a:pt x="8939" y="0"/>
                      <a:pt x="4535" y="2455"/>
                      <a:pt x="2043" y="6488"/>
                    </a:cubicBezTo>
                    <a:cubicBezTo>
                      <a:pt x="-450" y="10521"/>
                      <a:pt x="-677" y="15558"/>
                      <a:pt x="1444" y="19798"/>
                    </a:cubicBezTo>
                    <a:lnTo>
                      <a:pt x="83246" y="183412"/>
                    </a:lnTo>
                    <a:cubicBezTo>
                      <a:pt x="89478" y="195875"/>
                      <a:pt x="89478" y="210545"/>
                      <a:pt x="83246" y="223009"/>
                    </a:cubicBezTo>
                    <a:lnTo>
                      <a:pt x="1444" y="386622"/>
                    </a:lnTo>
                    <a:cubicBezTo>
                      <a:pt x="-677" y="390863"/>
                      <a:pt x="-450" y="395899"/>
                      <a:pt x="2043" y="399932"/>
                    </a:cubicBezTo>
                    <a:cubicBezTo>
                      <a:pt x="4535" y="403966"/>
                      <a:pt x="8939" y="406421"/>
                      <a:pt x="13680" y="406421"/>
                    </a:cubicBezTo>
                    <a:lnTo>
                      <a:pt x="2792074" y="406421"/>
                    </a:lnTo>
                    <a:cubicBezTo>
                      <a:pt x="2796815" y="406421"/>
                      <a:pt x="2801218" y="403966"/>
                      <a:pt x="2803711" y="399932"/>
                    </a:cubicBezTo>
                    <a:cubicBezTo>
                      <a:pt x="2806204" y="395899"/>
                      <a:pt x="2806430" y="390863"/>
                      <a:pt x="2804310" y="386622"/>
                    </a:cubicBezTo>
                    <a:lnTo>
                      <a:pt x="2722507" y="223009"/>
                    </a:lnTo>
                    <a:cubicBezTo>
                      <a:pt x="2716276" y="210545"/>
                      <a:pt x="2716276" y="195875"/>
                      <a:pt x="2722507" y="183412"/>
                    </a:cubicBezTo>
                    <a:lnTo>
                      <a:pt x="2804310" y="19798"/>
                    </a:lnTo>
                    <a:cubicBezTo>
                      <a:pt x="2806430" y="15558"/>
                      <a:pt x="2806204" y="10521"/>
                      <a:pt x="2803711" y="6488"/>
                    </a:cubicBezTo>
                    <a:cubicBezTo>
                      <a:pt x="2801218" y="2455"/>
                      <a:pt x="2796815" y="0"/>
                      <a:pt x="2792074" y="0"/>
                    </a:cubicBezTo>
                    <a:close/>
                  </a:path>
                </a:pathLst>
              </a:custGeom>
              <a:solidFill>
                <a:srgbClr val="DCE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4"/>
              <p:cNvSpPr txBox="1"/>
              <p:nvPr/>
            </p:nvSpPr>
            <p:spPr>
              <a:xfrm>
                <a:off x="88900" y="-57150"/>
                <a:ext cx="2644864" cy="463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7" name="Google Shape;547;p14"/>
            <p:cNvSpPr txBox="1"/>
            <p:nvPr/>
          </p:nvSpPr>
          <p:spPr>
            <a:xfrm>
              <a:off x="282916" y="208868"/>
              <a:ext cx="5496642" cy="468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A336B"/>
                  </a:solidFill>
                  <a:latin typeface="Poppins"/>
                  <a:ea typeface="Poppins"/>
                  <a:cs typeface="Poppins"/>
                  <a:sym typeface="Poppins"/>
                </a:rPr>
                <a:t>Menghitung Persentase</a:t>
              </a:r>
              <a:endParaRPr/>
            </a:p>
          </p:txBody>
        </p:sp>
      </p:grpSp>
      <p:grpSp>
        <p:nvGrpSpPr>
          <p:cNvPr id="548" name="Google Shape;548;p14"/>
          <p:cNvGrpSpPr/>
          <p:nvPr/>
        </p:nvGrpSpPr>
        <p:grpSpPr>
          <a:xfrm>
            <a:off x="11799035" y="305984"/>
            <a:ext cx="6168100" cy="3017851"/>
            <a:chOff x="0" y="-371953"/>
            <a:chExt cx="8224134" cy="4023801"/>
          </a:xfrm>
        </p:grpSpPr>
        <p:grpSp>
          <p:nvGrpSpPr>
            <p:cNvPr id="549" name="Google Shape;549;p14"/>
            <p:cNvGrpSpPr/>
            <p:nvPr/>
          </p:nvGrpSpPr>
          <p:grpSpPr>
            <a:xfrm>
              <a:off x="0" y="-371953"/>
              <a:ext cx="8224134" cy="4023801"/>
              <a:chOff x="0" y="-57150"/>
              <a:chExt cx="1263625" cy="618251"/>
            </a:xfrm>
          </p:grpSpPr>
          <p:sp>
            <p:nvSpPr>
              <p:cNvPr id="550" name="Google Shape;550;p14"/>
              <p:cNvSpPr/>
              <p:nvPr/>
            </p:nvSpPr>
            <p:spPr>
              <a:xfrm>
                <a:off x="0" y="0"/>
                <a:ext cx="1263625" cy="561101"/>
              </a:xfrm>
              <a:custGeom>
                <a:rect b="b" l="l" r="r" t="t"/>
                <a:pathLst>
                  <a:path extrusionOk="0" h="561101" w="1263625">
                    <a:moveTo>
                      <a:pt x="81690" y="0"/>
                    </a:moveTo>
                    <a:lnTo>
                      <a:pt x="1181935" y="0"/>
                    </a:lnTo>
                    <a:cubicBezTo>
                      <a:pt x="1203600" y="0"/>
                      <a:pt x="1224379" y="8607"/>
                      <a:pt x="1239699" y="23926"/>
                    </a:cubicBezTo>
                    <a:cubicBezTo>
                      <a:pt x="1255018" y="39246"/>
                      <a:pt x="1263625" y="60025"/>
                      <a:pt x="1263625" y="81690"/>
                    </a:cubicBezTo>
                    <a:lnTo>
                      <a:pt x="1263625" y="479411"/>
                    </a:lnTo>
                    <a:cubicBezTo>
                      <a:pt x="1263625" y="524527"/>
                      <a:pt x="1227051" y="561101"/>
                      <a:pt x="1181935" y="561101"/>
                    </a:cubicBezTo>
                    <a:lnTo>
                      <a:pt x="81690" y="561101"/>
                    </a:lnTo>
                    <a:cubicBezTo>
                      <a:pt x="36574" y="561101"/>
                      <a:pt x="0" y="524527"/>
                      <a:pt x="0" y="479411"/>
                    </a:cubicBezTo>
                    <a:lnTo>
                      <a:pt x="0" y="81690"/>
                    </a:lnTo>
                    <a:cubicBezTo>
                      <a:pt x="0" y="36574"/>
                      <a:pt x="36574" y="0"/>
                      <a:pt x="81690" y="0"/>
                    </a:cubicBezTo>
                    <a:close/>
                  </a:path>
                </a:pathLst>
              </a:custGeom>
              <a:solidFill>
                <a:srgbClr val="DCE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 txBox="1"/>
              <p:nvPr/>
            </p:nvSpPr>
            <p:spPr>
              <a:xfrm>
                <a:off x="0" y="-57150"/>
                <a:ext cx="1263625" cy="618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2" name="Google Shape;552;p14"/>
            <p:cNvSpPr txBox="1"/>
            <p:nvPr/>
          </p:nvSpPr>
          <p:spPr>
            <a:xfrm>
              <a:off x="301073" y="148466"/>
              <a:ext cx="7621988" cy="3288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nilai = [80, 75, 90, 85, 70]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lulus = 0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for n in nilai: 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if n &gt;= 80: 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lulus += 1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persentase = (lulus / len(nilai)) * 100 print("Persentase nilai ≥ 80:", persentase, "%")</a:t>
              </a:r>
              <a:endParaRPr/>
            </a:p>
          </p:txBody>
        </p:sp>
      </p:grpSp>
      <p:sp>
        <p:nvSpPr>
          <p:cNvPr id="553" name="Google Shape;553;p14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grpSp>
        <p:nvGrpSpPr>
          <p:cNvPr id="554" name="Google Shape;554;p14"/>
          <p:cNvGrpSpPr/>
          <p:nvPr/>
        </p:nvGrpSpPr>
        <p:grpSpPr>
          <a:xfrm>
            <a:off x="7454227" y="3237608"/>
            <a:ext cx="9425284" cy="6524947"/>
            <a:chOff x="0" y="-57150"/>
            <a:chExt cx="1930906" cy="1336730"/>
          </a:xfrm>
        </p:grpSpPr>
        <p:sp>
          <p:nvSpPr>
            <p:cNvPr id="555" name="Google Shape;555;p14"/>
            <p:cNvSpPr/>
            <p:nvPr/>
          </p:nvSpPr>
          <p:spPr>
            <a:xfrm>
              <a:off x="0" y="0"/>
              <a:ext cx="1930906" cy="1279580"/>
            </a:xfrm>
            <a:custGeom>
              <a:rect b="b" l="l" r="r" t="t"/>
              <a:pathLst>
                <a:path extrusionOk="0" h="1279580" w="1930906">
                  <a:moveTo>
                    <a:pt x="32856" y="0"/>
                  </a:moveTo>
                  <a:lnTo>
                    <a:pt x="1898050" y="0"/>
                  </a:lnTo>
                  <a:cubicBezTo>
                    <a:pt x="1906764" y="0"/>
                    <a:pt x="1915121" y="3462"/>
                    <a:pt x="1921283" y="9623"/>
                  </a:cubicBezTo>
                  <a:cubicBezTo>
                    <a:pt x="1927445" y="15785"/>
                    <a:pt x="1930906" y="24142"/>
                    <a:pt x="1930906" y="32856"/>
                  </a:cubicBezTo>
                  <a:lnTo>
                    <a:pt x="1930906" y="1246724"/>
                  </a:lnTo>
                  <a:cubicBezTo>
                    <a:pt x="1930906" y="1255438"/>
                    <a:pt x="1927445" y="1263795"/>
                    <a:pt x="1921283" y="1269957"/>
                  </a:cubicBezTo>
                  <a:cubicBezTo>
                    <a:pt x="1915121" y="1276119"/>
                    <a:pt x="1906764" y="1279580"/>
                    <a:pt x="1898050" y="1279580"/>
                  </a:cubicBezTo>
                  <a:lnTo>
                    <a:pt x="32856" y="1279580"/>
                  </a:lnTo>
                  <a:cubicBezTo>
                    <a:pt x="14710" y="1279580"/>
                    <a:pt x="0" y="1264870"/>
                    <a:pt x="0" y="1246724"/>
                  </a:cubicBezTo>
                  <a:lnTo>
                    <a:pt x="0" y="32856"/>
                  </a:lnTo>
                  <a:cubicBezTo>
                    <a:pt x="0" y="14710"/>
                    <a:pt x="14710" y="0"/>
                    <a:pt x="328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4"/>
            <p:cNvSpPr txBox="1"/>
            <p:nvPr/>
          </p:nvSpPr>
          <p:spPr>
            <a:xfrm>
              <a:off x="0" y="-57150"/>
              <a:ext cx="1930906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just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p14"/>
          <p:cNvSpPr txBox="1"/>
          <p:nvPr/>
        </p:nvSpPr>
        <p:spPr>
          <a:xfrm>
            <a:off x="7831565" y="3634010"/>
            <a:ext cx="9047946" cy="600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nilai = [80, 75, 90, 85, 70]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Menyimpan data nilai siswa dalam bentuk list.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lulus = 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Membuat variabel untuk menghitung jumlah siswa yang nilainya ≥= 80.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for n in nilai: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Perulangan untuk membaca setiap nilai dalam list.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if n &gt;= 80: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Kondisi untuk mengecek apakah nilai lebih dari atau sama dengan 80.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lulus += 1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Jika kondisi benar, maka jumlah siswa yang lulus bertambah satu setiap menemukan nilai yang ≥= 80.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 persentase = (lulus / len(nilai)) * 100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 untuk menghitung persentase siswa yang lulus.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563" name="Google Shape;563;p15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564" name="Google Shape;564;p15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5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p15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567" name="Google Shape;567;p15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5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p15"/>
          <p:cNvSpPr txBox="1"/>
          <p:nvPr/>
        </p:nvSpPr>
        <p:spPr>
          <a:xfrm>
            <a:off x="1028700" y="2073810"/>
            <a:ext cx="4958128" cy="89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CONTOH</a:t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4806270" y="1790897"/>
            <a:ext cx="1338672" cy="1176358"/>
          </a:xfrm>
          <a:custGeom>
            <a:rect b="b" l="l" r="r" t="t"/>
            <a:pathLst>
              <a:path extrusionOk="0" h="1176358" w="1338672">
                <a:moveTo>
                  <a:pt x="0" y="0"/>
                </a:moveTo>
                <a:lnTo>
                  <a:pt x="1338672" y="0"/>
                </a:lnTo>
                <a:lnTo>
                  <a:pt x="1338672" y="1176358"/>
                </a:lnTo>
                <a:lnTo>
                  <a:pt x="0" y="117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571" name="Google Shape;571;p15"/>
          <p:cNvGraphicFramePr/>
          <p:nvPr/>
        </p:nvGraphicFramePr>
        <p:xfrm>
          <a:off x="6700348" y="4165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{53F59435-E545-4759-AFB5-1A262592A58A}</a:tableStyleId>
              </a:tblPr>
              <a:tblGrid>
                <a:gridCol w="2547250"/>
                <a:gridCol w="2547250"/>
              </a:tblGrid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Bulan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Jumlah Pengunjung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99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Januari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CAC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Februari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CAC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Maret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1700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CAC"/>
                    </a:solidFill>
                  </a:tcPr>
                </a:tc>
              </a:tr>
            </a:tbl>
          </a:graphicData>
        </a:graphic>
      </p:graphicFrame>
      <p:grpSp>
        <p:nvGrpSpPr>
          <p:cNvPr id="572" name="Google Shape;572;p15"/>
          <p:cNvGrpSpPr/>
          <p:nvPr/>
        </p:nvGrpSpPr>
        <p:grpSpPr>
          <a:xfrm>
            <a:off x="9535050" y="1843222"/>
            <a:ext cx="4519617" cy="746704"/>
            <a:chOff x="18160" y="-122746"/>
            <a:chExt cx="6026156" cy="995606"/>
          </a:xfrm>
        </p:grpSpPr>
        <p:grpSp>
          <p:nvGrpSpPr>
            <p:cNvPr id="573" name="Google Shape;573;p15"/>
            <p:cNvGrpSpPr/>
            <p:nvPr/>
          </p:nvGrpSpPr>
          <p:grpSpPr>
            <a:xfrm>
              <a:off x="18160" y="-122746"/>
              <a:ext cx="6026156" cy="995606"/>
              <a:chOff x="8455" y="-57150"/>
              <a:chExt cx="2805754" cy="463550"/>
            </a:xfrm>
          </p:grpSpPr>
          <p:sp>
            <p:nvSpPr>
              <p:cNvPr id="574" name="Google Shape;574;p15"/>
              <p:cNvSpPr/>
              <p:nvPr/>
            </p:nvSpPr>
            <p:spPr>
              <a:xfrm>
                <a:off x="8455" y="0"/>
                <a:ext cx="2805754" cy="406400"/>
              </a:xfrm>
              <a:custGeom>
                <a:rect b="b" l="l" r="r" t="t"/>
                <a:pathLst>
                  <a:path extrusionOk="0" h="406400" w="2805754">
                    <a:moveTo>
                      <a:pt x="2792074" y="0"/>
                    </a:moveTo>
                    <a:lnTo>
                      <a:pt x="13680" y="0"/>
                    </a:lnTo>
                    <a:cubicBezTo>
                      <a:pt x="8939" y="0"/>
                      <a:pt x="4536" y="2455"/>
                      <a:pt x="2043" y="6488"/>
                    </a:cubicBezTo>
                    <a:cubicBezTo>
                      <a:pt x="-450" y="10521"/>
                      <a:pt x="-676" y="15557"/>
                      <a:pt x="1444" y="19798"/>
                    </a:cubicBezTo>
                    <a:lnTo>
                      <a:pt x="83246" y="183402"/>
                    </a:lnTo>
                    <a:cubicBezTo>
                      <a:pt x="89478" y="195865"/>
                      <a:pt x="89478" y="210535"/>
                      <a:pt x="83246" y="222998"/>
                    </a:cubicBezTo>
                    <a:lnTo>
                      <a:pt x="1444" y="386602"/>
                    </a:lnTo>
                    <a:cubicBezTo>
                      <a:pt x="-676" y="390842"/>
                      <a:pt x="-450" y="395879"/>
                      <a:pt x="2043" y="399912"/>
                    </a:cubicBezTo>
                    <a:cubicBezTo>
                      <a:pt x="4536" y="403945"/>
                      <a:pt x="8939" y="406400"/>
                      <a:pt x="13680" y="406400"/>
                    </a:cubicBezTo>
                    <a:lnTo>
                      <a:pt x="2792074" y="406400"/>
                    </a:lnTo>
                    <a:cubicBezTo>
                      <a:pt x="2796815" y="406400"/>
                      <a:pt x="2801218" y="403945"/>
                      <a:pt x="2803711" y="399912"/>
                    </a:cubicBezTo>
                    <a:cubicBezTo>
                      <a:pt x="2806203" y="395879"/>
                      <a:pt x="2806430" y="390842"/>
                      <a:pt x="2804310" y="386602"/>
                    </a:cubicBezTo>
                    <a:lnTo>
                      <a:pt x="2722508" y="222998"/>
                    </a:lnTo>
                    <a:cubicBezTo>
                      <a:pt x="2716276" y="210535"/>
                      <a:pt x="2716276" y="195865"/>
                      <a:pt x="2722508" y="183402"/>
                    </a:cubicBezTo>
                    <a:lnTo>
                      <a:pt x="2804310" y="19798"/>
                    </a:lnTo>
                    <a:cubicBezTo>
                      <a:pt x="2806430" y="15557"/>
                      <a:pt x="2806203" y="10521"/>
                      <a:pt x="2803711" y="6488"/>
                    </a:cubicBezTo>
                    <a:cubicBezTo>
                      <a:pt x="2801218" y="2455"/>
                      <a:pt x="2796815" y="0"/>
                      <a:pt x="2792074" y="0"/>
                    </a:cubicBezTo>
                    <a:close/>
                  </a:path>
                </a:pathLst>
              </a:custGeom>
              <a:solidFill>
                <a:srgbClr val="DCE6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5"/>
              <p:cNvSpPr txBox="1"/>
              <p:nvPr/>
            </p:nvSpPr>
            <p:spPr>
              <a:xfrm>
                <a:off x="88900" y="-57150"/>
                <a:ext cx="2644864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6" name="Google Shape;576;p15"/>
            <p:cNvSpPr txBox="1"/>
            <p:nvPr/>
          </p:nvSpPr>
          <p:spPr>
            <a:xfrm>
              <a:off x="282916" y="208868"/>
              <a:ext cx="5496642" cy="468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A336B"/>
                  </a:solidFill>
                  <a:latin typeface="Poppins"/>
                  <a:ea typeface="Poppins"/>
                  <a:cs typeface="Poppins"/>
                  <a:sym typeface="Poppins"/>
                </a:rPr>
                <a:t>Time Series</a:t>
              </a:r>
              <a:endParaRPr/>
            </a:p>
          </p:txBody>
        </p:sp>
      </p:grpSp>
      <p:sp>
        <p:nvSpPr>
          <p:cNvPr id="577" name="Google Shape;577;p15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sp>
        <p:nvSpPr>
          <p:cNvPr id="578" name="Google Shape;578;p15"/>
          <p:cNvSpPr txBox="1"/>
          <p:nvPr/>
        </p:nvSpPr>
        <p:spPr>
          <a:xfrm>
            <a:off x="6700348" y="3399551"/>
            <a:ext cx="740111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336B"/>
                </a:solidFill>
                <a:latin typeface="Poppins"/>
                <a:ea typeface="Poppins"/>
                <a:cs typeface="Poppins"/>
                <a:sym typeface="Poppins"/>
              </a:rPr>
              <a:t>Contoh Data Pengunjung Per Bulan</a:t>
            </a:r>
            <a:endParaRPr/>
          </a:p>
        </p:txBody>
      </p:sp>
      <p:grpSp>
        <p:nvGrpSpPr>
          <p:cNvPr id="579" name="Google Shape;579;p15"/>
          <p:cNvGrpSpPr/>
          <p:nvPr/>
        </p:nvGrpSpPr>
        <p:grpSpPr>
          <a:xfrm>
            <a:off x="12383935" y="3467296"/>
            <a:ext cx="5088476" cy="5507835"/>
            <a:chOff x="0" y="-57150"/>
            <a:chExt cx="1042448" cy="1128360"/>
          </a:xfrm>
        </p:grpSpPr>
        <p:sp>
          <p:nvSpPr>
            <p:cNvPr id="580" name="Google Shape;580;p15"/>
            <p:cNvSpPr/>
            <p:nvPr/>
          </p:nvSpPr>
          <p:spPr>
            <a:xfrm>
              <a:off x="0" y="0"/>
              <a:ext cx="1042448" cy="1071210"/>
            </a:xfrm>
            <a:custGeom>
              <a:rect b="b" l="l" r="r" t="t"/>
              <a:pathLst>
                <a:path extrusionOk="0" h="1071210" w="1042448">
                  <a:moveTo>
                    <a:pt x="99022" y="0"/>
                  </a:moveTo>
                  <a:lnTo>
                    <a:pt x="943426" y="0"/>
                  </a:lnTo>
                  <a:cubicBezTo>
                    <a:pt x="998114" y="0"/>
                    <a:pt x="1042448" y="44334"/>
                    <a:pt x="1042448" y="99022"/>
                  </a:cubicBezTo>
                  <a:lnTo>
                    <a:pt x="1042448" y="972188"/>
                  </a:lnTo>
                  <a:cubicBezTo>
                    <a:pt x="1042448" y="1026876"/>
                    <a:pt x="998114" y="1071210"/>
                    <a:pt x="943426" y="1071210"/>
                  </a:cubicBezTo>
                  <a:lnTo>
                    <a:pt x="99022" y="1071210"/>
                  </a:lnTo>
                  <a:cubicBezTo>
                    <a:pt x="44334" y="1071210"/>
                    <a:pt x="0" y="1026876"/>
                    <a:pt x="0" y="972188"/>
                  </a:cubicBezTo>
                  <a:lnTo>
                    <a:pt x="0" y="99022"/>
                  </a:lnTo>
                  <a:cubicBezTo>
                    <a:pt x="0" y="44334"/>
                    <a:pt x="44334" y="0"/>
                    <a:pt x="99022" y="0"/>
                  </a:cubicBezTo>
                  <a:close/>
                </a:path>
              </a:pathLst>
            </a:custGeom>
            <a:solidFill>
              <a:srgbClr val="DC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5"/>
            <p:cNvSpPr txBox="1"/>
            <p:nvPr/>
          </p:nvSpPr>
          <p:spPr>
            <a:xfrm>
              <a:off x="0" y="-57150"/>
              <a:ext cx="1042448" cy="1128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2" name="Google Shape;582;p15"/>
          <p:cNvSpPr txBox="1"/>
          <p:nvPr/>
        </p:nvSpPr>
        <p:spPr>
          <a:xfrm>
            <a:off x="12509234" y="4204871"/>
            <a:ext cx="4963177" cy="3892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 pandas as pd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= {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"bulan": ["Januari", "Februari", "Maret", "April"],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"pengunjung": [1200, 1500, 1700, 1400]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df = pd.DataFrame(data)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print(df)</a:t>
            </a: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320864" y="4297580"/>
            <a:ext cx="5849814" cy="5679638"/>
          </a:xfrm>
          <a:custGeom>
            <a:rect b="b" l="l" r="r" t="t"/>
            <a:pathLst>
              <a:path extrusionOk="0" h="5679638" w="5849814">
                <a:moveTo>
                  <a:pt x="0" y="0"/>
                </a:moveTo>
                <a:lnTo>
                  <a:pt x="5849814" y="0"/>
                </a:lnTo>
                <a:lnTo>
                  <a:pt x="5849814" y="5679637"/>
                </a:lnTo>
                <a:lnTo>
                  <a:pt x="0" y="567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4" name="Google Shape;584;p15"/>
          <p:cNvSpPr/>
          <p:nvPr/>
        </p:nvSpPr>
        <p:spPr>
          <a:xfrm>
            <a:off x="4465168" y="3746261"/>
            <a:ext cx="1521660" cy="1521660"/>
          </a:xfrm>
          <a:custGeom>
            <a:rect b="b" l="l" r="r" t="t"/>
            <a:pathLst>
              <a:path extrusionOk="0" h="1521660" w="1521660">
                <a:moveTo>
                  <a:pt x="0" y="0"/>
                </a:moveTo>
                <a:lnTo>
                  <a:pt x="1521660" y="0"/>
                </a:lnTo>
                <a:lnTo>
                  <a:pt x="1521660" y="1521661"/>
                </a:lnTo>
                <a:lnTo>
                  <a:pt x="0" y="15216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9" l="0" r="0" t="-38889"/>
            </a:stretch>
          </a:blipFill>
          <a:ln>
            <a:noFill/>
          </a:ln>
        </p:spPr>
      </p:sp>
      <p:grpSp>
        <p:nvGrpSpPr>
          <p:cNvPr id="590" name="Google Shape;590;p16"/>
          <p:cNvGrpSpPr/>
          <p:nvPr/>
        </p:nvGrpSpPr>
        <p:grpSpPr>
          <a:xfrm>
            <a:off x="320864" y="-825260"/>
            <a:ext cx="17646277" cy="1339610"/>
            <a:chOff x="0" y="-57150"/>
            <a:chExt cx="3243655" cy="246241"/>
          </a:xfrm>
        </p:grpSpPr>
        <p:sp>
          <p:nvSpPr>
            <p:cNvPr id="591" name="Google Shape;591;p16"/>
            <p:cNvSpPr/>
            <p:nvPr/>
          </p:nvSpPr>
          <p:spPr>
            <a:xfrm>
              <a:off x="0" y="0"/>
              <a:ext cx="3243655" cy="189091"/>
            </a:xfrm>
            <a:custGeom>
              <a:rect b="b" l="l" r="r" t="t"/>
              <a:pathLst>
                <a:path extrusionOk="0" h="189091" w="3243655">
                  <a:moveTo>
                    <a:pt x="22375" y="0"/>
                  </a:moveTo>
                  <a:lnTo>
                    <a:pt x="3221279" y="0"/>
                  </a:lnTo>
                  <a:cubicBezTo>
                    <a:pt x="3233637" y="0"/>
                    <a:pt x="3243655" y="10018"/>
                    <a:pt x="3243655" y="22375"/>
                  </a:cubicBezTo>
                  <a:lnTo>
                    <a:pt x="3243655" y="166716"/>
                  </a:lnTo>
                  <a:cubicBezTo>
                    <a:pt x="3243655" y="172650"/>
                    <a:pt x="3241297" y="178341"/>
                    <a:pt x="3237101" y="182537"/>
                  </a:cubicBezTo>
                  <a:cubicBezTo>
                    <a:pt x="3232905" y="186733"/>
                    <a:pt x="3227214" y="189091"/>
                    <a:pt x="3221279" y="189091"/>
                  </a:cubicBezTo>
                  <a:lnTo>
                    <a:pt x="22375" y="189091"/>
                  </a:lnTo>
                  <a:cubicBezTo>
                    <a:pt x="10018" y="189091"/>
                    <a:pt x="0" y="179073"/>
                    <a:pt x="0" y="166716"/>
                  </a:cubicBezTo>
                  <a:lnTo>
                    <a:pt x="0" y="22375"/>
                  </a:lnTo>
                  <a:cubicBezTo>
                    <a:pt x="0" y="10018"/>
                    <a:pt x="10018" y="0"/>
                    <a:pt x="22375" y="0"/>
                  </a:cubicBezTo>
                  <a:close/>
                </a:path>
              </a:pathLst>
            </a:custGeom>
            <a:solidFill>
              <a:srgbClr val="1A3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 txBox="1"/>
            <p:nvPr/>
          </p:nvSpPr>
          <p:spPr>
            <a:xfrm>
              <a:off x="0" y="-57150"/>
              <a:ext cx="3243654" cy="24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16"/>
          <p:cNvGrpSpPr/>
          <p:nvPr/>
        </p:nvGrpSpPr>
        <p:grpSpPr>
          <a:xfrm>
            <a:off x="-1534198" y="9451644"/>
            <a:ext cx="21265048" cy="1349706"/>
            <a:chOff x="0" y="-57150"/>
            <a:chExt cx="3908841" cy="248096"/>
          </a:xfrm>
        </p:grpSpPr>
        <p:sp>
          <p:nvSpPr>
            <p:cNvPr id="594" name="Google Shape;594;p16"/>
            <p:cNvSpPr/>
            <p:nvPr/>
          </p:nvSpPr>
          <p:spPr>
            <a:xfrm>
              <a:off x="0" y="0"/>
              <a:ext cx="3908841" cy="190946"/>
            </a:xfrm>
            <a:custGeom>
              <a:rect b="b" l="l" r="r" t="t"/>
              <a:pathLst>
                <a:path extrusionOk="0" h="190946" w="3908841">
                  <a:moveTo>
                    <a:pt x="18567" y="0"/>
                  </a:moveTo>
                  <a:lnTo>
                    <a:pt x="3890273" y="0"/>
                  </a:lnTo>
                  <a:cubicBezTo>
                    <a:pt x="3895198" y="0"/>
                    <a:pt x="3899920" y="1956"/>
                    <a:pt x="3903402" y="5438"/>
                  </a:cubicBezTo>
                  <a:cubicBezTo>
                    <a:pt x="3906885" y="8920"/>
                    <a:pt x="3908841" y="13643"/>
                    <a:pt x="3908841" y="18567"/>
                  </a:cubicBezTo>
                  <a:lnTo>
                    <a:pt x="3908841" y="172379"/>
                  </a:lnTo>
                  <a:cubicBezTo>
                    <a:pt x="3908841" y="177303"/>
                    <a:pt x="3906885" y="182026"/>
                    <a:pt x="3903402" y="185508"/>
                  </a:cubicBezTo>
                  <a:cubicBezTo>
                    <a:pt x="3899920" y="188990"/>
                    <a:pt x="3895198" y="190946"/>
                    <a:pt x="3890273" y="190946"/>
                  </a:cubicBezTo>
                  <a:lnTo>
                    <a:pt x="18567" y="190946"/>
                  </a:lnTo>
                  <a:cubicBezTo>
                    <a:pt x="8313" y="190946"/>
                    <a:pt x="0" y="182633"/>
                    <a:pt x="0" y="172379"/>
                  </a:cubicBezTo>
                  <a:lnTo>
                    <a:pt x="0" y="18567"/>
                  </a:lnTo>
                  <a:cubicBezTo>
                    <a:pt x="0" y="13643"/>
                    <a:pt x="1956" y="8920"/>
                    <a:pt x="5438" y="5438"/>
                  </a:cubicBezTo>
                  <a:cubicBezTo>
                    <a:pt x="8920" y="1956"/>
                    <a:pt x="13643" y="0"/>
                    <a:pt x="18567" y="0"/>
                  </a:cubicBezTo>
                  <a:close/>
                </a:path>
              </a:pathLst>
            </a:custGeom>
            <a:solidFill>
              <a:srgbClr val="FFA3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 txBox="1"/>
            <p:nvPr/>
          </p:nvSpPr>
          <p:spPr>
            <a:xfrm>
              <a:off x="0" y="-57150"/>
              <a:ext cx="3908841" cy="24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" name="Google Shape;596;p16"/>
          <p:cNvSpPr/>
          <p:nvPr/>
        </p:nvSpPr>
        <p:spPr>
          <a:xfrm>
            <a:off x="11698065" y="2602062"/>
            <a:ext cx="9223117" cy="7160493"/>
          </a:xfrm>
          <a:custGeom>
            <a:rect b="b" l="l" r="r" t="t"/>
            <a:pathLst>
              <a:path extrusionOk="0" h="7160493" w="9223117">
                <a:moveTo>
                  <a:pt x="0" y="0"/>
                </a:moveTo>
                <a:lnTo>
                  <a:pt x="9223117" y="0"/>
                </a:lnTo>
                <a:lnTo>
                  <a:pt x="9223117" y="7160493"/>
                </a:lnTo>
                <a:lnTo>
                  <a:pt x="0" y="71604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7" name="Google Shape;597;p16"/>
          <p:cNvSpPr/>
          <p:nvPr/>
        </p:nvSpPr>
        <p:spPr>
          <a:xfrm>
            <a:off x="10852854" y="5864949"/>
            <a:ext cx="1063970" cy="934964"/>
          </a:xfrm>
          <a:custGeom>
            <a:rect b="b" l="l" r="r" t="t"/>
            <a:pathLst>
              <a:path extrusionOk="0" h="934964" w="1063970">
                <a:moveTo>
                  <a:pt x="0" y="0"/>
                </a:moveTo>
                <a:lnTo>
                  <a:pt x="1063970" y="0"/>
                </a:lnTo>
                <a:lnTo>
                  <a:pt x="1063970" y="934964"/>
                </a:lnTo>
                <a:lnTo>
                  <a:pt x="0" y="934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8" name="Google Shape;598;p16"/>
          <p:cNvSpPr txBox="1"/>
          <p:nvPr/>
        </p:nvSpPr>
        <p:spPr>
          <a:xfrm>
            <a:off x="1028700" y="3667613"/>
            <a:ext cx="12199876" cy="422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17" u="none" cap="none" strike="noStrike">
                <a:solidFill>
                  <a:srgbClr val="1A336B"/>
                </a:solidFill>
                <a:latin typeface="Lilita One"/>
                <a:ea typeface="Lilita One"/>
                <a:cs typeface="Lilita One"/>
                <a:sym typeface="Lilita One"/>
              </a:rPr>
              <a:t>TERIMA KASIH</a:t>
            </a:r>
            <a:endParaRPr/>
          </a:p>
        </p:txBody>
      </p:sp>
      <p:sp>
        <p:nvSpPr>
          <p:cNvPr id="599" name="Google Shape;599;p16"/>
          <p:cNvSpPr txBox="1"/>
          <p:nvPr/>
        </p:nvSpPr>
        <p:spPr>
          <a:xfrm>
            <a:off x="1028700" y="971550"/>
            <a:ext cx="431624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PPL PPG UNESA</a:t>
            </a:r>
            <a:endParaRPr/>
          </a:p>
        </p:txBody>
      </p:sp>
      <p:sp>
        <p:nvSpPr>
          <p:cNvPr id="600" name="Google Shape;600;p16"/>
          <p:cNvSpPr/>
          <p:nvPr/>
        </p:nvSpPr>
        <p:spPr>
          <a:xfrm flipH="1">
            <a:off x="13228576" y="1976455"/>
            <a:ext cx="2376967" cy="2376967"/>
          </a:xfrm>
          <a:custGeom>
            <a:rect b="b" l="l" r="r" t="t"/>
            <a:pathLst>
              <a:path extrusionOk="0" h="2376967" w="2376967">
                <a:moveTo>
                  <a:pt x="2376967" y="0"/>
                </a:moveTo>
                <a:lnTo>
                  <a:pt x="0" y="0"/>
                </a:lnTo>
                <a:lnTo>
                  <a:pt x="0" y="2376967"/>
                </a:lnTo>
                <a:lnTo>
                  <a:pt x="2376967" y="2376967"/>
                </a:lnTo>
                <a:lnTo>
                  <a:pt x="237696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